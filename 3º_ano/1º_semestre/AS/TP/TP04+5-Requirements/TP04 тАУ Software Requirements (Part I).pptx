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31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ídio Oliveira" userId="2e6e6f6d-fff9-46ef-9091-884c6980c73a" providerId="ADAL" clId="{FBA8DEFD-EBC3-490D-8111-605AF93F32A3}"/>
    <pc:docChg chg="modSld">
      <pc:chgData name="Ilídio Oliveira" userId="2e6e6f6d-fff9-46ef-9091-884c6980c73a" providerId="ADAL" clId="{FBA8DEFD-EBC3-490D-8111-605AF93F32A3}" dt="2026-10-08T15:49:04.684" v="9" actId="20577"/>
      <pc:docMkLst>
        <pc:docMk/>
      </pc:docMkLst>
      <pc:sldChg chg="modSp mod">
        <pc:chgData name="Ilídio Oliveira" userId="2e6e6f6d-fff9-46ef-9091-884c6980c73a" providerId="ADAL" clId="{FBA8DEFD-EBC3-490D-8111-605AF93F32A3}" dt="2026-10-08T15:49:04.684" v="9" actId="20577"/>
        <pc:sldMkLst>
          <pc:docMk/>
          <pc:sldMk cId="0" sldId="270"/>
        </pc:sldMkLst>
        <pc:spChg chg="mod">
          <ac:chgData name="Ilídio Oliveira" userId="2e6e6f6d-fff9-46ef-9091-884c6980c73a" providerId="ADAL" clId="{FBA8DEFD-EBC3-490D-8111-605AF93F32A3}" dt="2026-10-08T15:49:04.684" v="9" actId="20577"/>
          <ac:spMkLst>
            <pc:docMk/>
            <pc:sldMk cId="0" sldId="270"/>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028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Primeira de duas aulas sobre requisitos: esta foca o conceito, o processo (Wiegers), a classificação, a elicitação, a documentação e o papel da IA. A parte II trata casos de utilização, técnicas centradas no utilizador e specification-driven AI engineering. Caso âncora durante toda a aula: o quiosque de autosserviço de fast-food do "Mini SRS".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objetivos foram refeitos: os casos de utilização passam para a parte II. Caso âncora em toda a aula: o quiosque de autosserviço do Mini SRS.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Votação individual (mãos, cartões ou Wooclap), depois discussão em pares e nova votação. Pontos a extrair: há uma necessidade de negócio (reduzir filas, libertar o balcão), há uma necessidade de utilizador (pedir sozinho), mas «rápida» e «fácil» não são verificáveis. É matéria-prima para requisitos, não um requisito bem formado. Resposta defensável: 3. Voltamos a esta frase no diapositivo «Reescreve».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Ligar ao gancho: a frase do gerente mistura a necessidade (filas), um requisito por formular («fácil», «rápida») e uma solução («uma aplicação»). A ilustração separa as três camadas: o requisito fica no meio, preso à necessidade (rastreabilidade para trás) e aberto a várias soluções (liberdade de desenho para a frente). «Requisito» é um termo-chapéu: há vários níveis e tipos (diapositivo 8). A 29148 enfatiza a verificabilidade, que usamos como critério ao longo da aula.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Curva do custo de correção: ilustrativa, em escala linear, com os extremos baseados em Boehm &amp; Basili (2001), «Software Defect Reduction Top 10 List», IEEE Computer, 34(1), pp. 135–137, item 1: corrigir um problema depois da entrega custa muitas vezes cerca de 100 vezes mais do que na fase de requisitos e desenho; em sistemas pequenos e não críticos o fator está mais perto de 5:1. Os pontos intermédios (1, 3, 10, 30, 100) não são dados do artigo; são uma interpolação para mostrar a forma da curva. A magnitude é discutida na literatura; a tendência é consensual. Leitura: a barra inteira é a % das 228 empresas que citou o problema entre os cinco mais críticos; a parte preta é a % de empresas que também o apontou como causa de falhanço do projeto (entre parênteses). Dados (tabela 9, contagens em n = 228): incompletos/ocultos 109 citações, 43 com falhanço; comunicação equipa–cliente 93/45; moving targets 76/39; subespecificados 76/28; time boxing 72/24; comunicação na equipa 62/25. Mensagem: os três primeiros são problemas de elicitação e comunicação, exatamente o tema desta aula. Mais de metade das empresas que citam «moving targets» associa-o a falhanço (39 de 76). Nota de rigor: é o maior estudo revisto por pares sobre o tema, mas os dados são de 2014/15. Alternativa mais recente mas menos robusta: PMI Pulse of the Profession (2014), «47% dos projetos sem sucesso falham por má gestão de requisitos» (sem amostra publicada nessa página). Evitar o CHAOS Report (metodologia criticada; Eveleens &amp; Verhoef, 2010).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Reflexão motivacional para alunos do 3.º ano de LECI. Pedir 2 ou 3 testemunhos rápidos (projetos de outras UCs, hackathons). O primeiro cartão é uma leitura de tendência, não um dado: apresentá-lo como tal. Serve de ponte para a parte II (specification-driven AI engineering: a especificação torna-se a entrada de agentes de código). Verificação vs validação: Boehm — «are we building the product right?» vs «are we building the right product?».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adaptado da figura 1-1 de Wiegers &amp; Beatty (2013), «relationships among several types of requirements information», com exemplos do quiosque. As faixas verde-claras representam onde cada tipo de informação costuma ser registado (documento de visão e âmbito, documento de requisitos de utilizador, SRS). Ler de cima para baixo: os requisitos funcionais (FR5) existem porque o cliente quer pagar sozinho (requisito de utilizador), e isso serve o objetivo de negócio (reduzir a fila). Rastreabilidade em ambos os sentidos. As regras de negócio (BR2, alergénios) não são requisitos de software, mas originam requisitos de utilizador e funcionais. Os requisitos de sistema (hardware + software do quiosque) também se decompõem em requisitos funcionais do software. Atributos de qualidade, interfaces externas e restrições ficam no SRS ao lado dos requisitos funcionais: é aqui que a dicotomia FR/NFR se torna mais rica. A CONFIRMAR na figura original: no livro, as regras de negócio também influenciam os atributos de qualidade; a figura inclui ainda a legenda das setas (origem vs. armazenamento).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primeiro só a pergunta (discussão em pares) e depois revelar os cartões. Conflitos típicos: marketing quer promoções destacadas vs cliente quer rapidez; acessibilidade vs desenho do ecrã; regulador exige informação vs simplicidade. Os reguladores remetem para as regras de negócio do Mini SRS: BR2 (Reg. UE 1169/2011, alergénios) e BR3 (DL 197/2012, faturação).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Wiegers, a engenharia de requisitos divide-se em desenvolvimento (elicitação, análise, especificação, validação) e gestão. Correção face a 2025: o ciclo tinha só três atividades; faltava a validação. O processo é iterativo: a validação revela lacunas que levam a nova elicitação. Elicitar não é «recolher»: é um processo colaborativo e analítico de descobrir, extrair e definir requisitos. Este diapositivo é o mapa da aula: a parte 2 situa-se na análise e na especificação, a parte 3 na elicitação, a parte 4 na especificação, a parte 5 atravessa todas.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Revisão rápida: os alunos já conhecem a distinção. O ponto novo é a interdependência (diapositivo «Nem sempre é preto ou branco» de 2025, condensado aqui).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Correção face a 2025: o diapositivo mostrava 6 características da edição de 2011 (que tinha 8). A edição de 2023 tem 9. A CONFIRMAR na norma: as subcaracterísticas exatas da edição de 2023 (aqui só exemplos). O FURPS pode passar para anexo. Pergunta rápida: «que característica falta no Mini SRS?» (compatibilidade e manutenibilidade não têm RNF).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Instruction (Mazur). 1) Individualmente, cada aluno classifica as 8 frases. 2) Votação nas frases 4, 6 e 7 (as mais discutíveis), por exemplo com Wooclap. 3) Se o acordo estiver entre 30% e 70%, discussão em pares e nova votação. 4) Mostrar a solução. Adaptado do exercício A–H da versão de 2025 (caso COS), agora com o caso do quiosque.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Aceitar respostas alternativas bem justificadas, sobretudo na 4 (FUN vs QUA de fiabilidade) e na 7 (restrição vs interface). A frase 6 é a do gancho: ponte para a qualidade dos requisitos.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só um excerto (o início chega para o efeito). Ponte para o diapositivo seguinte: as falhas observadas mapeiam-se nas características da 29148 — ambiguidade («põe a manteiga no pão» com o frasco fechado), incompletude (passos omitidos), conhecimento tácito (o que «toda a gente sabe»). Ligações: o pai é um executor literal, tal como um agente de IA (diapositivo 7); os filhos reescrevem e testam de novo, tal como no diapositivo «Reescreve».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Mantém a tabela da versão de 2025, acrescentando as características do conjunto (que faltavam). A CONFIRMAR: numeração das cláusulas na edição de 2018.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Correção face a 2025: o T do SMART, no contexto de requisitos (Wiegers), é «time-sensitive», não «prazo para concluir» (essa é a leitura da gestão por objetivos, Doran 1981). EARS: sintaxe estruturada usada na indústria (origem na Rolls-Royce); substitui o «shall» genérico por cinco padrões. Os valores (30 s) são ilustrativos. O antigo diapositivo «SMART vs ISO» pode ir para anexo: a «convergência total» que mostrava era exagerada.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Trabalho em pares, seguido de partilha. Usa a checklist SMART do diapositivo anterior; as perguntas de cada letra são interpretação nossa (o Wiegers só lista a mnemónica). Propostas SMART possíveis: 1) «When a customer taps a product, the kiosk shall display its detail screen within 1 s in 95% of interactions, measured during lunch peak (12:00–14:00).» S: ecrã de detalhe; M: 1 s, 95%; A: exequível em hardware dedicado; R: fila rápida (objetivo de negócio); T: na hora de ponta. 2) «The kiosk shall be available at least 99% of opening hours (08:00–23:00), measured monthly.» (= NFR3). «Always» falha A (não exequível) e M (sem métrica). 3) «Seguro» não é um requisito: decompõe-se. Por exemplo: «The kiosk shall not store full card data after a payment is completed» (NFR5) e «The kiosk shall delegate card payments to a PCI DSS-certified provider before go-live.» S: dados de cartão; M: verificável por inspeção/auditoria; A: prática comum; R: obrigação legal e confiança; T: após cada pagamento / antes da entrada em produção. Ponto a reforçar: SMART e EARS completam-se: o EARS dá a estrutura da frase, o SMART verifica a qualidade do conteúdo.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do quiosque: o funcionário do balcão sabe, sem o dizer, que os clientes perguntam sempre pelos alergénios do molho; só a observação o revela. Fotografia reutilizada da apresentação de 2025 (imagem de banco de imagens).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versão de 2025 as técnicas não eram descritas. Os exemplos concretos chegam com a atividade: cada grupo trabalha uma técnica. O agrupamento em famílias é didático (inspirado nas taxonomias de Nuseibeh &amp; Easterbrook e de Zowghi &amp; Coulin); confirmar a referência se a quiser citar.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resposta possível: observação do balcão em hora de ponta (o processo atual), entrevistas ao gerente e à cozinha, protótipo testado com clientes; análise documental das regras (alergénios, faturação) e da interface com o sistema da cozinha. Figura reutilizada da versão de 2025.</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grupos de especialistas com partilha (versão simplificada de jigsaw). Porque estes casos funcionam: são curtos (cerca de 400–800 palavras) e têm estrutura repetida (objetivos, preparação, agenda, notas, pontos críticos). Nenhum chega a requisitos formais (sem IDs, critérios de aceitação ou RNF): essa lacuna é o motor da atividade. Preparar: distribuir os links no e-learning antes da aula; abrir um mural (Padlet ou Wooclap) com uma coluna por técnica. Na partilha, escolher técnicas contrastantes (por exemplo, entrevista vs observação).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Deixar este diapositivo projetado durante o trabalho dos grupos. Na pergunta 4, aceitar requisitos simples; na partilha, pedir à turma que os verifique com SMART. Os casos do WAG são modelos de um único autor, com campos por preencher, não exemplos revistos.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durante a partilha. Ligação à próxima parte: transformar notas em requisitos especificados é o trabalho do SRS.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Correção face a 2025: a IEEE 830 aparecia como norma de referência, mas foi substituída. O modelo de Wiegers é o que se vê no exemplo do COS (Cafeteria Ordering System), que continua disponível como caso de estudo. A CONFIRMAR: as secções 7 e 8 do modelo de Wiegers e os números do capítulo e do apêndice na 3.ª edição.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Conteúdo novo (objetivo 5). Pergunta: «e o quiosque?» Resposta razoável: produto comercial sem certificação de segurança, mas com obrigações legais (alergénios, faturação, pagamentos PCI DSS): SRS leve, com rastreabilidade nos requisitos legais. Loja online de vestuário: sem certificação obrigatória, mas com obrigações legais — RGPD, pagamentos (PCI DSS via fornecedor), direitos do consumidor e acessibilidade (European Accessibility Act, aplicável ao comércio eletrónico desde junho de 2025; microempresas isentas). Classificada ao nível do produto ágil (norma não necessária), mas os requisitos legais devem ser explícitos e rastreáveis no backlog. A CONFIRMAR: a EN 50716:2023 substitui a EN 50128 e a EN 50657 no ferroviário.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o diapositivo do processo (11) como mapa: a IA pode intervir em todas as atividades, mas com riscos diferentes. A parte II aprofunda a especificação como entrada para agentes de código (specification-driven AI engineering).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Executar ao vivo num LLM (sem dados pessoais). Comparar a resposta com o Mini SRS: o modelo costuma acertar nos RF óbvios, falhar RNF mensuráveis e, por vezes, inventar números ou funcionalidades (por exemplo, programa de fidelização). Alternativa: usar o excerto de transcrição da página do WAG «Interview Session: CRM» e as perguntas de «Generate Requirements from Meeting Transcripts». O excerto tem ruído de propósito: informação de contexto sem impacto nos requisitos (abertura em 2015, vendas do hambúrguer vegetariano, fins de semana com famílias) e redundância (as faturas aparecem duas vezes). Observar se o modelo filtra o ruído ou o transforma em requisitos inventados (por exemplo, «o sistema deve destacar produtos vegetarianos») e se duplica o requisito das faturas. As famílias ao fim de semana podem ser discutidas: é contexto, mas pode sugerir uma classe de utilizadores (crianças, pedidos grandes) a confirmar. Ponto pedagógico: a grelha da 29148 serve para avaliar requisitos, venham de pessoas ou de modelos.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Citação de Karl Wiegers no podcast Tech Lead Journal, episódio #133 (15/05/2023), sobre o livro Software Requirements Essentials: «Requirements are not really about technical things. Requirements are a communication problem, not a technical problem. […] It's a matter of human communication and understanding a problem and exploration.» Usar como síntese: a IA ajuda nas tarefas de texto, mas o núcleo do trabalho é humano. A evidência é promissora mas imatura: justifica cautela. Ponte para a parte II: se a especificação passa a alimentar agentes de código, a qualidade dos requisitos torna-se ainda mais crítica.</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Recolher no e-learning ou no Wooclap. As respostas à pergunta 1 dão um diagnóstico rápido do objetivo 3 e servem de abertura da parte II.</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Confirmar os autores do artigo EARS (Mavin et al., 2009) antes de distribuir.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94000" y="317500"/>
            <a:ext cx="8585200" cy="363141"/>
          </a:xfrm>
          <a:prstGeom prst="rect">
            <a:avLst/>
          </a:prstGeom>
          <a:noFill/>
          <a:ln/>
        </p:spPr>
        <p:txBody>
          <a:bodyPr wrap="square" lIns="0" tIns="0" rIns="0" bIns="0" rtlCol="0" anchor="t"/>
          <a:lstStyle>
            <a:lvl1pPr marL="0" indent="0" algn="l">
              <a:lnSpc>
                <a:spcPct val="115000"/>
              </a:lnSpc>
              <a:buNone/>
              <a:defRPr lang="en-US" sz="2600" dirty="0">
                <a:solidFill>
                  <a:srgbClr val="000000"/>
                </a:solidFill>
                <a:latin typeface="Arial" pitchFamily="34" charset="0"/>
                <a:ea typeface="Arial" pitchFamily="34" charset="-122"/>
                <a:cs typeface="Arial"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2794000" y="985441"/>
            <a:ext cx="8585200" cy="5059759"/>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94000" y="317500"/>
            <a:ext cx="8585200" cy="363141"/>
          </a:xfrm>
          <a:prstGeom prst="rect">
            <a:avLst/>
          </a:prstGeom>
          <a:noFill/>
          <a:ln/>
        </p:spPr>
        <p:txBody>
          <a:bodyPr wrap="square" lIns="0" tIns="0" rIns="0" bIns="0" rtlCol="0" anchor="t"/>
          <a:lstStyle>
            <a:lvl1pPr marL="0" indent="0" algn="l">
              <a:lnSpc>
                <a:spcPct val="115000"/>
              </a:lnSpc>
              <a:buNone/>
              <a:defRPr lang="en-US" sz="2600" dirty="0">
                <a:solidFill>
                  <a:srgbClr val="000000"/>
                </a:solidFill>
                <a:latin typeface="Arial" pitchFamily="34" charset="0"/>
                <a:ea typeface="Arial" pitchFamily="34" charset="-122"/>
                <a:cs typeface="Arial"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2794000" y="985441"/>
            <a:ext cx="8585200" cy="5059759"/>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bin"/></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www.youtube.com/watch?v=FN2RM-CHkuI" TargetMode="Externa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8" Type="http://schemas.openxmlformats.org/officeDocument/2006/relationships/hyperlink" Target="https://www.well-architected-guide.com/documents/document-analysis-example-hospital-management-system-requirements/" TargetMode="External"/><Relationship Id="rId3" Type="http://schemas.openxmlformats.org/officeDocument/2006/relationships/image" Target="../media/image2.png"/><Relationship Id="rId7" Type="http://schemas.openxmlformats.org/officeDocument/2006/relationships/hyperlink" Target="https://www.well-architected-guide.com/documents/survey-e-learning-platform-requirement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well-architected-guide.com/documents/requirements-workshop-employee-onboarding-system/" TargetMode="External"/><Relationship Id="rId5" Type="http://schemas.openxmlformats.org/officeDocument/2006/relationships/hyperlink" Target="https://www.well-architected-guide.com/documents/observation-session-warehouse-operations/" TargetMode="External"/><Relationship Id="rId10" Type="http://schemas.openxmlformats.org/officeDocument/2006/relationships/hyperlink" Target="https://www.well-architected-guide.com/documents/event-storming-session-retail-order-management-system/" TargetMode="External"/><Relationship Id="rId4" Type="http://schemas.openxmlformats.org/officeDocument/2006/relationships/hyperlink" Target="https://www.well-architected-guide.com/documents/interview-session-example-requirements-gathering-for-crm-system/" TargetMode="External"/><Relationship Id="rId9" Type="http://schemas.openxmlformats.org/officeDocument/2006/relationships/hyperlink" Target="https://www.well-architected-guide.com/documents/prototyping-session-example-e-commerce-websit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uapt33090-my.sharepoint.com/:wb:/g/personal/ico_ua_pt/IQAAwkQJ5HAiS7TUPT97Cn0gAfhTXPrpDw7JEABL1c-sT0A?e=9F5rq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www.well-architected-guide.com/documents/category/requirements/requirement-gathering/" TargetMode="External"/><Relationship Id="rId4" Type="http://schemas.openxmlformats.org/officeDocument/2006/relationships/hyperlink" Target="https://www.youtube.com/watch?v=FN2RM-CHkuI"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2D400"/>
        </a:solidFill>
        <a:effectLst/>
      </p:bgPr>
    </p:bg>
    <p:spTree>
      <p:nvGrpSpPr>
        <p:cNvPr id="1" name=""/>
        <p:cNvGrpSpPr/>
        <p:nvPr/>
      </p:nvGrpSpPr>
      <p:grpSpPr>
        <a:xfrm>
          <a:off x="0" y="0"/>
          <a:ext cx="0" cy="0"/>
          <a:chOff x="0" y="0"/>
          <a:chExt cx="0" cy="0"/>
        </a:xfrm>
      </p:grpSpPr>
      <p:pic>
        <p:nvPicPr>
          <p:cNvPr id="2" name="Image 0" descr="Símbolo deti"/>
          <p:cNvPicPr>
            <a:picLocks noChangeAspect="1"/>
          </p:cNvPicPr>
          <p:nvPr/>
        </p:nvPicPr>
        <p:blipFill>
          <a:blip r:embed="rId3"/>
          <a:srcRect l="-55" r="-55"/>
          <a:stretch/>
        </p:blipFill>
        <p:spPr>
          <a:xfrm>
            <a:off x="6184900" y="0"/>
            <a:ext cx="3956050" cy="2222500"/>
          </a:xfrm>
          <a:prstGeom prst="rect">
            <a:avLst/>
          </a:prstGeom>
        </p:spPr>
      </p:pic>
      <p:sp>
        <p:nvSpPr>
          <p:cNvPr id="3" name="Text 0"/>
          <p:cNvSpPr/>
          <p:nvPr/>
        </p:nvSpPr>
        <p:spPr>
          <a:xfrm>
            <a:off x="6184900" y="2540000"/>
            <a:ext cx="5363210"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000000"/>
                </a:solidFill>
                <a:latin typeface="Arial" pitchFamily="34" charset="0"/>
                <a:ea typeface="Arial" pitchFamily="34" charset="-122"/>
                <a:cs typeface="Arial" pitchFamily="34" charset="-120"/>
              </a:rPr>
              <a:t>departamento de eletrónica, telecomunicações e informática</a:t>
            </a:r>
            <a:endParaRPr lang="en-US" sz="1400" dirty="0"/>
          </a:p>
        </p:txBody>
      </p:sp>
      <p:sp>
        <p:nvSpPr>
          <p:cNvPr id="4" name="Text 1"/>
          <p:cNvSpPr>
            <a:spLocks noGrp="1"/>
          </p:cNvSpPr>
          <p:nvPr>
            <p:ph type="title"/>
          </p:nvPr>
        </p:nvSpPr>
        <p:spPr>
          <a:xfrm>
            <a:off x="6184900" y="3111500"/>
            <a:ext cx="5624830" cy="558800"/>
          </a:xfrm>
          <a:prstGeom prst="rect">
            <a:avLst/>
          </a:prstGeom>
          <a:noFill/>
          <a:ln/>
        </p:spPr>
        <p:txBody>
          <a:bodyPr wrap="square" lIns="0" tIns="0" rIns="0" bIns="0" rtlCol="0" anchor="t">
            <a:normAutofit/>
          </a:bodyPr>
          <a:lstStyle/>
          <a:p>
            <a:pPr marL="0" indent="0" algn="l">
              <a:lnSpc>
                <a:spcPts val="4200"/>
              </a:lnSpc>
              <a:buNone/>
            </a:pPr>
            <a:r>
              <a:rPr lang="en-US" sz="4000" b="0" i="0" dirty="0">
                <a:solidFill>
                  <a:srgbClr val="000000"/>
                </a:solidFill>
                <a:latin typeface="Arial" pitchFamily="34" charset="0"/>
                <a:ea typeface="Arial" pitchFamily="34" charset="-122"/>
                <a:cs typeface="Arial" pitchFamily="34" charset="-120"/>
              </a:rPr>
              <a:t>software requirements </a:t>
            </a:r>
            <a:endParaRPr lang="en-US" sz="4000" dirty="0"/>
          </a:p>
        </p:txBody>
      </p:sp>
      <p:sp>
        <p:nvSpPr>
          <p:cNvPr id="5" name="Text 2"/>
          <p:cNvSpPr/>
          <p:nvPr/>
        </p:nvSpPr>
        <p:spPr>
          <a:xfrm>
            <a:off x="6184900" y="4381500"/>
            <a:ext cx="5624830" cy="596900"/>
          </a:xfrm>
          <a:prstGeom prst="rect">
            <a:avLst/>
          </a:prstGeom>
          <a:noFill/>
          <a:ln/>
        </p:spPr>
        <p:txBody>
          <a:bodyPr wrap="square" lIns="0" tIns="0" rIns="0" bIns="0" rtlCol="0" anchor="t">
            <a:normAutofit/>
          </a:bodyPr>
          <a:lstStyle/>
          <a:p>
            <a:pPr marL="0" indent="0" algn="l">
              <a:lnSpc>
                <a:spcPts val="2250"/>
              </a:lnSpc>
              <a:buNone/>
            </a:pPr>
            <a:r>
              <a:rPr lang="en-US" sz="1800" dirty="0">
                <a:solidFill>
                  <a:srgbClr val="000000"/>
                </a:solidFill>
                <a:latin typeface="Arial" pitchFamily="34" charset="0"/>
                <a:ea typeface="Arial" pitchFamily="34" charset="-122"/>
                <a:cs typeface="Arial" pitchFamily="34" charset="-120"/>
              </a:rPr>
              <a:t>part I · concept, process and elicitation techniques</a:t>
            </a:r>
            <a:endParaRPr lang="en-US" sz="1800" dirty="0"/>
          </a:p>
          <a:p>
            <a:pPr marL="0" indent="0" algn="l">
              <a:lnSpc>
                <a:spcPts val="2250"/>
              </a:lnSpc>
              <a:buNone/>
            </a:pPr>
            <a:r>
              <a:rPr lang="en-US" sz="1800" dirty="0">
                <a:solidFill>
                  <a:srgbClr val="000000"/>
                </a:solidFill>
                <a:latin typeface="Arial" pitchFamily="34" charset="0"/>
                <a:ea typeface="Arial" pitchFamily="34" charset="-122"/>
                <a:cs typeface="Arial" pitchFamily="34" charset="-120"/>
              </a:rPr>
              <a:t>TP 04</a:t>
            </a:r>
            <a:endParaRPr lang="en-US" sz="1800" dirty="0"/>
          </a:p>
        </p:txBody>
      </p:sp>
      <p:sp>
        <p:nvSpPr>
          <p:cNvPr id="6" name="Text 3"/>
          <p:cNvSpPr/>
          <p:nvPr/>
        </p:nvSpPr>
        <p:spPr>
          <a:xfrm>
            <a:off x="292100" y="5080000"/>
            <a:ext cx="523240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Arial" pitchFamily="34" charset="0"/>
                <a:ea typeface="Arial" pitchFamily="34" charset="-122"/>
                <a:cs typeface="Arial" pitchFamily="34" charset="-120"/>
              </a:rPr>
              <a:t>Systems Analysis · LECI
Ilídio Oliveira
</a:t>
            </a:r>
            <a:endParaRPr lang="en-US" sz="1400" dirty="0"/>
          </a:p>
        </p:txBody>
      </p:sp>
      <p:sp>
        <p:nvSpPr>
          <p:cNvPr id="7" name="Text 4"/>
          <p:cNvSpPr/>
          <p:nvPr/>
        </p:nvSpPr>
        <p:spPr>
          <a:xfrm>
            <a:off x="6184900" y="5588000"/>
            <a:ext cx="26162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v2026-10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Learning objectives</a:t>
            </a:r>
            <a:endParaRPr lang="en-US" sz="2600" dirty="0"/>
          </a:p>
        </p:txBody>
      </p:sp>
      <p:sp>
        <p:nvSpPr>
          <p:cNvPr id="5" name="Text 2"/>
          <p:cNvSpPr/>
          <p:nvPr/>
        </p:nvSpPr>
        <p:spPr>
          <a:xfrm>
            <a:off x="812800" y="1371600"/>
            <a:ext cx="672363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Arial" pitchFamily="34" charset="0"/>
                <a:ea typeface="Arial" pitchFamily="34" charset="-122"/>
                <a:cs typeface="Arial" pitchFamily="34" charset="-120"/>
              </a:rPr>
              <a:t>By the end of this class, you should be able to:</a:t>
            </a:r>
            <a:endParaRPr lang="en-US" sz="1800" dirty="0"/>
          </a:p>
        </p:txBody>
      </p:sp>
      <p:sp>
        <p:nvSpPr>
          <p:cNvPr id="6" name="Text 3"/>
          <p:cNvSpPr/>
          <p:nvPr/>
        </p:nvSpPr>
        <p:spPr>
          <a:xfrm>
            <a:off x="854968" y="1823641"/>
            <a:ext cx="6673846" cy="1892300"/>
          </a:xfrm>
          <a:prstGeom prst="rect">
            <a:avLst/>
          </a:prstGeom>
          <a:noFill/>
          <a:ln/>
        </p:spPr>
        <p:txBody>
          <a:bodyPr wrap="square" lIns="0" tIns="0" rIns="0" bIns="0" rtlCol="0" anchor="t">
            <a:normAutofit/>
          </a:bodyPr>
          <a:lstStyle/>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Define “software requirement” and distinguish levels of requirements</a:t>
            </a:r>
            <a:endParaRPr lang="en-US" sz="1500" dirty="0"/>
          </a:p>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Describe the requirements engineering process (Wiegers)</a:t>
            </a:r>
            <a:endParaRPr lang="en-US" sz="1500" dirty="0"/>
          </a:p>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Classify requirements using reference categories (Wiegers, ISO/IEC 25010)</a:t>
            </a:r>
            <a:endParaRPr lang="en-US" sz="1500" dirty="0"/>
          </a:p>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Select elicitation techniques suited to the context</a:t>
            </a:r>
            <a:endParaRPr lang="en-US" sz="1500" dirty="0"/>
          </a:p>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Decide when to document according to a standard (ISO/IEC/IEEE 29148)</a:t>
            </a:r>
            <a:endParaRPr lang="en-US" sz="1500" dirty="0"/>
          </a:p>
          <a:p>
            <a:pPr marL="211832" indent="-211832" algn="l">
              <a:lnSpc>
                <a:spcPts val="2100"/>
              </a:lnSpc>
              <a:buSzPct val="100000"/>
              <a:buFontTx/>
              <a:buAutoNum type="arabicPeriod"/>
            </a:pPr>
            <a:r>
              <a:rPr lang="en-US" sz="1500" dirty="0">
                <a:solidFill>
                  <a:srgbClr val="000000"/>
                </a:solidFill>
                <a:latin typeface="Arial" pitchFamily="34" charset="0"/>
                <a:ea typeface="Arial" pitchFamily="34" charset="-122"/>
                <a:cs typeface="Arial" pitchFamily="34" charset="-120"/>
              </a:rPr>
              <a:t>Critically assess the use of AI in requirements engineering</a:t>
            </a:r>
            <a:endParaRPr lang="en-US" sz="1500" dirty="0"/>
          </a:p>
        </p:txBody>
      </p:sp>
      <p:pic>
        <p:nvPicPr>
          <p:cNvPr id="7" name="Image 1" descr="image.png"/>
          <p:cNvPicPr>
            <a:picLocks noChangeAspect="1"/>
          </p:cNvPicPr>
          <p:nvPr/>
        </p:nvPicPr>
        <p:blipFill>
          <a:blip r:embed="rId4"/>
          <a:srcRect t="-53" b="-53"/>
          <a:stretch/>
        </p:blipFill>
        <p:spPr>
          <a:xfrm>
            <a:off x="7696200" y="1371600"/>
            <a:ext cx="3683000" cy="4533900"/>
          </a:xfrm>
          <a:prstGeom prst="rect">
            <a:avLst/>
          </a:prstGeom>
        </p:spPr>
      </p:pic>
      <p:sp>
        <p:nvSpPr>
          <p:cNvPr id="8" name="Text 4"/>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9" name="Text 5"/>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Starting point</a:t>
            </a:r>
            <a:endParaRPr lang="en-US" sz="2600" dirty="0"/>
          </a:p>
        </p:txBody>
      </p:sp>
      <p:sp>
        <p:nvSpPr>
          <p:cNvPr id="5" name="Text 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a:t>
            </a:r>
            <a:endParaRPr lang="en-US" sz="1200" dirty="0"/>
          </a:p>
        </p:txBody>
      </p:sp>
      <p:sp>
        <p:nvSpPr>
          <p:cNvPr id="7" name="Text 4"/>
          <p:cNvSpPr/>
          <p:nvPr/>
        </p:nvSpPr>
        <p:spPr>
          <a:xfrm>
            <a:off x="812800" y="2482850"/>
            <a:ext cx="10883392" cy="939800"/>
          </a:xfrm>
          <a:prstGeom prst="rect">
            <a:avLst/>
          </a:prstGeom>
          <a:noFill/>
          <a:ln/>
        </p:spPr>
        <p:txBody>
          <a:bodyPr wrap="square" lIns="0" tIns="0" rIns="0" bIns="0" rtlCol="0" anchor="t">
            <a:normAutofit/>
          </a:bodyPr>
          <a:lstStyle/>
          <a:p>
            <a:pPr marL="0" indent="0" algn="l">
              <a:lnSpc>
                <a:spcPts val="3600"/>
              </a:lnSpc>
              <a:buNone/>
            </a:pPr>
            <a:r>
              <a:rPr lang="en-US" sz="3000" dirty="0">
                <a:solidFill>
                  <a:srgbClr val="000000"/>
                </a:solidFill>
                <a:latin typeface="Arial" pitchFamily="34" charset="0"/>
                <a:ea typeface="Arial" pitchFamily="34" charset="-122"/>
                <a:cs typeface="Arial" pitchFamily="34" charset="-120"/>
              </a:rPr>
              <a:t>“I want a fast, easy-to-use app so customers can order by themselves at the kiosk.”</a:t>
            </a:r>
            <a:endParaRPr lang="en-US" sz="3000" dirty="0"/>
          </a:p>
        </p:txBody>
      </p:sp>
      <p:sp>
        <p:nvSpPr>
          <p:cNvPr id="8" name="Text 5"/>
          <p:cNvSpPr/>
          <p:nvPr/>
        </p:nvSpPr>
        <p:spPr>
          <a:xfrm>
            <a:off x="812800" y="37020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4444"/>
                </a:solidFill>
                <a:latin typeface="Arial" pitchFamily="34" charset="0"/>
                <a:ea typeface="Arial" pitchFamily="34" charset="-122"/>
                <a:cs typeface="Arial" pitchFamily="34" charset="-120"/>
              </a:rPr>
              <a:t>— manager of a fast-food restaurant</a:t>
            </a:r>
            <a:endParaRPr lang="en-US" sz="1500" dirty="0"/>
          </a:p>
        </p:txBody>
      </p:sp>
      <p:sp>
        <p:nvSpPr>
          <p:cNvPr id="9" name="Text 6"/>
          <p:cNvSpPr/>
          <p:nvPr/>
        </p:nvSpPr>
        <p:spPr>
          <a:xfrm>
            <a:off x="812800" y="4341515"/>
            <a:ext cx="3106638"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00000"/>
                </a:solidFill>
                <a:latin typeface="Arial" pitchFamily="34" charset="0"/>
                <a:ea typeface="Arial" pitchFamily="34" charset="-122"/>
                <a:cs typeface="Arial" pitchFamily="34" charset="-120"/>
              </a:rPr>
              <a:t>Is this a requirement?</a:t>
            </a:r>
            <a:endParaRPr lang="en-US" sz="2200" dirty="0"/>
          </a:p>
        </p:txBody>
      </p:sp>
      <p:sp>
        <p:nvSpPr>
          <p:cNvPr id="10" name="Text 7"/>
          <p:cNvSpPr/>
          <p:nvPr/>
        </p:nvSpPr>
        <p:spPr>
          <a:xfrm>
            <a:off x="3919438" y="4275435"/>
            <a:ext cx="1105495" cy="523180"/>
          </a:xfrm>
          <a:prstGeom prst="rect">
            <a:avLst/>
          </a:prstGeom>
          <a:solidFill>
            <a:srgbClr val="DBEFC1"/>
          </a:solidFill>
          <a:ln/>
        </p:spPr>
        <p:txBody>
          <a:bodyPr wrap="none" lIns="0" tIns="0" rIns="0" bIns="0" rtlCol="0" anchor="ctr">
            <a:normAutofit/>
          </a:bodyPr>
          <a:lstStyle/>
          <a:p>
            <a:pPr marL="0" indent="0" algn="ctr">
              <a:lnSpc>
                <a:spcPts val="2520"/>
              </a:lnSpc>
              <a:buNone/>
            </a:pPr>
            <a:r>
              <a:rPr lang="en-US" sz="1800" dirty="0">
                <a:solidFill>
                  <a:srgbClr val="000000"/>
                </a:solidFill>
                <a:latin typeface="Arial" pitchFamily="34" charset="0"/>
                <a:ea typeface="Arial" pitchFamily="34" charset="-122"/>
                <a:cs typeface="Arial" pitchFamily="34" charset="-120"/>
              </a:rPr>
              <a:t>1 · Yes</a:t>
            </a:r>
            <a:endParaRPr lang="en-US" sz="1800" dirty="0"/>
          </a:p>
        </p:txBody>
      </p:sp>
      <p:sp>
        <p:nvSpPr>
          <p:cNvPr id="11" name="Text 8"/>
          <p:cNvSpPr/>
          <p:nvPr/>
        </p:nvSpPr>
        <p:spPr>
          <a:xfrm>
            <a:off x="5228134" y="4275435"/>
            <a:ext cx="1028998" cy="523180"/>
          </a:xfrm>
          <a:prstGeom prst="rect">
            <a:avLst/>
          </a:prstGeom>
          <a:solidFill>
            <a:srgbClr val="DBEFC1"/>
          </a:solidFill>
          <a:ln/>
        </p:spPr>
        <p:txBody>
          <a:bodyPr wrap="none" lIns="0" tIns="0" rIns="0" bIns="0" rtlCol="0" anchor="ctr">
            <a:normAutofit/>
          </a:bodyPr>
          <a:lstStyle/>
          <a:p>
            <a:pPr marL="0" indent="0" algn="ctr">
              <a:lnSpc>
                <a:spcPts val="2520"/>
              </a:lnSpc>
              <a:buNone/>
            </a:pPr>
            <a:r>
              <a:rPr lang="en-US" sz="1800" dirty="0">
                <a:solidFill>
                  <a:srgbClr val="000000"/>
                </a:solidFill>
                <a:latin typeface="Arial" pitchFamily="34" charset="0"/>
                <a:ea typeface="Arial" pitchFamily="34" charset="-122"/>
                <a:cs typeface="Arial" pitchFamily="34" charset="-120"/>
              </a:rPr>
              <a:t>2 · No</a:t>
            </a:r>
            <a:endParaRPr lang="en-US" sz="1800" dirty="0"/>
          </a:p>
        </p:txBody>
      </p:sp>
      <p:sp>
        <p:nvSpPr>
          <p:cNvPr id="12" name="Text 9"/>
          <p:cNvSpPr/>
          <p:nvPr/>
        </p:nvSpPr>
        <p:spPr>
          <a:xfrm>
            <a:off x="6460331" y="4275435"/>
            <a:ext cx="1804392" cy="523180"/>
          </a:xfrm>
          <a:prstGeom prst="rect">
            <a:avLst/>
          </a:prstGeom>
          <a:solidFill>
            <a:srgbClr val="DBEFC1"/>
          </a:solidFill>
          <a:ln/>
        </p:spPr>
        <p:txBody>
          <a:bodyPr wrap="none" lIns="0" tIns="0" rIns="0" bIns="0" rtlCol="0" anchor="ctr">
            <a:normAutofit/>
          </a:bodyPr>
          <a:lstStyle/>
          <a:p>
            <a:pPr marL="0" indent="0" algn="ctr">
              <a:lnSpc>
                <a:spcPts val="2520"/>
              </a:lnSpc>
              <a:buNone/>
            </a:pPr>
            <a:r>
              <a:rPr lang="en-US" sz="1800" dirty="0">
                <a:solidFill>
                  <a:srgbClr val="000000"/>
                </a:solidFill>
                <a:latin typeface="Arial" pitchFamily="34" charset="0"/>
                <a:ea typeface="Arial" pitchFamily="34" charset="-122"/>
                <a:cs typeface="Arial" pitchFamily="34" charset="-120"/>
              </a:rPr>
              <a:t>3 · It depends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92D400"/>
        </a:solidFill>
        <a:effectLst/>
      </p:bgPr>
    </p:bg>
    <p:spTree>
      <p:nvGrpSpPr>
        <p:cNvPr id="1" name=""/>
        <p:cNvGrpSpPr/>
        <p:nvPr/>
      </p:nvGrpSpPr>
      <p:grpSpPr>
        <a:xfrm>
          <a:off x="0" y="0"/>
          <a:ext cx="0" cy="0"/>
          <a:chOff x="0" y="0"/>
          <a:chExt cx="0" cy="0"/>
        </a:xfrm>
      </p:grpSpPr>
      <p:sp>
        <p:nvSpPr>
          <p:cNvPr id="2" name="Text 0"/>
          <p:cNvSpPr/>
          <p:nvPr/>
        </p:nvSpPr>
        <p:spPr>
          <a:xfrm>
            <a:off x="812800" y="255657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part 1</a:t>
            </a:r>
            <a:endParaRPr lang="en-US" sz="1800" dirty="0"/>
          </a:p>
        </p:txBody>
      </p:sp>
      <p:sp>
        <p:nvSpPr>
          <p:cNvPr id="3" name="Text 1"/>
          <p:cNvSpPr>
            <a:spLocks noGrp="1"/>
          </p:cNvSpPr>
          <p:nvPr>
            <p:ph type="title"/>
          </p:nvPr>
        </p:nvSpPr>
        <p:spPr>
          <a:xfrm>
            <a:off x="812800" y="30289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000000"/>
                </a:solidFill>
                <a:latin typeface="Arial" pitchFamily="34" charset="0"/>
                <a:ea typeface="Arial" pitchFamily="34" charset="-122"/>
                <a:cs typeface="Arial" pitchFamily="34" charset="-120"/>
              </a:rPr>
              <a:t>what is a requirement?</a:t>
            </a:r>
            <a:endParaRPr lang="en-US" sz="6000" dirty="0"/>
          </a:p>
        </p:txBody>
      </p:sp>
      <p:sp>
        <p:nvSpPr>
          <p:cNvPr id="4" name="Text 2"/>
          <p:cNvSpPr/>
          <p:nvPr/>
        </p:nvSpPr>
        <p:spPr>
          <a:xfrm>
            <a:off x="812800" y="398145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Arial" pitchFamily="34" charset="0"/>
                <a:ea typeface="Arial" pitchFamily="34" charset="-122"/>
                <a:cs typeface="Arial" pitchFamily="34" charset="-120"/>
              </a:rPr>
              <a:t>definition · levels · stakeholders · process</a:t>
            </a:r>
            <a:endParaRPr lang="en-US" sz="1800" dirty="0"/>
          </a:p>
        </p:txBody>
      </p:sp>
      <p:pic>
        <p:nvPicPr>
          <p:cNvPr id="5" name="Image 0" descr="Universidade de Aveiro · DETI"/>
          <p:cNvPicPr>
            <a:picLocks noChangeAspect="1"/>
          </p:cNvPicPr>
          <p:nvPr/>
        </p:nvPicPr>
        <p:blipFill>
          <a:blip r:embed="rId3"/>
          <a:srcRect t="-6497" b="-6497"/>
          <a:stretch/>
        </p:blipFill>
        <p:spPr>
          <a:xfrm>
            <a:off x="812800" y="5816600"/>
            <a:ext cx="2667000" cy="635000"/>
          </a:xfrm>
          <a:prstGeom prst="rect">
            <a:avLst/>
          </a:prstGeom>
        </p:spPr>
      </p:pic>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What is a requirement?</a:t>
            </a:r>
            <a:endParaRPr lang="en-US" sz="2600" dirty="0"/>
          </a:p>
        </p:txBody>
      </p:sp>
      <p:sp>
        <p:nvSpPr>
          <p:cNvPr id="5" name="Shape 2"/>
          <p:cNvSpPr/>
          <p:nvPr/>
        </p:nvSpPr>
        <p:spPr>
          <a:xfrm>
            <a:off x="812800" y="1270000"/>
            <a:ext cx="5156200" cy="1705471"/>
          </a:xfrm>
          <a:prstGeom prst="rect">
            <a:avLst/>
          </a:prstGeom>
          <a:solidFill>
            <a:srgbClr val="DBEFC1"/>
          </a:solidFill>
          <a:ln/>
        </p:spPr>
        <p:txBody>
          <a:bodyPr/>
          <a:lstStyle/>
          <a:p>
            <a:endParaRPr lang="pt-PT"/>
          </a:p>
        </p:txBody>
      </p:sp>
      <p:sp>
        <p:nvSpPr>
          <p:cNvPr id="6" name="Text 3"/>
          <p:cNvSpPr/>
          <p:nvPr/>
        </p:nvSpPr>
        <p:spPr>
          <a:xfrm>
            <a:off x="1016000" y="1473200"/>
            <a:ext cx="489229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00"/>
                </a:solidFill>
                <a:latin typeface="Arial" pitchFamily="34" charset="0"/>
                <a:ea typeface="Arial" pitchFamily="34" charset="-122"/>
                <a:cs typeface="Arial" pitchFamily="34" charset="-120"/>
              </a:rPr>
              <a:t>ISO/IEC/IEEE 29148:2018</a:t>
            </a:r>
            <a:endParaRPr lang="en-US" sz="1400" dirty="0"/>
          </a:p>
        </p:txBody>
      </p:sp>
      <p:sp>
        <p:nvSpPr>
          <p:cNvPr id="7" name="Text 4"/>
          <p:cNvSpPr/>
          <p:nvPr/>
        </p:nvSpPr>
        <p:spPr>
          <a:xfrm>
            <a:off x="1016000" y="1762720"/>
            <a:ext cx="489229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Arial" pitchFamily="34" charset="0"/>
                <a:ea typeface="Arial" pitchFamily="34" charset="-122"/>
                <a:cs typeface="Arial" pitchFamily="34" charset="-120"/>
              </a:rPr>
              <a:t>Statement which translates or expresses a </a:t>
            </a:r>
            <a:r>
              <a:rPr lang="en-US" sz="1400" b="1" dirty="0">
                <a:solidFill>
                  <a:srgbClr val="000000"/>
                </a:solidFill>
                <a:latin typeface="Arial" pitchFamily="34" charset="0"/>
                <a:ea typeface="Arial" pitchFamily="34" charset="-122"/>
                <a:cs typeface="Arial" pitchFamily="34" charset="-120"/>
              </a:rPr>
              <a:t>need</a:t>
            </a:r>
            <a:r>
              <a:rPr lang="en-US" sz="1400" dirty="0">
                <a:solidFill>
                  <a:srgbClr val="000000"/>
                </a:solidFill>
                <a:latin typeface="Arial" pitchFamily="34" charset="0"/>
                <a:ea typeface="Arial" pitchFamily="34" charset="-122"/>
                <a:cs typeface="Arial" pitchFamily="34" charset="-120"/>
              </a:rPr>
              <a:t> and its associated </a:t>
            </a:r>
            <a:r>
              <a:rPr lang="en-US" sz="1400" b="1" dirty="0">
                <a:solidFill>
                  <a:srgbClr val="000000"/>
                </a:solidFill>
                <a:latin typeface="Arial" pitchFamily="34" charset="0"/>
                <a:ea typeface="Arial" pitchFamily="34" charset="-122"/>
                <a:cs typeface="Arial" pitchFamily="34" charset="-120"/>
              </a:rPr>
              <a:t>constraints and conditions</a:t>
            </a: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8" name="Text 5"/>
          <p:cNvSpPr/>
          <p:nvPr/>
        </p:nvSpPr>
        <p:spPr>
          <a:xfrm>
            <a:off x="1016000" y="2318941"/>
            <a:ext cx="489229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Definition of “requirement”.</a:t>
            </a:r>
            <a:endParaRPr lang="en-US" sz="1200" dirty="0"/>
          </a:p>
        </p:txBody>
      </p:sp>
      <p:sp>
        <p:nvSpPr>
          <p:cNvPr id="9" name="Shape 6"/>
          <p:cNvSpPr/>
          <p:nvPr/>
        </p:nvSpPr>
        <p:spPr>
          <a:xfrm>
            <a:off x="6223000" y="1270000"/>
            <a:ext cx="5156200" cy="1705471"/>
          </a:xfrm>
          <a:prstGeom prst="rect">
            <a:avLst/>
          </a:prstGeom>
          <a:solidFill>
            <a:srgbClr val="DBEFC1"/>
          </a:solidFill>
          <a:ln/>
        </p:spPr>
        <p:txBody>
          <a:bodyPr/>
          <a:lstStyle/>
          <a:p>
            <a:endParaRPr lang="pt-PT"/>
          </a:p>
        </p:txBody>
      </p:sp>
      <p:sp>
        <p:nvSpPr>
          <p:cNvPr id="10" name="Text 7"/>
          <p:cNvSpPr/>
          <p:nvPr/>
        </p:nvSpPr>
        <p:spPr>
          <a:xfrm>
            <a:off x="6426200" y="1473200"/>
            <a:ext cx="489229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00"/>
                </a:solidFill>
                <a:latin typeface="Arial" pitchFamily="34" charset="0"/>
                <a:ea typeface="Arial" pitchFamily="34" charset="-122"/>
                <a:cs typeface="Arial" pitchFamily="34" charset="-120"/>
              </a:rPr>
              <a:t>Sommerville &amp; Sawyer (1997)</a:t>
            </a:r>
            <a:endParaRPr lang="en-US" sz="1400" dirty="0"/>
          </a:p>
        </p:txBody>
      </p:sp>
      <p:sp>
        <p:nvSpPr>
          <p:cNvPr id="11" name="Text 8"/>
          <p:cNvSpPr/>
          <p:nvPr/>
        </p:nvSpPr>
        <p:spPr>
          <a:xfrm>
            <a:off x="6426200" y="1762720"/>
            <a:ext cx="4892294"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Arial" pitchFamily="34" charset="0"/>
                <a:ea typeface="Arial" pitchFamily="34" charset="-122"/>
                <a:cs typeface="Arial" pitchFamily="34" charset="-120"/>
              </a:rPr>
              <a:t>A specification of what should be implemented: how the system should </a:t>
            </a:r>
            <a:r>
              <a:rPr lang="en-US" sz="1400" b="1" dirty="0">
                <a:solidFill>
                  <a:srgbClr val="000000"/>
                </a:solidFill>
                <a:latin typeface="Arial" pitchFamily="34" charset="0"/>
                <a:ea typeface="Arial" pitchFamily="34" charset="-122"/>
                <a:cs typeface="Arial" pitchFamily="34" charset="-120"/>
              </a:rPr>
              <a:t>behave</a:t>
            </a:r>
            <a:r>
              <a:rPr lang="en-US" sz="1400" dirty="0">
                <a:solidFill>
                  <a:srgbClr val="000000"/>
                </a:solidFill>
                <a:latin typeface="Arial" pitchFamily="34" charset="0"/>
                <a:ea typeface="Arial" pitchFamily="34" charset="-122"/>
                <a:cs typeface="Arial" pitchFamily="34" charset="-120"/>
              </a:rPr>
              <a:t>, a system </a:t>
            </a:r>
            <a:r>
              <a:rPr lang="en-US" sz="1400" b="1" dirty="0">
                <a:solidFill>
                  <a:srgbClr val="000000"/>
                </a:solidFill>
                <a:latin typeface="Arial" pitchFamily="34" charset="0"/>
                <a:ea typeface="Arial" pitchFamily="34" charset="-122"/>
                <a:cs typeface="Arial" pitchFamily="34" charset="-120"/>
              </a:rPr>
              <a:t>property or attribute</a:t>
            </a:r>
            <a:r>
              <a:rPr lang="en-US" sz="1400" dirty="0">
                <a:solidFill>
                  <a:srgbClr val="000000"/>
                </a:solidFill>
                <a:latin typeface="Arial" pitchFamily="34" charset="0"/>
                <a:ea typeface="Arial" pitchFamily="34" charset="-122"/>
                <a:cs typeface="Arial" pitchFamily="34" charset="-120"/>
              </a:rPr>
              <a:t>, or a </a:t>
            </a:r>
            <a:r>
              <a:rPr lang="en-US" sz="1400" b="1" dirty="0">
                <a:solidFill>
                  <a:srgbClr val="000000"/>
                </a:solidFill>
                <a:latin typeface="Arial" pitchFamily="34" charset="0"/>
                <a:ea typeface="Arial" pitchFamily="34" charset="-122"/>
                <a:cs typeface="Arial" pitchFamily="34" charset="-120"/>
              </a:rPr>
              <a:t>constraint</a:t>
            </a:r>
            <a:r>
              <a:rPr lang="en-US" sz="1400" dirty="0">
                <a:solidFill>
                  <a:srgbClr val="000000"/>
                </a:solidFill>
                <a:latin typeface="Arial" pitchFamily="34" charset="0"/>
                <a:ea typeface="Arial" pitchFamily="34" charset="-122"/>
                <a:cs typeface="Arial" pitchFamily="34" charset="-120"/>
              </a:rPr>
              <a:t> on the development process.</a:t>
            </a:r>
            <a:endParaRPr lang="en-US" sz="1400" dirty="0"/>
          </a:p>
        </p:txBody>
      </p:sp>
      <p:sp>
        <p:nvSpPr>
          <p:cNvPr id="12" name="Text 9"/>
          <p:cNvSpPr/>
          <p:nvPr/>
        </p:nvSpPr>
        <p:spPr>
          <a:xfrm>
            <a:off x="6426200" y="2558951"/>
            <a:ext cx="489229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Cited in Wiegers &amp; Beatty (2013), ch. 1.</a:t>
            </a:r>
            <a:endParaRPr lang="en-US" sz="1200" dirty="0"/>
          </a:p>
        </p:txBody>
      </p:sp>
      <p:sp>
        <p:nvSpPr>
          <p:cNvPr id="13" name="Text 10"/>
          <p:cNvSpPr/>
          <p:nvPr/>
        </p:nvSpPr>
        <p:spPr>
          <a:xfrm>
            <a:off x="812800" y="4323159"/>
            <a:ext cx="1088339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000000"/>
                </a:solidFill>
                <a:latin typeface="Arial" pitchFamily="34" charset="0"/>
                <a:ea typeface="Arial" pitchFamily="34" charset="-122"/>
                <a:cs typeface="Arial" pitchFamily="34" charset="-120"/>
              </a:rPr>
              <a:t>A requirement captures the need and makes it verifiable, without imposing a solution.</a:t>
            </a:r>
            <a:endParaRPr lang="en-US" sz="1600" dirty="0"/>
          </a:p>
        </p:txBody>
      </p:sp>
      <p:sp>
        <p:nvSpPr>
          <p:cNvPr id="14" name="Shape 11"/>
          <p:cNvSpPr/>
          <p:nvPr/>
        </p:nvSpPr>
        <p:spPr>
          <a:xfrm>
            <a:off x="822325" y="4774605"/>
            <a:ext cx="2781697" cy="1121370"/>
          </a:xfrm>
          <a:prstGeom prst="rect">
            <a:avLst/>
          </a:prstGeom>
          <a:solidFill>
            <a:srgbClr val="FFFFFF"/>
          </a:solidFill>
          <a:ln w="19050">
            <a:solidFill>
              <a:srgbClr val="000000"/>
            </a:solidFill>
            <a:prstDash val="solid"/>
          </a:ln>
        </p:spPr>
        <p:txBody>
          <a:bodyPr/>
          <a:lstStyle/>
          <a:p>
            <a:endParaRPr lang="pt-PT"/>
          </a:p>
        </p:txBody>
      </p:sp>
      <p:pic>
        <p:nvPicPr>
          <p:cNvPr id="15" name="Image 1" descr="Users"/>
          <p:cNvPicPr>
            <a:picLocks noChangeAspect="1"/>
          </p:cNvPicPr>
          <p:nvPr/>
        </p:nvPicPr>
        <p:blipFill>
          <a:blip r:embed="rId4"/>
          <a:srcRect/>
          <a:stretch/>
        </p:blipFill>
        <p:spPr>
          <a:xfrm>
            <a:off x="984250" y="4936530"/>
            <a:ext cx="304800" cy="304800"/>
          </a:xfrm>
          <a:prstGeom prst="rect">
            <a:avLst/>
          </a:prstGeom>
        </p:spPr>
      </p:pic>
      <p:sp>
        <p:nvSpPr>
          <p:cNvPr id="16" name="Text 12"/>
          <p:cNvSpPr/>
          <p:nvPr/>
        </p:nvSpPr>
        <p:spPr>
          <a:xfrm>
            <a:off x="1377950" y="4973340"/>
            <a:ext cx="111192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NEED · why</a:t>
            </a:r>
            <a:endParaRPr lang="en-US" sz="1300" dirty="0"/>
          </a:p>
        </p:txBody>
      </p:sp>
      <p:sp>
        <p:nvSpPr>
          <p:cNvPr id="17" name="Text 13"/>
          <p:cNvSpPr/>
          <p:nvPr/>
        </p:nvSpPr>
        <p:spPr>
          <a:xfrm>
            <a:off x="984250" y="5304830"/>
            <a:ext cx="253158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“Customers give up because of the queue.”</a:t>
            </a:r>
            <a:endParaRPr lang="en-US" sz="1300" dirty="0"/>
          </a:p>
        </p:txBody>
      </p:sp>
      <p:pic>
        <p:nvPicPr>
          <p:cNvPr id="18" name="Image 2" descr="arrow-right"/>
          <p:cNvPicPr>
            <a:picLocks noChangeAspect="1"/>
          </p:cNvPicPr>
          <p:nvPr/>
        </p:nvPicPr>
        <p:blipFill>
          <a:blip r:embed="rId5"/>
          <a:srcRect/>
          <a:stretch/>
        </p:blipFill>
        <p:spPr>
          <a:xfrm>
            <a:off x="3740547" y="5233690"/>
            <a:ext cx="355600" cy="203200"/>
          </a:xfrm>
          <a:prstGeom prst="rect">
            <a:avLst/>
          </a:prstGeom>
        </p:spPr>
      </p:pic>
      <p:sp>
        <p:nvSpPr>
          <p:cNvPr id="19" name="Shape 14"/>
          <p:cNvSpPr/>
          <p:nvPr/>
        </p:nvSpPr>
        <p:spPr>
          <a:xfrm>
            <a:off x="4223147" y="4765080"/>
            <a:ext cx="3745706" cy="1140420"/>
          </a:xfrm>
          <a:prstGeom prst="rect">
            <a:avLst/>
          </a:prstGeom>
          <a:solidFill>
            <a:srgbClr val="92D400"/>
          </a:solidFill>
          <a:ln/>
        </p:spPr>
        <p:txBody>
          <a:bodyPr/>
          <a:lstStyle/>
          <a:p>
            <a:endParaRPr lang="pt-PT"/>
          </a:p>
        </p:txBody>
      </p:sp>
      <p:pic>
        <p:nvPicPr>
          <p:cNvPr id="20" name="Image 3" descr="CheckCircle"/>
          <p:cNvPicPr>
            <a:picLocks noChangeAspect="1"/>
          </p:cNvPicPr>
          <p:nvPr/>
        </p:nvPicPr>
        <p:blipFill>
          <a:blip r:embed="rId6"/>
          <a:srcRect/>
          <a:stretch/>
        </p:blipFill>
        <p:spPr>
          <a:xfrm>
            <a:off x="4375547" y="4917480"/>
            <a:ext cx="304800" cy="304800"/>
          </a:xfrm>
          <a:prstGeom prst="rect">
            <a:avLst/>
          </a:prstGeom>
        </p:spPr>
      </p:pic>
      <p:sp>
        <p:nvSpPr>
          <p:cNvPr id="21" name="Text 15"/>
          <p:cNvSpPr/>
          <p:nvPr/>
        </p:nvSpPr>
        <p:spPr>
          <a:xfrm>
            <a:off x="4769247" y="4954290"/>
            <a:ext cx="209133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REQUIREMENT · what</a:t>
            </a:r>
            <a:endParaRPr lang="en-US" sz="1300" dirty="0"/>
          </a:p>
        </p:txBody>
      </p:sp>
      <p:sp>
        <p:nvSpPr>
          <p:cNvPr id="22" name="Text 16"/>
          <p:cNvSpPr/>
          <p:nvPr/>
        </p:nvSpPr>
        <p:spPr>
          <a:xfrm>
            <a:off x="4375547" y="5285780"/>
            <a:ext cx="3544133"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“A customer shall be able to place and pay for a simple order unaided in under 3 min.”</a:t>
            </a:r>
            <a:endParaRPr lang="en-US" sz="1300" dirty="0"/>
          </a:p>
        </p:txBody>
      </p:sp>
      <p:pic>
        <p:nvPicPr>
          <p:cNvPr id="23" name="Image 4" descr="arrow-right"/>
          <p:cNvPicPr>
            <a:picLocks noChangeAspect="1"/>
          </p:cNvPicPr>
          <p:nvPr/>
        </p:nvPicPr>
        <p:blipFill>
          <a:blip r:embed="rId5"/>
          <a:srcRect/>
          <a:stretch/>
        </p:blipFill>
        <p:spPr>
          <a:xfrm>
            <a:off x="8095853" y="5233690"/>
            <a:ext cx="355600" cy="203200"/>
          </a:xfrm>
          <a:prstGeom prst="rect">
            <a:avLst/>
          </a:prstGeom>
        </p:spPr>
      </p:pic>
      <p:sp>
        <p:nvSpPr>
          <p:cNvPr id="24" name="Shape 17"/>
          <p:cNvSpPr/>
          <p:nvPr/>
        </p:nvSpPr>
        <p:spPr>
          <a:xfrm>
            <a:off x="8587978" y="4774605"/>
            <a:ext cx="2781697" cy="1121370"/>
          </a:xfrm>
          <a:prstGeom prst="rect">
            <a:avLst/>
          </a:prstGeom>
          <a:solidFill>
            <a:srgbClr val="FFFFFF"/>
          </a:solidFill>
          <a:ln w="19050">
            <a:solidFill>
              <a:srgbClr val="000000"/>
            </a:solidFill>
            <a:prstDash val="dash"/>
          </a:ln>
        </p:spPr>
        <p:txBody>
          <a:bodyPr/>
          <a:lstStyle/>
          <a:p>
            <a:endParaRPr lang="pt-PT"/>
          </a:p>
        </p:txBody>
      </p:sp>
      <p:pic>
        <p:nvPicPr>
          <p:cNvPr id="25" name="Image 5" descr="Wrench"/>
          <p:cNvPicPr>
            <a:picLocks noChangeAspect="1"/>
          </p:cNvPicPr>
          <p:nvPr/>
        </p:nvPicPr>
        <p:blipFill>
          <a:blip r:embed="rId7"/>
          <a:srcRect/>
          <a:stretch/>
        </p:blipFill>
        <p:spPr>
          <a:xfrm>
            <a:off x="8749903" y="4936530"/>
            <a:ext cx="304800" cy="304800"/>
          </a:xfrm>
          <a:prstGeom prst="rect">
            <a:avLst/>
          </a:prstGeom>
        </p:spPr>
      </p:pic>
      <p:sp>
        <p:nvSpPr>
          <p:cNvPr id="26" name="Text 18"/>
          <p:cNvSpPr/>
          <p:nvPr/>
        </p:nvSpPr>
        <p:spPr>
          <a:xfrm>
            <a:off x="9143603" y="4973340"/>
            <a:ext cx="159579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SOLUTION · how</a:t>
            </a:r>
            <a:endParaRPr lang="en-US" sz="1300" dirty="0"/>
          </a:p>
        </p:txBody>
      </p:sp>
      <p:sp>
        <p:nvSpPr>
          <p:cNvPr id="27" name="Text 19"/>
          <p:cNvSpPr/>
          <p:nvPr/>
        </p:nvSpPr>
        <p:spPr>
          <a:xfrm>
            <a:off x="8749903" y="5304830"/>
            <a:ext cx="253158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touch screen, web app, kitchen integration…</a:t>
            </a:r>
            <a:endParaRPr lang="en-US" sz="1300" dirty="0"/>
          </a:p>
        </p:txBody>
      </p:sp>
      <p:sp>
        <p:nvSpPr>
          <p:cNvPr id="28" name="Text 20"/>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29" name="Text 21"/>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What the evidence says</a:t>
            </a:r>
            <a:endParaRPr lang="en-US" sz="2600" dirty="0"/>
          </a:p>
        </p:txBody>
      </p:sp>
      <p:sp>
        <p:nvSpPr>
          <p:cNvPr id="5" name="Text 2"/>
          <p:cNvSpPr/>
          <p:nvPr/>
        </p:nvSpPr>
        <p:spPr>
          <a:xfrm>
            <a:off x="812800" y="1270000"/>
            <a:ext cx="108833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Arial" pitchFamily="34" charset="0"/>
                <a:ea typeface="Arial" pitchFamily="34" charset="-122"/>
                <a:cs typeface="Arial" pitchFamily="34" charset="-120"/>
              </a:rPr>
              <a:t>Almost half of companies report incomplete or hidden requirements</a:t>
            </a:r>
            <a:endParaRPr lang="en-US" sz="1800" dirty="0"/>
          </a:p>
        </p:txBody>
      </p:sp>
      <p:sp>
        <p:nvSpPr>
          <p:cNvPr id="6" name="Text 3"/>
          <p:cNvSpPr/>
          <p:nvPr/>
        </p:nvSpPr>
        <p:spPr>
          <a:xfrm>
            <a:off x="812800" y="1671241"/>
            <a:ext cx="40151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 of 228 companies (10 countries) citing each problem:</a:t>
            </a:r>
            <a:endParaRPr lang="en-US" sz="1200" dirty="0"/>
          </a:p>
        </p:txBody>
      </p:sp>
      <p:sp>
        <p:nvSpPr>
          <p:cNvPr id="7" name="Shape 4"/>
          <p:cNvSpPr/>
          <p:nvPr/>
        </p:nvSpPr>
        <p:spPr>
          <a:xfrm>
            <a:off x="4827984" y="1676301"/>
            <a:ext cx="203200" cy="203200"/>
          </a:xfrm>
          <a:prstGeom prst="rect">
            <a:avLst/>
          </a:prstGeom>
          <a:solidFill>
            <a:srgbClr val="000000"/>
          </a:solidFill>
          <a:ln/>
        </p:spPr>
        <p:txBody>
          <a:bodyPr/>
          <a:lstStyle/>
          <a:p>
            <a:endParaRPr lang="pt-PT"/>
          </a:p>
        </p:txBody>
      </p:sp>
      <p:sp>
        <p:nvSpPr>
          <p:cNvPr id="8" name="Text 5"/>
          <p:cNvSpPr/>
          <p:nvPr/>
        </p:nvSpPr>
        <p:spPr>
          <a:xfrm>
            <a:off x="5107384" y="1671241"/>
            <a:ext cx="22363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also a cause of project failure</a:t>
            </a:r>
            <a:endParaRPr lang="en-US" sz="1200" dirty="0"/>
          </a:p>
        </p:txBody>
      </p:sp>
      <p:sp>
        <p:nvSpPr>
          <p:cNvPr id="9" name="Shape 6"/>
          <p:cNvSpPr/>
          <p:nvPr/>
        </p:nvSpPr>
        <p:spPr>
          <a:xfrm>
            <a:off x="7343775" y="1676301"/>
            <a:ext cx="203200" cy="203200"/>
          </a:xfrm>
          <a:prstGeom prst="rect">
            <a:avLst/>
          </a:prstGeom>
          <a:solidFill>
            <a:srgbClr val="92D400"/>
          </a:solidFill>
          <a:ln/>
        </p:spPr>
        <p:txBody>
          <a:bodyPr/>
          <a:lstStyle/>
          <a:p>
            <a:endParaRPr lang="pt-PT"/>
          </a:p>
        </p:txBody>
      </p:sp>
      <p:sp>
        <p:nvSpPr>
          <p:cNvPr id="10" name="Text 7"/>
          <p:cNvSpPr/>
          <p:nvPr/>
        </p:nvSpPr>
        <p:spPr>
          <a:xfrm>
            <a:off x="7623175" y="1671241"/>
            <a:ext cx="15351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not linked to failure</a:t>
            </a:r>
            <a:endParaRPr lang="en-US" sz="1200" dirty="0"/>
          </a:p>
        </p:txBody>
      </p:sp>
      <p:sp>
        <p:nvSpPr>
          <p:cNvPr id="11" name="Text 8"/>
          <p:cNvSpPr/>
          <p:nvPr/>
        </p:nvSpPr>
        <p:spPr>
          <a:xfrm>
            <a:off x="812800" y="20229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Incomplete or hidden requirements</a:t>
            </a:r>
            <a:endParaRPr lang="en-US" sz="1300" dirty="0"/>
          </a:p>
        </p:txBody>
      </p:sp>
      <p:sp>
        <p:nvSpPr>
          <p:cNvPr id="12" name="Shape 9"/>
          <p:cNvSpPr/>
          <p:nvPr/>
        </p:nvSpPr>
        <p:spPr>
          <a:xfrm>
            <a:off x="4470400" y="2011561"/>
            <a:ext cx="2063750" cy="254000"/>
          </a:xfrm>
          <a:prstGeom prst="rect">
            <a:avLst/>
          </a:prstGeom>
          <a:solidFill>
            <a:srgbClr val="000000"/>
          </a:solidFill>
          <a:ln/>
        </p:spPr>
        <p:txBody>
          <a:bodyPr/>
          <a:lstStyle/>
          <a:p>
            <a:endParaRPr lang="pt-PT"/>
          </a:p>
        </p:txBody>
      </p:sp>
      <p:sp>
        <p:nvSpPr>
          <p:cNvPr id="13" name="Shape 10"/>
          <p:cNvSpPr/>
          <p:nvPr/>
        </p:nvSpPr>
        <p:spPr>
          <a:xfrm>
            <a:off x="6534150" y="2011561"/>
            <a:ext cx="3155950" cy="254000"/>
          </a:xfrm>
          <a:prstGeom prst="rect">
            <a:avLst/>
          </a:prstGeom>
          <a:solidFill>
            <a:srgbClr val="92D400"/>
          </a:solidFill>
          <a:ln/>
        </p:spPr>
        <p:txBody>
          <a:bodyPr/>
          <a:lstStyle/>
          <a:p>
            <a:endParaRPr lang="pt-PT"/>
          </a:p>
        </p:txBody>
      </p:sp>
      <p:sp>
        <p:nvSpPr>
          <p:cNvPr id="14" name="Text 11"/>
          <p:cNvSpPr/>
          <p:nvPr/>
        </p:nvSpPr>
        <p:spPr>
          <a:xfrm>
            <a:off x="10083800" y="20229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48%</a:t>
            </a:r>
            <a:r>
              <a:rPr lang="en-US" sz="1300" dirty="0">
                <a:solidFill>
                  <a:srgbClr val="000000"/>
                </a:solidFill>
                <a:latin typeface="Arial" pitchFamily="34" charset="0"/>
                <a:ea typeface="Arial" pitchFamily="34" charset="-122"/>
                <a:cs typeface="Arial" pitchFamily="34" charset="-120"/>
              </a:rPr>
              <a:t> (19%)</a:t>
            </a:r>
            <a:endParaRPr lang="en-US" sz="1300" dirty="0"/>
          </a:p>
        </p:txBody>
      </p:sp>
      <p:sp>
        <p:nvSpPr>
          <p:cNvPr id="15" name="Text 12"/>
          <p:cNvSpPr/>
          <p:nvPr/>
        </p:nvSpPr>
        <p:spPr>
          <a:xfrm>
            <a:off x="812800" y="23404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Team–customer communication flaws</a:t>
            </a:r>
            <a:endParaRPr lang="en-US" sz="1300" dirty="0"/>
          </a:p>
        </p:txBody>
      </p:sp>
      <p:sp>
        <p:nvSpPr>
          <p:cNvPr id="16" name="Shape 13"/>
          <p:cNvSpPr/>
          <p:nvPr/>
        </p:nvSpPr>
        <p:spPr>
          <a:xfrm>
            <a:off x="4470400" y="2329061"/>
            <a:ext cx="2152650" cy="254000"/>
          </a:xfrm>
          <a:prstGeom prst="rect">
            <a:avLst/>
          </a:prstGeom>
          <a:solidFill>
            <a:srgbClr val="000000"/>
          </a:solidFill>
          <a:ln/>
        </p:spPr>
        <p:txBody>
          <a:bodyPr/>
          <a:lstStyle/>
          <a:p>
            <a:endParaRPr lang="pt-PT"/>
          </a:p>
        </p:txBody>
      </p:sp>
      <p:sp>
        <p:nvSpPr>
          <p:cNvPr id="17" name="Shape 14"/>
          <p:cNvSpPr/>
          <p:nvPr/>
        </p:nvSpPr>
        <p:spPr>
          <a:xfrm>
            <a:off x="6623050" y="2329061"/>
            <a:ext cx="2305050" cy="254000"/>
          </a:xfrm>
          <a:prstGeom prst="rect">
            <a:avLst/>
          </a:prstGeom>
          <a:solidFill>
            <a:srgbClr val="92D400"/>
          </a:solidFill>
          <a:ln/>
        </p:spPr>
        <p:txBody>
          <a:bodyPr/>
          <a:lstStyle/>
          <a:p>
            <a:endParaRPr lang="pt-PT"/>
          </a:p>
        </p:txBody>
      </p:sp>
      <p:sp>
        <p:nvSpPr>
          <p:cNvPr id="18" name="Text 15"/>
          <p:cNvSpPr/>
          <p:nvPr/>
        </p:nvSpPr>
        <p:spPr>
          <a:xfrm>
            <a:off x="10083800" y="23404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41%</a:t>
            </a:r>
            <a:r>
              <a:rPr lang="en-US" sz="1300" dirty="0">
                <a:solidFill>
                  <a:srgbClr val="000000"/>
                </a:solidFill>
                <a:latin typeface="Arial" pitchFamily="34" charset="0"/>
                <a:ea typeface="Arial" pitchFamily="34" charset="-122"/>
                <a:cs typeface="Arial" pitchFamily="34" charset="-120"/>
              </a:rPr>
              <a:t> (20%)</a:t>
            </a:r>
            <a:endParaRPr lang="en-US" sz="1300" dirty="0"/>
          </a:p>
        </p:txBody>
      </p:sp>
      <p:sp>
        <p:nvSpPr>
          <p:cNvPr id="19" name="Text 16"/>
          <p:cNvSpPr/>
          <p:nvPr/>
        </p:nvSpPr>
        <p:spPr>
          <a:xfrm>
            <a:off x="812800" y="26579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Moving targets</a:t>
            </a:r>
            <a:endParaRPr lang="en-US" sz="1300" dirty="0"/>
          </a:p>
        </p:txBody>
      </p:sp>
      <p:sp>
        <p:nvSpPr>
          <p:cNvPr id="20" name="Shape 17"/>
          <p:cNvSpPr/>
          <p:nvPr/>
        </p:nvSpPr>
        <p:spPr>
          <a:xfrm>
            <a:off x="4470400" y="2646561"/>
            <a:ext cx="1866900" cy="254000"/>
          </a:xfrm>
          <a:prstGeom prst="rect">
            <a:avLst/>
          </a:prstGeom>
          <a:solidFill>
            <a:srgbClr val="000000"/>
          </a:solidFill>
          <a:ln/>
        </p:spPr>
        <p:txBody>
          <a:bodyPr/>
          <a:lstStyle/>
          <a:p>
            <a:endParaRPr lang="pt-PT"/>
          </a:p>
        </p:txBody>
      </p:sp>
      <p:sp>
        <p:nvSpPr>
          <p:cNvPr id="21" name="Shape 18"/>
          <p:cNvSpPr/>
          <p:nvPr/>
        </p:nvSpPr>
        <p:spPr>
          <a:xfrm>
            <a:off x="6337300" y="2646561"/>
            <a:ext cx="1771650" cy="254000"/>
          </a:xfrm>
          <a:prstGeom prst="rect">
            <a:avLst/>
          </a:prstGeom>
          <a:solidFill>
            <a:srgbClr val="92D400"/>
          </a:solidFill>
          <a:ln/>
        </p:spPr>
        <p:txBody>
          <a:bodyPr/>
          <a:lstStyle/>
          <a:p>
            <a:endParaRPr lang="pt-PT"/>
          </a:p>
        </p:txBody>
      </p:sp>
      <p:sp>
        <p:nvSpPr>
          <p:cNvPr id="22" name="Text 19"/>
          <p:cNvSpPr/>
          <p:nvPr/>
        </p:nvSpPr>
        <p:spPr>
          <a:xfrm>
            <a:off x="10083800" y="26579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33%</a:t>
            </a:r>
            <a:r>
              <a:rPr lang="en-US" sz="1300" dirty="0">
                <a:solidFill>
                  <a:srgbClr val="000000"/>
                </a:solidFill>
                <a:latin typeface="Arial" pitchFamily="34" charset="0"/>
                <a:ea typeface="Arial" pitchFamily="34" charset="-122"/>
                <a:cs typeface="Arial" pitchFamily="34" charset="-120"/>
              </a:rPr>
              <a:t> (17%)</a:t>
            </a:r>
            <a:endParaRPr lang="en-US" sz="1300" dirty="0"/>
          </a:p>
        </p:txBody>
      </p:sp>
      <p:sp>
        <p:nvSpPr>
          <p:cNvPr id="23" name="Text 20"/>
          <p:cNvSpPr/>
          <p:nvPr/>
        </p:nvSpPr>
        <p:spPr>
          <a:xfrm>
            <a:off x="812800" y="29754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Underspecified requirements</a:t>
            </a:r>
            <a:endParaRPr lang="en-US" sz="1300" dirty="0"/>
          </a:p>
        </p:txBody>
      </p:sp>
      <p:sp>
        <p:nvSpPr>
          <p:cNvPr id="24" name="Shape 21"/>
          <p:cNvSpPr/>
          <p:nvPr/>
        </p:nvSpPr>
        <p:spPr>
          <a:xfrm>
            <a:off x="4470400" y="2964061"/>
            <a:ext cx="1346200" cy="254000"/>
          </a:xfrm>
          <a:prstGeom prst="rect">
            <a:avLst/>
          </a:prstGeom>
          <a:solidFill>
            <a:srgbClr val="000000"/>
          </a:solidFill>
          <a:ln/>
        </p:spPr>
        <p:txBody>
          <a:bodyPr/>
          <a:lstStyle/>
          <a:p>
            <a:endParaRPr lang="pt-PT"/>
          </a:p>
        </p:txBody>
      </p:sp>
      <p:sp>
        <p:nvSpPr>
          <p:cNvPr id="25" name="Shape 22"/>
          <p:cNvSpPr/>
          <p:nvPr/>
        </p:nvSpPr>
        <p:spPr>
          <a:xfrm>
            <a:off x="5816600" y="2964061"/>
            <a:ext cx="2292350" cy="254000"/>
          </a:xfrm>
          <a:prstGeom prst="rect">
            <a:avLst/>
          </a:prstGeom>
          <a:solidFill>
            <a:srgbClr val="92D400"/>
          </a:solidFill>
          <a:ln/>
        </p:spPr>
        <p:txBody>
          <a:bodyPr/>
          <a:lstStyle/>
          <a:p>
            <a:endParaRPr lang="pt-PT"/>
          </a:p>
        </p:txBody>
      </p:sp>
      <p:sp>
        <p:nvSpPr>
          <p:cNvPr id="26" name="Text 23"/>
          <p:cNvSpPr/>
          <p:nvPr/>
        </p:nvSpPr>
        <p:spPr>
          <a:xfrm>
            <a:off x="10083800" y="29754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33%</a:t>
            </a:r>
            <a:r>
              <a:rPr lang="en-US" sz="1300" dirty="0">
                <a:solidFill>
                  <a:srgbClr val="000000"/>
                </a:solidFill>
                <a:latin typeface="Arial" pitchFamily="34" charset="0"/>
                <a:ea typeface="Arial" pitchFamily="34" charset="-122"/>
                <a:cs typeface="Arial" pitchFamily="34" charset="-120"/>
              </a:rPr>
              <a:t> (12%)</a:t>
            </a:r>
            <a:endParaRPr lang="en-US" sz="1300" dirty="0"/>
          </a:p>
        </p:txBody>
      </p:sp>
      <p:sp>
        <p:nvSpPr>
          <p:cNvPr id="27" name="Text 24"/>
          <p:cNvSpPr/>
          <p:nvPr/>
        </p:nvSpPr>
        <p:spPr>
          <a:xfrm>
            <a:off x="812800" y="32929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Time boxing / not enough time</a:t>
            </a:r>
            <a:endParaRPr lang="en-US" sz="1300" dirty="0"/>
          </a:p>
        </p:txBody>
      </p:sp>
      <p:sp>
        <p:nvSpPr>
          <p:cNvPr id="28" name="Shape 25"/>
          <p:cNvSpPr/>
          <p:nvPr/>
        </p:nvSpPr>
        <p:spPr>
          <a:xfrm>
            <a:off x="4470400" y="3281561"/>
            <a:ext cx="1149350" cy="254000"/>
          </a:xfrm>
          <a:prstGeom prst="rect">
            <a:avLst/>
          </a:prstGeom>
          <a:solidFill>
            <a:srgbClr val="000000"/>
          </a:solidFill>
          <a:ln/>
        </p:spPr>
        <p:txBody>
          <a:bodyPr/>
          <a:lstStyle/>
          <a:p>
            <a:endParaRPr lang="pt-PT"/>
          </a:p>
        </p:txBody>
      </p:sp>
      <p:sp>
        <p:nvSpPr>
          <p:cNvPr id="29" name="Shape 26"/>
          <p:cNvSpPr/>
          <p:nvPr/>
        </p:nvSpPr>
        <p:spPr>
          <a:xfrm>
            <a:off x="5619750" y="3281561"/>
            <a:ext cx="2305050" cy="254000"/>
          </a:xfrm>
          <a:prstGeom prst="rect">
            <a:avLst/>
          </a:prstGeom>
          <a:solidFill>
            <a:srgbClr val="92D400"/>
          </a:solidFill>
          <a:ln/>
        </p:spPr>
        <p:txBody>
          <a:bodyPr/>
          <a:lstStyle/>
          <a:p>
            <a:endParaRPr lang="pt-PT"/>
          </a:p>
        </p:txBody>
      </p:sp>
      <p:sp>
        <p:nvSpPr>
          <p:cNvPr id="30" name="Text 27"/>
          <p:cNvSpPr/>
          <p:nvPr/>
        </p:nvSpPr>
        <p:spPr>
          <a:xfrm>
            <a:off x="10083800" y="32929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32%</a:t>
            </a:r>
            <a:r>
              <a:rPr lang="en-US" sz="1300" dirty="0">
                <a:solidFill>
                  <a:srgbClr val="000000"/>
                </a:solidFill>
                <a:latin typeface="Arial" pitchFamily="34" charset="0"/>
                <a:ea typeface="Arial" pitchFamily="34" charset="-122"/>
                <a:cs typeface="Arial" pitchFamily="34" charset="-120"/>
              </a:rPr>
              <a:t> (11%)</a:t>
            </a:r>
            <a:endParaRPr lang="en-US" sz="1300" dirty="0"/>
          </a:p>
        </p:txBody>
      </p:sp>
      <p:sp>
        <p:nvSpPr>
          <p:cNvPr id="31" name="Text 28"/>
          <p:cNvSpPr/>
          <p:nvPr/>
        </p:nvSpPr>
        <p:spPr>
          <a:xfrm>
            <a:off x="812800" y="3610471"/>
            <a:ext cx="36103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Communication flaws in the team</a:t>
            </a:r>
            <a:endParaRPr lang="en-US" sz="1300" dirty="0"/>
          </a:p>
        </p:txBody>
      </p:sp>
      <p:sp>
        <p:nvSpPr>
          <p:cNvPr id="32" name="Shape 29"/>
          <p:cNvSpPr/>
          <p:nvPr/>
        </p:nvSpPr>
        <p:spPr>
          <a:xfrm>
            <a:off x="4470400" y="3599061"/>
            <a:ext cx="1200150" cy="254000"/>
          </a:xfrm>
          <a:prstGeom prst="rect">
            <a:avLst/>
          </a:prstGeom>
          <a:solidFill>
            <a:srgbClr val="000000"/>
          </a:solidFill>
          <a:ln/>
        </p:spPr>
        <p:txBody>
          <a:bodyPr/>
          <a:lstStyle/>
          <a:p>
            <a:endParaRPr lang="pt-PT"/>
          </a:p>
        </p:txBody>
      </p:sp>
      <p:sp>
        <p:nvSpPr>
          <p:cNvPr id="33" name="Shape 30"/>
          <p:cNvSpPr/>
          <p:nvPr/>
        </p:nvSpPr>
        <p:spPr>
          <a:xfrm>
            <a:off x="5670550" y="3599061"/>
            <a:ext cx="1771650" cy="254000"/>
          </a:xfrm>
          <a:prstGeom prst="rect">
            <a:avLst/>
          </a:prstGeom>
          <a:solidFill>
            <a:srgbClr val="92D400"/>
          </a:solidFill>
          <a:ln/>
        </p:spPr>
        <p:txBody>
          <a:bodyPr/>
          <a:lstStyle/>
          <a:p>
            <a:endParaRPr lang="pt-PT"/>
          </a:p>
        </p:txBody>
      </p:sp>
      <p:sp>
        <p:nvSpPr>
          <p:cNvPr id="34" name="Text 31"/>
          <p:cNvSpPr/>
          <p:nvPr/>
        </p:nvSpPr>
        <p:spPr>
          <a:xfrm>
            <a:off x="10083800" y="36104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27%</a:t>
            </a:r>
            <a:r>
              <a:rPr lang="en-US" sz="1300" dirty="0">
                <a:solidFill>
                  <a:srgbClr val="000000"/>
                </a:solidFill>
                <a:latin typeface="Arial" pitchFamily="34" charset="0"/>
                <a:ea typeface="Arial" pitchFamily="34" charset="-122"/>
                <a:cs typeface="Arial" pitchFamily="34" charset="-120"/>
              </a:rPr>
              <a:t> (11%)</a:t>
            </a:r>
            <a:endParaRPr lang="en-US" sz="1300" dirty="0"/>
          </a:p>
        </p:txBody>
      </p:sp>
      <p:sp>
        <p:nvSpPr>
          <p:cNvPr id="35" name="Shape 32"/>
          <p:cNvSpPr/>
          <p:nvPr/>
        </p:nvSpPr>
        <p:spPr>
          <a:xfrm>
            <a:off x="812800" y="3980061"/>
            <a:ext cx="10566400" cy="1409700"/>
          </a:xfrm>
          <a:prstGeom prst="rect">
            <a:avLst/>
          </a:prstGeom>
          <a:solidFill>
            <a:srgbClr val="DBEFC1"/>
          </a:solidFill>
          <a:ln/>
        </p:spPr>
        <p:txBody>
          <a:bodyPr/>
          <a:lstStyle/>
          <a:p>
            <a:endParaRPr lang="pt-PT"/>
          </a:p>
        </p:txBody>
      </p:sp>
      <p:sp>
        <p:nvSpPr>
          <p:cNvPr id="36" name="Text 33"/>
          <p:cNvSpPr/>
          <p:nvPr/>
        </p:nvSpPr>
        <p:spPr>
          <a:xfrm>
            <a:off x="990600" y="4218583"/>
            <a:ext cx="6252718"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00000"/>
                </a:solidFill>
                <a:latin typeface="Arial" pitchFamily="34" charset="0"/>
                <a:ea typeface="Arial" pitchFamily="34" charset="-122"/>
                <a:cs typeface="Arial" pitchFamily="34" charset="-120"/>
              </a:rPr>
              <a:t>Cost of late fixes:</a:t>
            </a:r>
            <a:r>
              <a:rPr lang="en-US" sz="1300" dirty="0">
                <a:solidFill>
                  <a:srgbClr val="000000"/>
                </a:solidFill>
                <a:latin typeface="Arial" pitchFamily="34" charset="0"/>
                <a:ea typeface="Arial" pitchFamily="34" charset="-122"/>
                <a:cs typeface="Arial" pitchFamily="34" charset="-120"/>
              </a:rPr>
              <a:t> fixing a problem after delivery is often about 100 times more expensive than fixing it during requirements and design; closer to 5:1 for small, non-critical systems.</a:t>
            </a:r>
            <a:endParaRPr lang="en-US" sz="1300" dirty="0"/>
          </a:p>
        </p:txBody>
      </p:sp>
      <p:sp>
        <p:nvSpPr>
          <p:cNvPr id="37" name="Text 34"/>
          <p:cNvSpPr/>
          <p:nvPr/>
        </p:nvSpPr>
        <p:spPr>
          <a:xfrm>
            <a:off x="990600" y="4937919"/>
            <a:ext cx="62527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Boehm &amp; Basili (2001), IEEE Computer 34(1). Curve is illustrative.</a:t>
            </a:r>
            <a:endParaRPr lang="en-US" sz="1200" dirty="0"/>
          </a:p>
        </p:txBody>
      </p:sp>
      <p:pic>
        <p:nvPicPr>
          <p:cNvPr id="38" name="Image 1" descr="Illustrative curve: relative cost of fixing a defect rises steeply from 1x during requirements to about 100x after delivery"/>
          <p:cNvPicPr>
            <a:picLocks noChangeAspect="1"/>
          </p:cNvPicPr>
          <p:nvPr/>
        </p:nvPicPr>
        <p:blipFill>
          <a:blip r:embed="rId4"/>
          <a:srcRect/>
          <a:stretch/>
        </p:blipFill>
        <p:spPr>
          <a:xfrm>
            <a:off x="7264400" y="4081661"/>
            <a:ext cx="3937000" cy="952500"/>
          </a:xfrm>
          <a:prstGeom prst="rect">
            <a:avLst/>
          </a:prstGeom>
        </p:spPr>
      </p:pic>
      <p:sp>
        <p:nvSpPr>
          <p:cNvPr id="39" name="Text 35"/>
          <p:cNvSpPr/>
          <p:nvPr/>
        </p:nvSpPr>
        <p:spPr>
          <a:xfrm>
            <a:off x="7239000" y="503416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00000"/>
                </a:solidFill>
                <a:latin typeface="Arial" pitchFamily="34" charset="0"/>
                <a:ea typeface="Arial" pitchFamily="34" charset="-122"/>
                <a:cs typeface="Arial" pitchFamily="34" charset="-120"/>
              </a:rPr>
              <a:t>Req.</a:t>
            </a:r>
            <a:endParaRPr lang="en-US" sz="1200" dirty="0"/>
          </a:p>
        </p:txBody>
      </p:sp>
      <p:sp>
        <p:nvSpPr>
          <p:cNvPr id="40" name="Text 36"/>
          <p:cNvSpPr/>
          <p:nvPr/>
        </p:nvSpPr>
        <p:spPr>
          <a:xfrm>
            <a:off x="8026400" y="503416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00000"/>
                </a:solidFill>
                <a:latin typeface="Arial" pitchFamily="34" charset="0"/>
                <a:ea typeface="Arial" pitchFamily="34" charset="-122"/>
                <a:cs typeface="Arial" pitchFamily="34" charset="-120"/>
              </a:rPr>
              <a:t>Design</a:t>
            </a:r>
            <a:endParaRPr lang="en-US" sz="1200" dirty="0"/>
          </a:p>
        </p:txBody>
      </p:sp>
      <p:sp>
        <p:nvSpPr>
          <p:cNvPr id="41" name="Text 37"/>
          <p:cNvSpPr/>
          <p:nvPr/>
        </p:nvSpPr>
        <p:spPr>
          <a:xfrm>
            <a:off x="8813800" y="503416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00000"/>
                </a:solidFill>
                <a:latin typeface="Arial" pitchFamily="34" charset="0"/>
                <a:ea typeface="Arial" pitchFamily="34" charset="-122"/>
                <a:cs typeface="Arial" pitchFamily="34" charset="-120"/>
              </a:rPr>
              <a:t>Code</a:t>
            </a:r>
            <a:endParaRPr lang="en-US" sz="1200" dirty="0"/>
          </a:p>
        </p:txBody>
      </p:sp>
      <p:sp>
        <p:nvSpPr>
          <p:cNvPr id="42" name="Text 38"/>
          <p:cNvSpPr/>
          <p:nvPr/>
        </p:nvSpPr>
        <p:spPr>
          <a:xfrm>
            <a:off x="9601200" y="503416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00000"/>
                </a:solidFill>
                <a:latin typeface="Arial" pitchFamily="34" charset="0"/>
                <a:ea typeface="Arial" pitchFamily="34" charset="-122"/>
                <a:cs typeface="Arial" pitchFamily="34" charset="-120"/>
              </a:rPr>
              <a:t>Test</a:t>
            </a:r>
            <a:endParaRPr lang="en-US" sz="1200" dirty="0"/>
          </a:p>
        </p:txBody>
      </p:sp>
      <p:sp>
        <p:nvSpPr>
          <p:cNvPr id="43" name="Text 39"/>
          <p:cNvSpPr/>
          <p:nvPr/>
        </p:nvSpPr>
        <p:spPr>
          <a:xfrm>
            <a:off x="10388600" y="5034161"/>
            <a:ext cx="8382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00000"/>
                </a:solidFill>
                <a:latin typeface="Arial" pitchFamily="34" charset="0"/>
                <a:ea typeface="Arial" pitchFamily="34" charset="-122"/>
                <a:cs typeface="Arial" pitchFamily="34" charset="-120"/>
              </a:rPr>
              <a:t>Operation</a:t>
            </a:r>
            <a:endParaRPr lang="en-US" sz="1200" dirty="0"/>
          </a:p>
        </p:txBody>
      </p:sp>
      <p:sp>
        <p:nvSpPr>
          <p:cNvPr id="44" name="Text 40"/>
          <p:cNvSpPr/>
          <p:nvPr/>
        </p:nvSpPr>
        <p:spPr>
          <a:xfrm>
            <a:off x="7797800" y="4742061"/>
            <a:ext cx="558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1×</a:t>
            </a:r>
            <a:endParaRPr lang="en-US" sz="1200" dirty="0"/>
          </a:p>
        </p:txBody>
      </p:sp>
      <p:sp>
        <p:nvSpPr>
          <p:cNvPr id="45" name="Text 41"/>
          <p:cNvSpPr/>
          <p:nvPr/>
        </p:nvSpPr>
        <p:spPr>
          <a:xfrm>
            <a:off x="8798560" y="4081661"/>
            <a:ext cx="183134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000000"/>
                </a:solidFill>
                <a:latin typeface="Arial" pitchFamily="34" charset="0"/>
                <a:ea typeface="Arial" pitchFamily="34" charset="-122"/>
                <a:cs typeface="Arial" pitchFamily="34" charset="-120"/>
              </a:rPr>
              <a:t>~100× after delivery</a:t>
            </a:r>
            <a:endParaRPr lang="en-US" sz="1200" dirty="0"/>
          </a:p>
        </p:txBody>
      </p:sp>
      <p:sp>
        <p:nvSpPr>
          <p:cNvPr id="46" name="Text 42"/>
          <p:cNvSpPr/>
          <p:nvPr/>
        </p:nvSpPr>
        <p:spPr>
          <a:xfrm>
            <a:off x="812800" y="63398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Sources: NaPiRE, Méndez Fernández et al. (2017), EMSE 22(5), table 9, 2014/15 data · Boehm &amp; Basili (2001)</a:t>
            </a:r>
            <a:endParaRPr lang="en-US" sz="1200" dirty="0"/>
          </a:p>
        </p:txBody>
      </p:sp>
      <p:sp>
        <p:nvSpPr>
          <p:cNvPr id="47" name="Text 4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As a LECI student, why should I care...?</a:t>
            </a:r>
            <a:endParaRPr lang="en-US" sz="2600" dirty="0"/>
          </a:p>
        </p:txBody>
      </p:sp>
      <p:sp>
        <p:nvSpPr>
          <p:cNvPr id="5" name="Shape 2"/>
          <p:cNvSpPr/>
          <p:nvPr/>
        </p:nvSpPr>
        <p:spPr>
          <a:xfrm>
            <a:off x="812800" y="1270000"/>
            <a:ext cx="10566400" cy="915591"/>
          </a:xfrm>
          <a:prstGeom prst="rect">
            <a:avLst/>
          </a:prstGeom>
          <a:solidFill>
            <a:srgbClr val="DBEFC1"/>
          </a:solidFill>
          <a:ln/>
        </p:spPr>
        <p:txBody>
          <a:bodyPr/>
          <a:lstStyle/>
          <a:p>
            <a:endParaRPr lang="pt-PT"/>
          </a:p>
        </p:txBody>
      </p:sp>
      <p:sp>
        <p:nvSpPr>
          <p:cNvPr id="6" name="Shape 3"/>
          <p:cNvSpPr/>
          <p:nvPr/>
        </p:nvSpPr>
        <p:spPr>
          <a:xfrm>
            <a:off x="990600" y="1422995"/>
            <a:ext cx="609600" cy="609600"/>
          </a:xfrm>
          <a:prstGeom prst="rect">
            <a:avLst/>
          </a:prstGeom>
          <a:solidFill>
            <a:srgbClr val="92D400"/>
          </a:solidFill>
          <a:ln/>
        </p:spPr>
        <p:txBody>
          <a:bodyPr/>
          <a:lstStyle/>
          <a:p>
            <a:endParaRPr lang="pt-PT"/>
          </a:p>
        </p:txBody>
      </p:sp>
      <p:pic>
        <p:nvPicPr>
          <p:cNvPr id="7" name="Image 1" descr="Code"/>
          <p:cNvPicPr>
            <a:picLocks noChangeAspect="1"/>
          </p:cNvPicPr>
          <p:nvPr/>
        </p:nvPicPr>
        <p:blipFill>
          <a:blip r:embed="rId4"/>
          <a:srcRect/>
          <a:stretch/>
        </p:blipFill>
        <p:spPr>
          <a:xfrm>
            <a:off x="1104900" y="1537295"/>
            <a:ext cx="381000" cy="381000"/>
          </a:xfrm>
          <a:prstGeom prst="rect">
            <a:avLst/>
          </a:prstGeom>
        </p:spPr>
      </p:pic>
      <p:sp>
        <p:nvSpPr>
          <p:cNvPr id="8" name="Text 4"/>
          <p:cNvSpPr/>
          <p:nvPr/>
        </p:nvSpPr>
        <p:spPr>
          <a:xfrm>
            <a:off x="1803400" y="1371600"/>
            <a:ext cx="96799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Writing code is getting cheap</a:t>
            </a:r>
            <a:endParaRPr lang="en-US" sz="1500" dirty="0"/>
          </a:p>
        </p:txBody>
      </p:sp>
      <p:sp>
        <p:nvSpPr>
          <p:cNvPr id="9" name="Text 5"/>
          <p:cNvSpPr/>
          <p:nvPr/>
        </p:nvSpPr>
        <p:spPr>
          <a:xfrm>
            <a:off x="1803400" y="1638300"/>
            <a:ext cx="96799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00000"/>
                </a:solidFill>
                <a:latin typeface="Arial" pitchFamily="34" charset="0"/>
                <a:ea typeface="Arial" pitchFamily="34" charset="-122"/>
                <a:cs typeface="Arial" pitchFamily="34" charset="-120"/>
              </a:rPr>
              <a:t>With AI assistants, generating code keeps getting faster. The hard part becomes knowing what to build and saying it unambiguously: an agent does what you ask, not what you meant.</a:t>
            </a:r>
            <a:endParaRPr lang="en-US" sz="1300" dirty="0"/>
          </a:p>
        </p:txBody>
      </p:sp>
      <p:sp>
        <p:nvSpPr>
          <p:cNvPr id="10" name="Shape 6"/>
          <p:cNvSpPr/>
          <p:nvPr/>
        </p:nvSpPr>
        <p:spPr>
          <a:xfrm>
            <a:off x="812800" y="2287191"/>
            <a:ext cx="10566400" cy="915591"/>
          </a:xfrm>
          <a:prstGeom prst="rect">
            <a:avLst/>
          </a:prstGeom>
          <a:solidFill>
            <a:srgbClr val="DBEFC1"/>
          </a:solidFill>
          <a:ln/>
        </p:spPr>
        <p:txBody>
          <a:bodyPr/>
          <a:lstStyle/>
          <a:p>
            <a:endParaRPr lang="pt-PT"/>
          </a:p>
        </p:txBody>
      </p:sp>
      <p:sp>
        <p:nvSpPr>
          <p:cNvPr id="11" name="Shape 7"/>
          <p:cNvSpPr/>
          <p:nvPr/>
        </p:nvSpPr>
        <p:spPr>
          <a:xfrm>
            <a:off x="990600" y="2440186"/>
            <a:ext cx="609600" cy="609600"/>
          </a:xfrm>
          <a:prstGeom prst="rect">
            <a:avLst/>
          </a:prstGeom>
          <a:solidFill>
            <a:srgbClr val="92D400"/>
          </a:solidFill>
          <a:ln/>
        </p:spPr>
        <p:txBody>
          <a:bodyPr/>
          <a:lstStyle/>
          <a:p>
            <a:endParaRPr lang="pt-PT"/>
          </a:p>
        </p:txBody>
      </p:sp>
      <p:pic>
        <p:nvPicPr>
          <p:cNvPr id="12" name="Image 2" descr="GraduationCap"/>
          <p:cNvPicPr>
            <a:picLocks noChangeAspect="1"/>
          </p:cNvPicPr>
          <p:nvPr/>
        </p:nvPicPr>
        <p:blipFill>
          <a:blip r:embed="rId5"/>
          <a:srcRect/>
          <a:stretch/>
        </p:blipFill>
        <p:spPr>
          <a:xfrm>
            <a:off x="1104900" y="2554486"/>
            <a:ext cx="381000" cy="381000"/>
          </a:xfrm>
          <a:prstGeom prst="rect">
            <a:avLst/>
          </a:prstGeom>
        </p:spPr>
      </p:pic>
      <p:sp>
        <p:nvSpPr>
          <p:cNvPr id="13" name="Text 8"/>
          <p:cNvSpPr/>
          <p:nvPr/>
        </p:nvSpPr>
        <p:spPr>
          <a:xfrm>
            <a:off x="1803400" y="2388791"/>
            <a:ext cx="96799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This year already: the PECI project</a:t>
            </a:r>
            <a:endParaRPr lang="en-US" sz="1500" dirty="0"/>
          </a:p>
        </p:txBody>
      </p:sp>
      <p:sp>
        <p:nvSpPr>
          <p:cNvPr id="14" name="Text 9"/>
          <p:cNvSpPr/>
          <p:nvPr/>
        </p:nvSpPr>
        <p:spPr>
          <a:xfrm>
            <a:off x="1803400" y="2655491"/>
            <a:ext cx="96799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00000"/>
                </a:solidFill>
                <a:latin typeface="Arial" pitchFamily="34" charset="0"/>
                <a:ea typeface="Arial" pitchFamily="34" charset="-122"/>
                <a:cs typeface="Arial" pitchFamily="34" charset="-120"/>
              </a:rPr>
              <a:t>In this course's project and in your capstone, the “client” arrives with a vague problem. You are the one who turns “I want an app” into verifiable work.</a:t>
            </a:r>
            <a:endParaRPr lang="en-US" sz="1300" dirty="0"/>
          </a:p>
        </p:txBody>
      </p:sp>
      <p:sp>
        <p:nvSpPr>
          <p:cNvPr id="15" name="Shape 10"/>
          <p:cNvSpPr/>
          <p:nvPr/>
        </p:nvSpPr>
        <p:spPr>
          <a:xfrm>
            <a:off x="812800" y="3304381"/>
            <a:ext cx="10566400" cy="915591"/>
          </a:xfrm>
          <a:prstGeom prst="rect">
            <a:avLst/>
          </a:prstGeom>
          <a:solidFill>
            <a:srgbClr val="DBEFC1"/>
          </a:solidFill>
          <a:ln/>
        </p:spPr>
        <p:txBody>
          <a:bodyPr/>
          <a:lstStyle/>
          <a:p>
            <a:endParaRPr lang="pt-PT"/>
          </a:p>
        </p:txBody>
      </p:sp>
      <p:sp>
        <p:nvSpPr>
          <p:cNvPr id="16" name="Shape 11"/>
          <p:cNvSpPr/>
          <p:nvPr/>
        </p:nvSpPr>
        <p:spPr>
          <a:xfrm>
            <a:off x="990600" y="3457377"/>
            <a:ext cx="609600" cy="609600"/>
          </a:xfrm>
          <a:prstGeom prst="rect">
            <a:avLst/>
          </a:prstGeom>
          <a:solidFill>
            <a:srgbClr val="92D400"/>
          </a:solidFill>
          <a:ln/>
        </p:spPr>
        <p:txBody>
          <a:bodyPr/>
          <a:lstStyle/>
          <a:p>
            <a:endParaRPr lang="pt-PT"/>
          </a:p>
        </p:txBody>
      </p:sp>
      <p:pic>
        <p:nvPicPr>
          <p:cNvPr id="17" name="Image 3" descr="Verified"/>
          <p:cNvPicPr>
            <a:picLocks noChangeAspect="1"/>
          </p:cNvPicPr>
          <p:nvPr/>
        </p:nvPicPr>
        <p:blipFill>
          <a:blip r:embed="rId6"/>
          <a:srcRect/>
          <a:stretch/>
        </p:blipFill>
        <p:spPr>
          <a:xfrm>
            <a:off x="1104900" y="3571677"/>
            <a:ext cx="381000" cy="381000"/>
          </a:xfrm>
          <a:prstGeom prst="rect">
            <a:avLst/>
          </a:prstGeom>
        </p:spPr>
      </p:pic>
      <p:sp>
        <p:nvSpPr>
          <p:cNvPr id="18" name="Text 12"/>
          <p:cNvSpPr/>
          <p:nvPr/>
        </p:nvSpPr>
        <p:spPr>
          <a:xfrm>
            <a:off x="1803400" y="3405981"/>
            <a:ext cx="96799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Built right ≠ the right thing</a:t>
            </a:r>
            <a:endParaRPr lang="en-US" sz="1500" dirty="0"/>
          </a:p>
        </p:txBody>
      </p:sp>
      <p:sp>
        <p:nvSpPr>
          <p:cNvPr id="19" name="Text 13"/>
          <p:cNvSpPr/>
          <p:nvPr/>
        </p:nvSpPr>
        <p:spPr>
          <a:xfrm>
            <a:off x="1803400" y="3672681"/>
            <a:ext cx="96799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00000"/>
                </a:solidFill>
                <a:latin typeface="Arial" pitchFamily="34" charset="0"/>
                <a:ea typeface="Arial" pitchFamily="34" charset="-122"/>
                <a:cs typeface="Arial" pitchFamily="34" charset="-120"/>
              </a:rPr>
              <a:t>Tests and good practices ensure the system is built right (verification). Only requirements ensure it is the right system (validation).</a:t>
            </a:r>
            <a:endParaRPr lang="en-US" sz="1300" dirty="0"/>
          </a:p>
        </p:txBody>
      </p:sp>
      <p:sp>
        <p:nvSpPr>
          <p:cNvPr id="20" name="Shape 14"/>
          <p:cNvSpPr/>
          <p:nvPr/>
        </p:nvSpPr>
        <p:spPr>
          <a:xfrm>
            <a:off x="812800" y="4321572"/>
            <a:ext cx="10566400" cy="915591"/>
          </a:xfrm>
          <a:prstGeom prst="rect">
            <a:avLst/>
          </a:prstGeom>
          <a:solidFill>
            <a:srgbClr val="DBEFC1"/>
          </a:solidFill>
          <a:ln/>
        </p:spPr>
        <p:txBody>
          <a:bodyPr/>
          <a:lstStyle/>
          <a:p>
            <a:endParaRPr lang="pt-PT"/>
          </a:p>
        </p:txBody>
      </p:sp>
      <p:sp>
        <p:nvSpPr>
          <p:cNvPr id="21" name="Shape 15"/>
          <p:cNvSpPr/>
          <p:nvPr/>
        </p:nvSpPr>
        <p:spPr>
          <a:xfrm>
            <a:off x="990600" y="4474567"/>
            <a:ext cx="609600" cy="609600"/>
          </a:xfrm>
          <a:prstGeom prst="rect">
            <a:avLst/>
          </a:prstGeom>
          <a:solidFill>
            <a:srgbClr val="92D400"/>
          </a:solidFill>
          <a:ln/>
        </p:spPr>
        <p:txBody>
          <a:bodyPr/>
          <a:lstStyle/>
          <a:p>
            <a:endParaRPr lang="pt-PT"/>
          </a:p>
        </p:txBody>
      </p:sp>
      <p:pic>
        <p:nvPicPr>
          <p:cNvPr id="22" name="Image 4" descr="Chat"/>
          <p:cNvPicPr>
            <a:picLocks noChangeAspect="1"/>
          </p:cNvPicPr>
          <p:nvPr/>
        </p:nvPicPr>
        <p:blipFill>
          <a:blip r:embed="rId7"/>
          <a:srcRect/>
          <a:stretch/>
        </p:blipFill>
        <p:spPr>
          <a:xfrm>
            <a:off x="1104900" y="4588867"/>
            <a:ext cx="381000" cy="381000"/>
          </a:xfrm>
          <a:prstGeom prst="rect">
            <a:avLst/>
          </a:prstGeom>
        </p:spPr>
      </p:pic>
      <p:sp>
        <p:nvSpPr>
          <p:cNvPr id="23" name="Text 16"/>
          <p:cNvSpPr/>
          <p:nvPr/>
        </p:nvSpPr>
        <p:spPr>
          <a:xfrm>
            <a:off x="1803400" y="4423172"/>
            <a:ext cx="96799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A skill that sets you apart</a:t>
            </a:r>
            <a:endParaRPr lang="en-US" sz="1500" dirty="0"/>
          </a:p>
        </p:txBody>
      </p:sp>
      <p:sp>
        <p:nvSpPr>
          <p:cNvPr id="24" name="Text 17"/>
          <p:cNvSpPr/>
          <p:nvPr/>
        </p:nvSpPr>
        <p:spPr>
          <a:xfrm>
            <a:off x="1803400" y="4689872"/>
            <a:ext cx="96799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00000"/>
                </a:solidFill>
                <a:latin typeface="Arial" pitchFamily="34" charset="0"/>
                <a:ea typeface="Arial" pitchFamily="34" charset="-122"/>
                <a:cs typeface="Arial" pitchFamily="34" charset="-120"/>
              </a:rPr>
              <a:t>Tech leads, product engineers and consultants are valued for the questions they ask: clarifying, negotiating scope and saying “no” with arguments.</a:t>
            </a:r>
            <a:endParaRPr lang="en-US" sz="1300" dirty="0"/>
          </a:p>
        </p:txBody>
      </p:sp>
      <p:sp>
        <p:nvSpPr>
          <p:cNvPr id="25" name="Text 18"/>
          <p:cNvSpPr/>
          <p:nvPr/>
        </p:nvSpPr>
        <p:spPr>
          <a:xfrm>
            <a:off x="812800" y="5641380"/>
            <a:ext cx="1137920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000000"/>
                </a:solidFill>
                <a:latin typeface="Arial" pitchFamily="34" charset="0"/>
                <a:ea typeface="Arial" pitchFamily="34" charset="-122"/>
                <a:cs typeface="Arial" pitchFamily="34" charset="-120"/>
              </a:rPr>
              <a:t>Think for 30 s:</a:t>
            </a:r>
            <a:r>
              <a:rPr lang="en-US" sz="1600" dirty="0">
                <a:solidFill>
                  <a:srgbClr val="000000"/>
                </a:solidFill>
                <a:latin typeface="Arial" pitchFamily="34" charset="0"/>
                <a:ea typeface="Arial" pitchFamily="34" charset="-122"/>
                <a:cs typeface="Arial" pitchFamily="34" charset="-120"/>
              </a:rPr>
              <a:t> in a project of yours that went wrong, was the problem the code… or understanding what was asked?</a:t>
            </a:r>
            <a:endParaRPr lang="en-US" sz="1600" dirty="0"/>
          </a:p>
        </p:txBody>
      </p:sp>
      <p:sp>
        <p:nvSpPr>
          <p:cNvPr id="26" name="Text 19"/>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27" name="Text 20"/>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Types of requirements information</a:t>
            </a:r>
            <a:endParaRPr lang="en-US" sz="2600" dirty="0"/>
          </a:p>
        </p:txBody>
      </p:sp>
      <p:sp>
        <p:nvSpPr>
          <p:cNvPr id="5" name="Text 2"/>
          <p:cNvSpPr/>
          <p:nvPr/>
        </p:nvSpPr>
        <p:spPr>
          <a:xfrm>
            <a:off x="2667000" y="1270000"/>
            <a:ext cx="6477000" cy="1016000"/>
          </a:xfrm>
          <a:prstGeom prst="rect">
            <a:avLst/>
          </a:prstGeom>
          <a:solidFill>
            <a:srgbClr val="DBEFC1"/>
          </a:solidFill>
          <a:ln/>
        </p:spPr>
        <p:txBody>
          <a:bodyPr wrap="square" lIns="127000" tIns="76200" rIns="0" bIns="7620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Vision and scope document</a:t>
            </a:r>
            <a:endParaRPr lang="en-US" sz="1200" dirty="0"/>
          </a:p>
        </p:txBody>
      </p:sp>
      <p:sp>
        <p:nvSpPr>
          <p:cNvPr id="6" name="Text 3"/>
          <p:cNvSpPr/>
          <p:nvPr/>
        </p:nvSpPr>
        <p:spPr>
          <a:xfrm>
            <a:off x="2667000" y="2413000"/>
            <a:ext cx="6477000" cy="1016000"/>
          </a:xfrm>
          <a:prstGeom prst="rect">
            <a:avLst/>
          </a:prstGeom>
          <a:solidFill>
            <a:srgbClr val="DBEFC1"/>
          </a:solidFill>
          <a:ln/>
        </p:spPr>
        <p:txBody>
          <a:bodyPr wrap="square" lIns="127000" tIns="76200" rIns="0" bIns="7620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User requirements document</a:t>
            </a:r>
            <a:endParaRPr lang="en-US" sz="1200" dirty="0"/>
          </a:p>
        </p:txBody>
      </p:sp>
      <p:sp>
        <p:nvSpPr>
          <p:cNvPr id="7" name="Text 4"/>
          <p:cNvSpPr/>
          <p:nvPr/>
        </p:nvSpPr>
        <p:spPr>
          <a:xfrm>
            <a:off x="2667000" y="3556000"/>
            <a:ext cx="6477000" cy="2286000"/>
          </a:xfrm>
          <a:prstGeom prst="rect">
            <a:avLst/>
          </a:prstGeom>
          <a:solidFill>
            <a:srgbClr val="DBEFC1"/>
          </a:solidFill>
          <a:ln/>
        </p:spPr>
        <p:txBody>
          <a:bodyPr wrap="square" lIns="127000" tIns="76200" rIns="0" bIns="7620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Software requirements specification (SRS)</a:t>
            </a:r>
            <a:endParaRPr lang="en-US" sz="1200" dirty="0"/>
          </a:p>
        </p:txBody>
      </p:sp>
      <p:sp>
        <p:nvSpPr>
          <p:cNvPr id="8" name="Shape 5"/>
          <p:cNvSpPr/>
          <p:nvPr/>
        </p:nvSpPr>
        <p:spPr>
          <a:xfrm>
            <a:off x="4445000" y="1460500"/>
            <a:ext cx="2921000" cy="698500"/>
          </a:xfrm>
          <a:prstGeom prst="rect">
            <a:avLst/>
          </a:prstGeom>
          <a:solidFill>
            <a:srgbClr val="92D400"/>
          </a:solidFill>
          <a:ln/>
        </p:spPr>
        <p:txBody>
          <a:bodyPr/>
          <a:lstStyle/>
          <a:p>
            <a:endParaRPr lang="pt-PT"/>
          </a:p>
        </p:txBody>
      </p:sp>
      <p:sp>
        <p:nvSpPr>
          <p:cNvPr id="9" name="Text 6"/>
          <p:cNvSpPr/>
          <p:nvPr/>
        </p:nvSpPr>
        <p:spPr>
          <a:xfrm>
            <a:off x="4597400" y="1565970"/>
            <a:ext cx="269468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Business requirements</a:t>
            </a:r>
            <a:endParaRPr lang="en-US" sz="1400" dirty="0"/>
          </a:p>
        </p:txBody>
      </p:sp>
      <p:sp>
        <p:nvSpPr>
          <p:cNvPr id="10" name="Text 7"/>
          <p:cNvSpPr/>
          <p:nvPr/>
        </p:nvSpPr>
        <p:spPr>
          <a:xfrm>
            <a:off x="4597400" y="1840210"/>
            <a:ext cx="26946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reduce queue waiting time</a:t>
            </a:r>
            <a:endParaRPr lang="en-US" sz="1200" dirty="0"/>
          </a:p>
        </p:txBody>
      </p:sp>
      <p:sp>
        <p:nvSpPr>
          <p:cNvPr id="11" name="Shape 8"/>
          <p:cNvSpPr/>
          <p:nvPr/>
        </p:nvSpPr>
        <p:spPr>
          <a:xfrm>
            <a:off x="4445000" y="2603500"/>
            <a:ext cx="2921000" cy="698500"/>
          </a:xfrm>
          <a:prstGeom prst="rect">
            <a:avLst/>
          </a:prstGeom>
          <a:solidFill>
            <a:srgbClr val="92D400"/>
          </a:solidFill>
          <a:ln/>
        </p:spPr>
        <p:txBody>
          <a:bodyPr/>
          <a:lstStyle/>
          <a:p>
            <a:endParaRPr lang="pt-PT"/>
          </a:p>
        </p:txBody>
      </p:sp>
      <p:sp>
        <p:nvSpPr>
          <p:cNvPr id="12" name="Text 9"/>
          <p:cNvSpPr/>
          <p:nvPr/>
        </p:nvSpPr>
        <p:spPr>
          <a:xfrm>
            <a:off x="4597400" y="2708970"/>
            <a:ext cx="269468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User requirements</a:t>
            </a:r>
            <a:endParaRPr lang="en-US" sz="1400" dirty="0"/>
          </a:p>
        </p:txBody>
      </p:sp>
      <p:sp>
        <p:nvSpPr>
          <p:cNvPr id="13" name="Text 10"/>
          <p:cNvSpPr/>
          <p:nvPr/>
        </p:nvSpPr>
        <p:spPr>
          <a:xfrm>
            <a:off x="4597400" y="2983210"/>
            <a:ext cx="26946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order and pay unaided</a:t>
            </a:r>
            <a:endParaRPr lang="en-US" sz="1200" dirty="0"/>
          </a:p>
        </p:txBody>
      </p:sp>
      <p:sp>
        <p:nvSpPr>
          <p:cNvPr id="14" name="Shape 11"/>
          <p:cNvSpPr/>
          <p:nvPr/>
        </p:nvSpPr>
        <p:spPr>
          <a:xfrm>
            <a:off x="4445000" y="3873500"/>
            <a:ext cx="2921000" cy="698500"/>
          </a:xfrm>
          <a:prstGeom prst="rect">
            <a:avLst/>
          </a:prstGeom>
          <a:solidFill>
            <a:srgbClr val="92D400"/>
          </a:solidFill>
          <a:ln/>
        </p:spPr>
        <p:txBody>
          <a:bodyPr/>
          <a:lstStyle/>
          <a:p>
            <a:endParaRPr lang="pt-PT"/>
          </a:p>
        </p:txBody>
      </p:sp>
      <p:sp>
        <p:nvSpPr>
          <p:cNvPr id="15" name="Text 12"/>
          <p:cNvSpPr/>
          <p:nvPr/>
        </p:nvSpPr>
        <p:spPr>
          <a:xfrm>
            <a:off x="4597400" y="3978970"/>
            <a:ext cx="269468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Functional requirements</a:t>
            </a:r>
            <a:endParaRPr lang="en-US" sz="1400" dirty="0"/>
          </a:p>
        </p:txBody>
      </p:sp>
      <p:sp>
        <p:nvSpPr>
          <p:cNvPr id="16" name="Text 13"/>
          <p:cNvSpPr/>
          <p:nvPr/>
        </p:nvSpPr>
        <p:spPr>
          <a:xfrm>
            <a:off x="4597400" y="4253210"/>
            <a:ext cx="26946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FR5: card or contactless</a:t>
            </a:r>
            <a:endParaRPr lang="en-US" sz="1200" dirty="0"/>
          </a:p>
        </p:txBody>
      </p:sp>
      <p:sp>
        <p:nvSpPr>
          <p:cNvPr id="17" name="Shape 14"/>
          <p:cNvSpPr/>
          <p:nvPr/>
        </p:nvSpPr>
        <p:spPr>
          <a:xfrm>
            <a:off x="2832100" y="5022850"/>
            <a:ext cx="1987550" cy="685800"/>
          </a:xfrm>
          <a:prstGeom prst="rect">
            <a:avLst/>
          </a:prstGeom>
          <a:solidFill>
            <a:srgbClr val="FFFFFF"/>
          </a:solidFill>
          <a:ln w="12700">
            <a:solidFill>
              <a:srgbClr val="000000"/>
            </a:solidFill>
            <a:prstDash val="solid"/>
          </a:ln>
        </p:spPr>
        <p:txBody>
          <a:bodyPr/>
          <a:lstStyle/>
          <a:p>
            <a:endParaRPr lang="pt-PT"/>
          </a:p>
        </p:txBody>
      </p:sp>
      <p:sp>
        <p:nvSpPr>
          <p:cNvPr id="18" name="Text 15"/>
          <p:cNvSpPr/>
          <p:nvPr/>
        </p:nvSpPr>
        <p:spPr>
          <a:xfrm>
            <a:off x="2927350" y="5139730"/>
            <a:ext cx="18509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Quality attributes</a:t>
            </a:r>
            <a:endParaRPr lang="en-US" sz="1200" dirty="0"/>
          </a:p>
        </p:txBody>
      </p:sp>
      <p:sp>
        <p:nvSpPr>
          <p:cNvPr id="19" name="Text 16"/>
          <p:cNvSpPr/>
          <p:nvPr/>
        </p:nvSpPr>
        <p:spPr>
          <a:xfrm>
            <a:off x="2927350" y="5378450"/>
            <a:ext cx="18509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NFR1: menu &lt; 2 s</a:t>
            </a:r>
            <a:endParaRPr lang="en-US" sz="1200" dirty="0"/>
          </a:p>
        </p:txBody>
      </p:sp>
      <p:sp>
        <p:nvSpPr>
          <p:cNvPr id="20" name="Shape 17"/>
          <p:cNvSpPr/>
          <p:nvPr/>
        </p:nvSpPr>
        <p:spPr>
          <a:xfrm>
            <a:off x="4927600" y="5022850"/>
            <a:ext cx="1987550" cy="685800"/>
          </a:xfrm>
          <a:prstGeom prst="rect">
            <a:avLst/>
          </a:prstGeom>
          <a:solidFill>
            <a:srgbClr val="FFFFFF"/>
          </a:solidFill>
          <a:ln w="12700">
            <a:solidFill>
              <a:srgbClr val="000000"/>
            </a:solidFill>
            <a:prstDash val="solid"/>
          </a:ln>
        </p:spPr>
        <p:txBody>
          <a:bodyPr/>
          <a:lstStyle/>
          <a:p>
            <a:endParaRPr lang="pt-PT"/>
          </a:p>
        </p:txBody>
      </p:sp>
      <p:sp>
        <p:nvSpPr>
          <p:cNvPr id="21" name="Text 18"/>
          <p:cNvSpPr/>
          <p:nvPr/>
        </p:nvSpPr>
        <p:spPr>
          <a:xfrm>
            <a:off x="5022850" y="5139730"/>
            <a:ext cx="18509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External interfaces</a:t>
            </a:r>
            <a:endParaRPr lang="en-US" sz="1200" dirty="0"/>
          </a:p>
        </p:txBody>
      </p:sp>
      <p:sp>
        <p:nvSpPr>
          <p:cNvPr id="22" name="Text 19"/>
          <p:cNvSpPr/>
          <p:nvPr/>
        </p:nvSpPr>
        <p:spPr>
          <a:xfrm>
            <a:off x="5022850" y="5378450"/>
            <a:ext cx="18509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FR6: kitchen system</a:t>
            </a:r>
            <a:endParaRPr lang="en-US" sz="1200" dirty="0"/>
          </a:p>
        </p:txBody>
      </p:sp>
      <p:sp>
        <p:nvSpPr>
          <p:cNvPr id="23" name="Shape 20"/>
          <p:cNvSpPr/>
          <p:nvPr/>
        </p:nvSpPr>
        <p:spPr>
          <a:xfrm>
            <a:off x="7023100" y="5022850"/>
            <a:ext cx="1987550" cy="685800"/>
          </a:xfrm>
          <a:prstGeom prst="rect">
            <a:avLst/>
          </a:prstGeom>
          <a:solidFill>
            <a:srgbClr val="FFFFFF"/>
          </a:solidFill>
          <a:ln w="12700">
            <a:solidFill>
              <a:srgbClr val="000000"/>
            </a:solidFill>
            <a:prstDash val="solid"/>
          </a:ln>
        </p:spPr>
        <p:txBody>
          <a:bodyPr/>
          <a:lstStyle/>
          <a:p>
            <a:endParaRPr lang="pt-PT"/>
          </a:p>
        </p:txBody>
      </p:sp>
      <p:sp>
        <p:nvSpPr>
          <p:cNvPr id="24" name="Text 21"/>
          <p:cNvSpPr/>
          <p:nvPr/>
        </p:nvSpPr>
        <p:spPr>
          <a:xfrm>
            <a:off x="7118350" y="5139730"/>
            <a:ext cx="18509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Constraints</a:t>
            </a:r>
            <a:endParaRPr lang="en-US" sz="1200" dirty="0"/>
          </a:p>
        </p:txBody>
      </p:sp>
      <p:sp>
        <p:nvSpPr>
          <p:cNvPr id="25" name="Text 22"/>
          <p:cNvSpPr/>
          <p:nvPr/>
        </p:nvSpPr>
        <p:spPr>
          <a:xfrm>
            <a:off x="7118350" y="5378450"/>
            <a:ext cx="18509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existing terminal</a:t>
            </a:r>
            <a:endParaRPr lang="en-US" sz="1200" dirty="0"/>
          </a:p>
        </p:txBody>
      </p:sp>
      <p:sp>
        <p:nvSpPr>
          <p:cNvPr id="26" name="Shape 23"/>
          <p:cNvSpPr/>
          <p:nvPr/>
        </p:nvSpPr>
        <p:spPr>
          <a:xfrm>
            <a:off x="819150" y="2546350"/>
            <a:ext cx="1638300" cy="812800"/>
          </a:xfrm>
          <a:prstGeom prst="rect">
            <a:avLst/>
          </a:prstGeom>
          <a:solidFill>
            <a:srgbClr val="FFFFFF"/>
          </a:solidFill>
          <a:ln w="12700">
            <a:solidFill>
              <a:srgbClr val="000000"/>
            </a:solidFill>
            <a:prstDash val="solid"/>
          </a:ln>
        </p:spPr>
        <p:txBody>
          <a:bodyPr/>
          <a:lstStyle/>
          <a:p>
            <a:endParaRPr lang="pt-PT"/>
          </a:p>
        </p:txBody>
      </p:sp>
      <p:sp>
        <p:nvSpPr>
          <p:cNvPr id="27" name="Text 24"/>
          <p:cNvSpPr/>
          <p:nvPr/>
        </p:nvSpPr>
        <p:spPr>
          <a:xfrm>
            <a:off x="914400" y="2726730"/>
            <a:ext cx="14986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Business rules</a:t>
            </a:r>
            <a:endParaRPr lang="en-US" sz="1200" dirty="0"/>
          </a:p>
        </p:txBody>
      </p:sp>
      <p:sp>
        <p:nvSpPr>
          <p:cNvPr id="28" name="Text 25"/>
          <p:cNvSpPr/>
          <p:nvPr/>
        </p:nvSpPr>
        <p:spPr>
          <a:xfrm>
            <a:off x="914400" y="2965450"/>
            <a:ext cx="149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BR2: allergens</a:t>
            </a:r>
            <a:endParaRPr lang="en-US" sz="1200" dirty="0"/>
          </a:p>
        </p:txBody>
      </p:sp>
      <p:sp>
        <p:nvSpPr>
          <p:cNvPr id="29" name="Shape 26"/>
          <p:cNvSpPr/>
          <p:nvPr/>
        </p:nvSpPr>
        <p:spPr>
          <a:xfrm>
            <a:off x="9404350" y="3879850"/>
            <a:ext cx="1968500" cy="685800"/>
          </a:xfrm>
          <a:prstGeom prst="rect">
            <a:avLst/>
          </a:prstGeom>
          <a:solidFill>
            <a:srgbClr val="FFFFFF"/>
          </a:solidFill>
          <a:ln w="12700">
            <a:solidFill>
              <a:srgbClr val="000000"/>
            </a:solidFill>
            <a:prstDash val="solid"/>
          </a:ln>
        </p:spPr>
        <p:txBody>
          <a:bodyPr/>
          <a:lstStyle/>
          <a:p>
            <a:endParaRPr lang="pt-PT"/>
          </a:p>
        </p:txBody>
      </p:sp>
      <p:sp>
        <p:nvSpPr>
          <p:cNvPr id="30" name="Text 27"/>
          <p:cNvSpPr/>
          <p:nvPr/>
        </p:nvSpPr>
        <p:spPr>
          <a:xfrm>
            <a:off x="9499600" y="3996730"/>
            <a:ext cx="18313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System requirements</a:t>
            </a:r>
            <a:endParaRPr lang="en-US" sz="1200" dirty="0"/>
          </a:p>
        </p:txBody>
      </p:sp>
      <p:sp>
        <p:nvSpPr>
          <p:cNvPr id="31" name="Text 28"/>
          <p:cNvSpPr/>
          <p:nvPr/>
        </p:nvSpPr>
        <p:spPr>
          <a:xfrm>
            <a:off x="9499600" y="4235450"/>
            <a:ext cx="1831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hardware + software</a:t>
            </a:r>
            <a:endParaRPr lang="en-US" sz="1200" dirty="0"/>
          </a:p>
        </p:txBody>
      </p:sp>
      <p:pic>
        <p:nvPicPr>
          <p:cNvPr id="32" name="Image 1" descr="connector"/>
          <p:cNvPicPr>
            <a:picLocks noChangeAspect="1"/>
          </p:cNvPicPr>
          <p:nvPr/>
        </p:nvPicPr>
        <p:blipFill>
          <a:blip r:embed="rId4"/>
          <a:srcRect/>
          <a:stretch/>
        </p:blipFill>
        <p:spPr>
          <a:xfrm>
            <a:off x="5854700" y="2108200"/>
            <a:ext cx="101600" cy="546100"/>
          </a:xfrm>
          <a:prstGeom prst="rect">
            <a:avLst/>
          </a:prstGeom>
        </p:spPr>
      </p:pic>
      <p:pic>
        <p:nvPicPr>
          <p:cNvPr id="33" name="Image 2" descr="connector"/>
          <p:cNvPicPr>
            <a:picLocks noChangeAspect="1"/>
          </p:cNvPicPr>
          <p:nvPr/>
        </p:nvPicPr>
        <p:blipFill>
          <a:blip r:embed="rId5"/>
          <a:srcRect/>
          <a:stretch/>
        </p:blipFill>
        <p:spPr>
          <a:xfrm>
            <a:off x="5854700" y="3251200"/>
            <a:ext cx="101600" cy="673100"/>
          </a:xfrm>
          <a:prstGeom prst="rect">
            <a:avLst/>
          </a:prstGeom>
        </p:spPr>
      </p:pic>
      <p:pic>
        <p:nvPicPr>
          <p:cNvPr id="34" name="Image 3" descr="connector"/>
          <p:cNvPicPr>
            <a:picLocks noChangeAspect="1"/>
          </p:cNvPicPr>
          <p:nvPr/>
        </p:nvPicPr>
        <p:blipFill>
          <a:blip r:embed="rId6"/>
          <a:srcRect/>
          <a:stretch/>
        </p:blipFill>
        <p:spPr>
          <a:xfrm>
            <a:off x="2413000" y="2901950"/>
            <a:ext cx="2082800" cy="101600"/>
          </a:xfrm>
          <a:prstGeom prst="rect">
            <a:avLst/>
          </a:prstGeom>
        </p:spPr>
      </p:pic>
      <p:pic>
        <p:nvPicPr>
          <p:cNvPr id="35" name="Image 4" descr="connector"/>
          <p:cNvPicPr>
            <a:picLocks noChangeAspect="1"/>
          </p:cNvPicPr>
          <p:nvPr/>
        </p:nvPicPr>
        <p:blipFill>
          <a:blip r:embed="rId7"/>
          <a:srcRect/>
          <a:stretch/>
        </p:blipFill>
        <p:spPr>
          <a:xfrm>
            <a:off x="1587500" y="3314700"/>
            <a:ext cx="2908300" cy="958850"/>
          </a:xfrm>
          <a:prstGeom prst="rect">
            <a:avLst/>
          </a:prstGeom>
        </p:spPr>
      </p:pic>
      <p:pic>
        <p:nvPicPr>
          <p:cNvPr id="36" name="Image 5" descr="connector"/>
          <p:cNvPicPr>
            <a:picLocks noChangeAspect="1"/>
          </p:cNvPicPr>
          <p:nvPr/>
        </p:nvPicPr>
        <p:blipFill>
          <a:blip r:embed="rId8"/>
          <a:srcRect/>
          <a:stretch/>
        </p:blipFill>
        <p:spPr>
          <a:xfrm>
            <a:off x="7315200" y="4171950"/>
            <a:ext cx="2133600" cy="101600"/>
          </a:xfrm>
          <a:prstGeom prst="rect">
            <a:avLst/>
          </a:prstGeom>
        </p:spPr>
      </p:pic>
      <p:sp>
        <p:nvSpPr>
          <p:cNvPr id="37" name="Text 29"/>
          <p:cNvSpPr/>
          <p:nvPr/>
        </p:nvSpPr>
        <p:spPr>
          <a:xfrm>
            <a:off x="812800" y="4826000"/>
            <a:ext cx="1701800" cy="61952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Arial" pitchFamily="34" charset="0"/>
                <a:ea typeface="Arial" pitchFamily="34" charset="-122"/>
                <a:cs typeface="Arial" pitchFamily="34" charset="-120"/>
              </a:rPr>
              <a:t>Arrows: one type of information gives rise to or shapes another.</a:t>
            </a:r>
            <a:endParaRPr lang="en-US" sz="1200" dirty="0"/>
          </a:p>
        </p:txBody>
      </p:sp>
      <p:sp>
        <p:nvSpPr>
          <p:cNvPr id="38" name="Text 30"/>
          <p:cNvSpPr/>
          <p:nvPr/>
        </p:nvSpPr>
        <p:spPr>
          <a:xfrm>
            <a:off x="9398000" y="1460500"/>
            <a:ext cx="2040636" cy="61952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Arial" pitchFamily="34" charset="0"/>
                <a:ea typeface="Arial" pitchFamily="34" charset="-122"/>
                <a:cs typeface="Arial" pitchFamily="34" charset="-120"/>
              </a:rPr>
              <a:t>Green: the three levels of requirements. White: other requirements information.</a:t>
            </a:r>
            <a:endParaRPr lang="en-US" sz="1200" dirty="0"/>
          </a:p>
        </p:txBody>
      </p:sp>
      <p:sp>
        <p:nvSpPr>
          <p:cNvPr id="39" name="Text 31"/>
          <p:cNvSpPr/>
          <p:nvPr/>
        </p:nvSpPr>
        <p:spPr>
          <a:xfrm>
            <a:off x="812800" y="63398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Adapted from Wiegers &amp; Beatty (2013), figure 1-1</a:t>
            </a:r>
            <a:endParaRPr lang="en-US" sz="1200" dirty="0"/>
          </a:p>
        </p:txBody>
      </p:sp>
      <p:sp>
        <p:nvSpPr>
          <p:cNvPr id="40" name="Text 32"/>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Stakeholders</a:t>
            </a:r>
            <a:endParaRPr lang="en-US" sz="2600" dirty="0"/>
          </a:p>
        </p:txBody>
      </p:sp>
      <p:sp>
        <p:nvSpPr>
          <p:cNvPr id="5" name="Text 2"/>
          <p:cNvSpPr/>
          <p:nvPr/>
        </p:nvSpPr>
        <p:spPr>
          <a:xfrm>
            <a:off x="812800" y="1371600"/>
            <a:ext cx="1088339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000000"/>
                </a:solidFill>
                <a:latin typeface="Arial" pitchFamily="34" charset="0"/>
                <a:ea typeface="Arial" pitchFamily="34" charset="-122"/>
                <a:cs typeface="Arial" pitchFamily="34" charset="-120"/>
              </a:rPr>
              <a:t>1 min in pairs:</a:t>
            </a:r>
            <a:r>
              <a:rPr lang="en-US" sz="1600" dirty="0">
                <a:solidFill>
                  <a:srgbClr val="000000"/>
                </a:solidFill>
                <a:latin typeface="Arial" pitchFamily="34" charset="0"/>
                <a:ea typeface="Arial" pitchFamily="34" charset="-122"/>
                <a:cs typeface="Arial" pitchFamily="34" charset="-120"/>
              </a:rPr>
              <a:t> who are the kiosk's stakeholders? Which interests may conflict?</a:t>
            </a:r>
            <a:endParaRPr lang="en-US" sz="1600" dirty="0"/>
          </a:p>
        </p:txBody>
      </p:sp>
      <p:sp>
        <p:nvSpPr>
          <p:cNvPr id="6" name="Text 3"/>
          <p:cNvSpPr/>
          <p:nvPr/>
        </p:nvSpPr>
        <p:spPr>
          <a:xfrm>
            <a:off x="812800" y="2095500"/>
            <a:ext cx="2527300" cy="1163241"/>
          </a:xfrm>
          <a:prstGeom prst="rect">
            <a:avLst/>
          </a:prstGeom>
          <a:solidFill>
            <a:srgbClr val="DBEFC1"/>
          </a:solidFill>
          <a:ln/>
        </p:spPr>
        <p:txBody>
          <a:bodyPr wrap="square" lIns="152400" tIns="152400" rIns="85725" bIns="1524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Customer</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order quickly, see allergens, pay any way</a:t>
            </a:r>
            <a:endParaRPr lang="en-US" sz="1300" dirty="0"/>
          </a:p>
        </p:txBody>
      </p:sp>
      <p:sp>
        <p:nvSpPr>
          <p:cNvPr id="7" name="Text 4"/>
          <p:cNvSpPr/>
          <p:nvPr/>
        </p:nvSpPr>
        <p:spPr>
          <a:xfrm>
            <a:off x="3492500" y="2095500"/>
            <a:ext cx="2527300" cy="1163241"/>
          </a:xfrm>
          <a:prstGeom prst="rect">
            <a:avLst/>
          </a:prstGeom>
          <a:solidFill>
            <a:srgbClr val="DBEFC1"/>
          </a:solidFill>
          <a:ln/>
        </p:spPr>
        <p:txBody>
          <a:bodyPr wrap="square" lIns="152400" tIns="152400" rIns="85725" bIns="1270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Customer with accessibility needs</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screen height, contrast, readability</a:t>
            </a:r>
            <a:endParaRPr lang="en-US" sz="1300" dirty="0"/>
          </a:p>
        </p:txBody>
      </p:sp>
      <p:sp>
        <p:nvSpPr>
          <p:cNvPr id="8" name="Text 5"/>
          <p:cNvSpPr/>
          <p:nvPr/>
        </p:nvSpPr>
        <p:spPr>
          <a:xfrm>
            <a:off x="6172200" y="2095500"/>
            <a:ext cx="2527300" cy="1163241"/>
          </a:xfrm>
          <a:prstGeom prst="rect">
            <a:avLst/>
          </a:prstGeom>
          <a:solidFill>
            <a:srgbClr val="DBEFC1"/>
          </a:solidFill>
          <a:ln/>
        </p:spPr>
        <p:txBody>
          <a:bodyPr wrap="square" lIns="152400" tIns="152400" rIns="85725" bIns="1524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Kitchen staff</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clear orders, visible allergy notes</a:t>
            </a:r>
            <a:endParaRPr lang="en-US" sz="1300" dirty="0"/>
          </a:p>
        </p:txBody>
      </p:sp>
      <p:sp>
        <p:nvSpPr>
          <p:cNvPr id="9" name="Text 6"/>
          <p:cNvSpPr/>
          <p:nvPr/>
        </p:nvSpPr>
        <p:spPr>
          <a:xfrm>
            <a:off x="8851900" y="2095500"/>
            <a:ext cx="2527300" cy="1163241"/>
          </a:xfrm>
          <a:prstGeom prst="rect">
            <a:avLst/>
          </a:prstGeom>
          <a:solidFill>
            <a:srgbClr val="DBEFC1"/>
          </a:solidFill>
          <a:ln/>
        </p:spPr>
        <p:txBody>
          <a:bodyPr wrap="square" lIns="152400" tIns="152400" rIns="85725" bIns="1524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Store manager</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shorter queues, opening hours, reports</a:t>
            </a:r>
            <a:endParaRPr lang="en-US" sz="1300" dirty="0"/>
          </a:p>
        </p:txBody>
      </p:sp>
      <p:sp>
        <p:nvSpPr>
          <p:cNvPr id="10" name="Text 7"/>
          <p:cNvSpPr/>
          <p:nvPr/>
        </p:nvSpPr>
        <p:spPr>
          <a:xfrm>
            <a:off x="812800" y="3411141"/>
            <a:ext cx="2527300" cy="948630"/>
          </a:xfrm>
          <a:prstGeom prst="rect">
            <a:avLst/>
          </a:prstGeom>
          <a:solidFill>
            <a:srgbClr val="DBEFC1"/>
          </a:solidFill>
          <a:ln/>
        </p:spPr>
        <p:txBody>
          <a:bodyPr wrap="square" lIns="152400" tIns="152400" rIns="85725" bIns="1270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Management and marketing</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promotions, combos, sales data</a:t>
            </a:r>
            <a:endParaRPr lang="en-US" sz="1300" dirty="0"/>
          </a:p>
        </p:txBody>
      </p:sp>
      <p:sp>
        <p:nvSpPr>
          <p:cNvPr id="11" name="Text 8"/>
          <p:cNvSpPr/>
          <p:nvPr/>
        </p:nvSpPr>
        <p:spPr>
          <a:xfrm>
            <a:off x="3492500" y="3411141"/>
            <a:ext cx="2527300" cy="948630"/>
          </a:xfrm>
          <a:prstGeom prst="rect">
            <a:avLst/>
          </a:prstGeom>
          <a:solidFill>
            <a:srgbClr val="DBEFC1"/>
          </a:solidFill>
          <a:ln/>
        </p:spPr>
        <p:txBody>
          <a:bodyPr wrap="square" lIns="152400" tIns="152400" rIns="85725" bIns="1270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IT team</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update the menu, monitor failures</a:t>
            </a:r>
            <a:endParaRPr lang="en-US" sz="1300" dirty="0"/>
          </a:p>
        </p:txBody>
      </p:sp>
      <p:sp>
        <p:nvSpPr>
          <p:cNvPr id="12" name="Text 9"/>
          <p:cNvSpPr/>
          <p:nvPr/>
        </p:nvSpPr>
        <p:spPr>
          <a:xfrm>
            <a:off x="6172200" y="3411141"/>
            <a:ext cx="2527300" cy="948630"/>
          </a:xfrm>
          <a:prstGeom prst="rect">
            <a:avLst/>
          </a:prstGeom>
          <a:solidFill>
            <a:srgbClr val="DBEFC1"/>
          </a:solidFill>
          <a:ln/>
        </p:spPr>
        <p:txBody>
          <a:bodyPr wrap="square" lIns="152400" tIns="152400" rIns="85725" bIns="1270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Payment provider</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terminal integration and certification</a:t>
            </a:r>
            <a:endParaRPr lang="en-US" sz="1300" dirty="0"/>
          </a:p>
        </p:txBody>
      </p:sp>
      <p:sp>
        <p:nvSpPr>
          <p:cNvPr id="13" name="Text 10"/>
          <p:cNvSpPr/>
          <p:nvPr/>
        </p:nvSpPr>
        <p:spPr>
          <a:xfrm>
            <a:off x="8851900" y="3411141"/>
            <a:ext cx="2527300" cy="948630"/>
          </a:xfrm>
          <a:prstGeom prst="rect">
            <a:avLst/>
          </a:prstGeom>
          <a:solidFill>
            <a:srgbClr val="DBEFC1"/>
          </a:solidFill>
          <a:ln/>
        </p:spPr>
        <p:txBody>
          <a:bodyPr wrap="square" lIns="152400" tIns="152400" rIns="85725" bIns="1270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Regulators</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tax invoicing (NIF), allergen information</a:t>
            </a:r>
            <a:endParaRPr lang="en-US" sz="1300" dirty="0"/>
          </a:p>
        </p:txBody>
      </p:sp>
      <p:sp>
        <p:nvSpPr>
          <p:cNvPr id="14" name="Text 11"/>
          <p:cNvSpPr/>
          <p:nvPr/>
        </p:nvSpPr>
        <p:spPr>
          <a:xfrm>
            <a:off x="812800" y="4562971"/>
            <a:ext cx="108833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Arial" pitchFamily="34" charset="0"/>
                <a:ea typeface="Arial" pitchFamily="34" charset="-122"/>
                <a:cs typeface="Arial" pitchFamily="34" charset="-120"/>
              </a:rPr>
              <a:t>User ≠ customer ≠ stakeholder. Anyone not heard during elicitation becomes a source of hidden requirements.</a:t>
            </a:r>
            <a:endParaRPr lang="en-US" sz="1500" dirty="0"/>
          </a:p>
        </p:txBody>
      </p:sp>
      <p:sp>
        <p:nvSpPr>
          <p:cNvPr id="15" name="Text 1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6" name="Text 1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5" name="Text 2"/>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10</a:t>
            </a:r>
            <a:endParaRPr lang="en-US" sz="1200" dirty="0"/>
          </a:p>
        </p:txBody>
      </p:sp>
      <p:pic>
        <p:nvPicPr>
          <p:cNvPr id="6" name="Image 1" descr="image.png"/>
          <p:cNvPicPr>
            <a:picLocks noChangeAspect="1"/>
          </p:cNvPicPr>
          <p:nvPr/>
        </p:nvPicPr>
        <p:blipFill>
          <a:blip r:embed="rId4"/>
          <a:srcRect t="13" b="13"/>
          <a:stretch/>
        </p:blipFill>
        <p:spPr>
          <a:xfrm>
            <a:off x="2578745" y="145405"/>
            <a:ext cx="9327059" cy="58293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The requirements engineering process</a:t>
            </a:r>
            <a:endParaRPr lang="en-US" sz="2600" dirty="0"/>
          </a:p>
        </p:txBody>
      </p:sp>
      <p:sp>
        <p:nvSpPr>
          <p:cNvPr id="5" name="Text 2"/>
          <p:cNvSpPr/>
          <p:nvPr/>
        </p:nvSpPr>
        <p:spPr>
          <a:xfrm>
            <a:off x="812800" y="1333500"/>
            <a:ext cx="58864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00000"/>
                </a:solidFill>
                <a:latin typeface="Arial" pitchFamily="34" charset="0"/>
                <a:ea typeface="Arial" pitchFamily="34" charset="-122"/>
                <a:cs typeface="Arial" pitchFamily="34" charset="-120"/>
              </a:rPr>
              <a:t>Requirements development</a:t>
            </a:r>
            <a:endParaRPr lang="en-US" sz="1500" dirty="0"/>
          </a:p>
        </p:txBody>
      </p:sp>
      <p:sp>
        <p:nvSpPr>
          <p:cNvPr id="6" name="Shape 3"/>
          <p:cNvSpPr/>
          <p:nvPr/>
        </p:nvSpPr>
        <p:spPr>
          <a:xfrm>
            <a:off x="812800" y="1714500"/>
            <a:ext cx="2159000" cy="1460500"/>
          </a:xfrm>
          <a:prstGeom prst="rect">
            <a:avLst/>
          </a:prstGeom>
          <a:solidFill>
            <a:srgbClr val="92D400"/>
          </a:solidFill>
          <a:ln/>
        </p:spPr>
        <p:txBody>
          <a:bodyPr/>
          <a:lstStyle/>
          <a:p>
            <a:endParaRPr lang="pt-PT"/>
          </a:p>
        </p:txBody>
      </p:sp>
      <p:sp>
        <p:nvSpPr>
          <p:cNvPr id="7" name="Text 4"/>
          <p:cNvSpPr/>
          <p:nvPr/>
        </p:nvSpPr>
        <p:spPr>
          <a:xfrm>
            <a:off x="990600" y="1962249"/>
            <a:ext cx="185750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Elicitation</a:t>
            </a:r>
            <a:endParaRPr lang="en-US" sz="1800" dirty="0"/>
          </a:p>
        </p:txBody>
      </p:sp>
      <p:sp>
        <p:nvSpPr>
          <p:cNvPr id="8" name="Text 5"/>
          <p:cNvSpPr/>
          <p:nvPr/>
        </p:nvSpPr>
        <p:spPr>
          <a:xfrm>
            <a:off x="990600" y="2333030"/>
            <a:ext cx="1857502" cy="61952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discover needs and constraints with stakeholders</a:t>
            </a:r>
            <a:endParaRPr lang="en-US" sz="1200" dirty="0"/>
          </a:p>
        </p:txBody>
      </p:sp>
      <p:sp>
        <p:nvSpPr>
          <p:cNvPr id="9" name="Shape 6"/>
          <p:cNvSpPr/>
          <p:nvPr/>
        </p:nvSpPr>
        <p:spPr>
          <a:xfrm>
            <a:off x="3613150" y="1714500"/>
            <a:ext cx="2159000" cy="1460500"/>
          </a:xfrm>
          <a:prstGeom prst="rect">
            <a:avLst/>
          </a:prstGeom>
          <a:solidFill>
            <a:srgbClr val="92D400"/>
          </a:solidFill>
          <a:ln/>
        </p:spPr>
        <p:txBody>
          <a:bodyPr/>
          <a:lstStyle/>
          <a:p>
            <a:endParaRPr lang="pt-PT"/>
          </a:p>
        </p:txBody>
      </p:sp>
      <p:sp>
        <p:nvSpPr>
          <p:cNvPr id="10" name="Text 7"/>
          <p:cNvSpPr/>
          <p:nvPr/>
        </p:nvSpPr>
        <p:spPr>
          <a:xfrm>
            <a:off x="3790950" y="2061270"/>
            <a:ext cx="185750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Analysis</a:t>
            </a:r>
            <a:endParaRPr lang="en-US" sz="1800" dirty="0"/>
          </a:p>
        </p:txBody>
      </p:sp>
      <p:sp>
        <p:nvSpPr>
          <p:cNvPr id="11" name="Text 8"/>
          <p:cNvSpPr/>
          <p:nvPr/>
        </p:nvSpPr>
        <p:spPr>
          <a:xfrm>
            <a:off x="3790950" y="2432050"/>
            <a:ext cx="1857502"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refine, classify, prioritize and resolve conflicts</a:t>
            </a:r>
            <a:endParaRPr lang="en-US" sz="1200" dirty="0"/>
          </a:p>
        </p:txBody>
      </p:sp>
      <p:sp>
        <p:nvSpPr>
          <p:cNvPr id="12" name="Shape 9"/>
          <p:cNvSpPr/>
          <p:nvPr/>
        </p:nvSpPr>
        <p:spPr>
          <a:xfrm>
            <a:off x="6413500" y="1714500"/>
            <a:ext cx="2159000" cy="1460500"/>
          </a:xfrm>
          <a:prstGeom prst="rect">
            <a:avLst/>
          </a:prstGeom>
          <a:solidFill>
            <a:srgbClr val="92D400"/>
          </a:solidFill>
          <a:ln/>
        </p:spPr>
        <p:txBody>
          <a:bodyPr/>
          <a:lstStyle/>
          <a:p>
            <a:endParaRPr lang="pt-PT"/>
          </a:p>
        </p:txBody>
      </p:sp>
      <p:sp>
        <p:nvSpPr>
          <p:cNvPr id="13" name="Text 10"/>
          <p:cNvSpPr/>
          <p:nvPr/>
        </p:nvSpPr>
        <p:spPr>
          <a:xfrm>
            <a:off x="6591300" y="2061270"/>
            <a:ext cx="185750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Specification</a:t>
            </a:r>
            <a:endParaRPr lang="en-US" sz="1800" dirty="0"/>
          </a:p>
        </p:txBody>
      </p:sp>
      <p:sp>
        <p:nvSpPr>
          <p:cNvPr id="14" name="Text 11"/>
          <p:cNvSpPr/>
          <p:nvPr/>
        </p:nvSpPr>
        <p:spPr>
          <a:xfrm>
            <a:off x="6591300" y="2432050"/>
            <a:ext cx="1857502"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write clear, verifiable requirements</a:t>
            </a:r>
            <a:endParaRPr lang="en-US" sz="1200" dirty="0"/>
          </a:p>
        </p:txBody>
      </p:sp>
      <p:sp>
        <p:nvSpPr>
          <p:cNvPr id="15" name="Shape 12"/>
          <p:cNvSpPr/>
          <p:nvPr/>
        </p:nvSpPr>
        <p:spPr>
          <a:xfrm>
            <a:off x="9220200" y="1714500"/>
            <a:ext cx="2159000" cy="1460500"/>
          </a:xfrm>
          <a:prstGeom prst="rect">
            <a:avLst/>
          </a:prstGeom>
          <a:solidFill>
            <a:srgbClr val="92D400"/>
          </a:solidFill>
          <a:ln/>
        </p:spPr>
        <p:txBody>
          <a:bodyPr/>
          <a:lstStyle/>
          <a:p>
            <a:endParaRPr lang="pt-PT"/>
          </a:p>
        </p:txBody>
      </p:sp>
      <p:sp>
        <p:nvSpPr>
          <p:cNvPr id="16" name="Text 13"/>
          <p:cNvSpPr/>
          <p:nvPr/>
        </p:nvSpPr>
        <p:spPr>
          <a:xfrm>
            <a:off x="9398000" y="2061270"/>
            <a:ext cx="185750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Validation</a:t>
            </a:r>
            <a:endParaRPr lang="en-US" sz="1800" dirty="0"/>
          </a:p>
        </p:txBody>
      </p:sp>
      <p:sp>
        <p:nvSpPr>
          <p:cNvPr id="17" name="Text 14"/>
          <p:cNvSpPr/>
          <p:nvPr/>
        </p:nvSpPr>
        <p:spPr>
          <a:xfrm>
            <a:off x="9398000" y="2432050"/>
            <a:ext cx="1857502"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check with stakeholders: is it the right thing?</a:t>
            </a:r>
            <a:endParaRPr lang="en-US" sz="1200" dirty="0"/>
          </a:p>
        </p:txBody>
      </p:sp>
      <p:pic>
        <p:nvPicPr>
          <p:cNvPr id="18" name="Image 1" descr="connector"/>
          <p:cNvPicPr>
            <a:picLocks noChangeAspect="1"/>
          </p:cNvPicPr>
          <p:nvPr/>
        </p:nvPicPr>
        <p:blipFill>
          <a:blip r:embed="rId4"/>
          <a:srcRect/>
          <a:stretch/>
        </p:blipFill>
        <p:spPr>
          <a:xfrm>
            <a:off x="2908300" y="2381250"/>
            <a:ext cx="768350" cy="127000"/>
          </a:xfrm>
          <a:prstGeom prst="rect">
            <a:avLst/>
          </a:prstGeom>
        </p:spPr>
      </p:pic>
      <p:pic>
        <p:nvPicPr>
          <p:cNvPr id="19" name="Image 2" descr="connector"/>
          <p:cNvPicPr>
            <a:picLocks noChangeAspect="1"/>
          </p:cNvPicPr>
          <p:nvPr/>
        </p:nvPicPr>
        <p:blipFill>
          <a:blip r:embed="rId4"/>
          <a:srcRect/>
          <a:stretch/>
        </p:blipFill>
        <p:spPr>
          <a:xfrm>
            <a:off x="5708650" y="2381250"/>
            <a:ext cx="768350" cy="127000"/>
          </a:xfrm>
          <a:prstGeom prst="rect">
            <a:avLst/>
          </a:prstGeom>
        </p:spPr>
      </p:pic>
      <p:pic>
        <p:nvPicPr>
          <p:cNvPr id="20" name="Image 3" descr="connector"/>
          <p:cNvPicPr>
            <a:picLocks noChangeAspect="1"/>
          </p:cNvPicPr>
          <p:nvPr/>
        </p:nvPicPr>
        <p:blipFill>
          <a:blip r:embed="rId5"/>
          <a:srcRect/>
          <a:stretch/>
        </p:blipFill>
        <p:spPr>
          <a:xfrm>
            <a:off x="8509000" y="2381250"/>
            <a:ext cx="774700" cy="127000"/>
          </a:xfrm>
          <a:prstGeom prst="rect">
            <a:avLst/>
          </a:prstGeom>
        </p:spPr>
      </p:pic>
      <p:pic>
        <p:nvPicPr>
          <p:cNvPr id="21" name="Image 4" descr="connector"/>
          <p:cNvPicPr>
            <a:picLocks noChangeAspect="1"/>
          </p:cNvPicPr>
          <p:nvPr/>
        </p:nvPicPr>
        <p:blipFill>
          <a:blip r:embed="rId6"/>
          <a:srcRect/>
          <a:stretch/>
        </p:blipFill>
        <p:spPr>
          <a:xfrm>
            <a:off x="10236200" y="3111500"/>
            <a:ext cx="127000" cy="603250"/>
          </a:xfrm>
          <a:prstGeom prst="rect">
            <a:avLst/>
          </a:prstGeom>
        </p:spPr>
      </p:pic>
      <p:pic>
        <p:nvPicPr>
          <p:cNvPr id="22" name="Image 5" descr="connector"/>
          <p:cNvPicPr>
            <a:picLocks noChangeAspect="1"/>
          </p:cNvPicPr>
          <p:nvPr/>
        </p:nvPicPr>
        <p:blipFill>
          <a:blip r:embed="rId7"/>
          <a:srcRect/>
          <a:stretch/>
        </p:blipFill>
        <p:spPr>
          <a:xfrm>
            <a:off x="1828800" y="3587750"/>
            <a:ext cx="8534400" cy="127000"/>
          </a:xfrm>
          <a:prstGeom prst="rect">
            <a:avLst/>
          </a:prstGeom>
        </p:spPr>
      </p:pic>
      <p:pic>
        <p:nvPicPr>
          <p:cNvPr id="23" name="Image 6" descr="connector"/>
          <p:cNvPicPr>
            <a:picLocks noChangeAspect="1"/>
          </p:cNvPicPr>
          <p:nvPr/>
        </p:nvPicPr>
        <p:blipFill>
          <a:blip r:embed="rId8"/>
          <a:srcRect/>
          <a:stretch/>
        </p:blipFill>
        <p:spPr>
          <a:xfrm>
            <a:off x="1828800" y="3111500"/>
            <a:ext cx="127000" cy="603250"/>
          </a:xfrm>
          <a:prstGeom prst="rect">
            <a:avLst/>
          </a:prstGeom>
        </p:spPr>
      </p:pic>
      <p:sp>
        <p:nvSpPr>
          <p:cNvPr id="24" name="Text 15"/>
          <p:cNvSpPr/>
          <p:nvPr/>
        </p:nvSpPr>
        <p:spPr>
          <a:xfrm>
            <a:off x="3479800" y="3759200"/>
            <a:ext cx="5232400" cy="274241"/>
          </a:xfrm>
          <a:prstGeom prst="rect">
            <a:avLst/>
          </a:prstGeom>
          <a:noFill/>
          <a:ln/>
        </p:spPr>
        <p:txBody>
          <a:bodyPr wrap="square" lIns="0" tIns="0" rIns="0" bIns="0" rtlCol="0" anchor="t">
            <a:normAutofit/>
          </a:bodyPr>
          <a:lstStyle/>
          <a:p>
            <a:pPr marL="0" indent="0" algn="ctr">
              <a:lnSpc>
                <a:spcPts val="1960"/>
              </a:lnSpc>
              <a:buNone/>
            </a:pPr>
            <a:r>
              <a:rPr lang="en-US" sz="1400" i="1" dirty="0">
                <a:solidFill>
                  <a:srgbClr val="000000"/>
                </a:solidFill>
                <a:latin typeface="Arial" pitchFamily="34" charset="0"/>
                <a:ea typeface="Arial" pitchFamily="34" charset="-122"/>
                <a:cs typeface="Arial" pitchFamily="34" charset="-120"/>
              </a:rPr>
              <a:t>iterate: validation reveals gaps</a:t>
            </a:r>
            <a:endParaRPr lang="en-US" sz="1400" dirty="0"/>
          </a:p>
        </p:txBody>
      </p:sp>
      <p:sp>
        <p:nvSpPr>
          <p:cNvPr id="25" name="Shape 16"/>
          <p:cNvSpPr/>
          <p:nvPr/>
        </p:nvSpPr>
        <p:spPr>
          <a:xfrm>
            <a:off x="812800" y="4381500"/>
            <a:ext cx="10566400" cy="1016000"/>
          </a:xfrm>
          <a:prstGeom prst="rect">
            <a:avLst/>
          </a:prstGeom>
          <a:solidFill>
            <a:srgbClr val="DBEFC1"/>
          </a:solidFill>
          <a:ln/>
        </p:spPr>
        <p:txBody>
          <a:bodyPr/>
          <a:lstStyle/>
          <a:p>
            <a:endParaRPr lang="pt-PT"/>
          </a:p>
        </p:txBody>
      </p:sp>
      <p:sp>
        <p:nvSpPr>
          <p:cNvPr id="26" name="Text 17"/>
          <p:cNvSpPr/>
          <p:nvPr/>
        </p:nvSpPr>
        <p:spPr>
          <a:xfrm>
            <a:off x="1041400" y="4591050"/>
            <a:ext cx="104124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00000"/>
                </a:solidFill>
                <a:latin typeface="Arial" pitchFamily="34" charset="0"/>
                <a:ea typeface="Arial" pitchFamily="34" charset="-122"/>
                <a:cs typeface="Arial" pitchFamily="34" charset="-120"/>
              </a:rPr>
              <a:t>Requirements management</a:t>
            </a:r>
            <a:endParaRPr lang="en-US" sz="1600" dirty="0"/>
          </a:p>
        </p:txBody>
      </p:sp>
      <p:sp>
        <p:nvSpPr>
          <p:cNvPr id="27" name="Text 18"/>
          <p:cNvSpPr/>
          <p:nvPr/>
        </p:nvSpPr>
        <p:spPr>
          <a:xfrm>
            <a:off x="1041400" y="4939010"/>
            <a:ext cx="104124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work from a baseline · apply change control · traceability</a:t>
            </a:r>
            <a:endParaRPr lang="en-US" sz="1400" dirty="0"/>
          </a:p>
        </p:txBody>
      </p:sp>
      <p:sp>
        <p:nvSpPr>
          <p:cNvPr id="28" name="Text 19"/>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Based on Wiegers &amp; Beatty (2013), ch. 1</a:t>
            </a:r>
            <a:endParaRPr lang="en-US" sz="1200" dirty="0"/>
          </a:p>
        </p:txBody>
      </p:sp>
      <p:sp>
        <p:nvSpPr>
          <p:cNvPr id="29" name="Text 20"/>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92D400"/>
        </a:solidFill>
        <a:effectLst/>
      </p:bgPr>
    </p:bg>
    <p:spTree>
      <p:nvGrpSpPr>
        <p:cNvPr id="1" name=""/>
        <p:cNvGrpSpPr/>
        <p:nvPr/>
      </p:nvGrpSpPr>
      <p:grpSpPr>
        <a:xfrm>
          <a:off x="0" y="0"/>
          <a:ext cx="0" cy="0"/>
          <a:chOff x="0" y="0"/>
          <a:chExt cx="0" cy="0"/>
        </a:xfrm>
      </p:grpSpPr>
      <p:sp>
        <p:nvSpPr>
          <p:cNvPr id="2" name="Text 0"/>
          <p:cNvSpPr/>
          <p:nvPr/>
        </p:nvSpPr>
        <p:spPr>
          <a:xfrm>
            <a:off x="812800" y="215652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part 2</a:t>
            </a:r>
            <a:endParaRPr lang="en-US" sz="1800" dirty="0"/>
          </a:p>
        </p:txBody>
      </p:sp>
      <p:sp>
        <p:nvSpPr>
          <p:cNvPr id="3" name="Text 1"/>
          <p:cNvSpPr>
            <a:spLocks noGrp="1"/>
          </p:cNvSpPr>
          <p:nvPr>
            <p:ph type="title"/>
          </p:nvPr>
        </p:nvSpPr>
        <p:spPr>
          <a:xfrm>
            <a:off x="812800" y="262890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000000"/>
                </a:solidFill>
                <a:latin typeface="Arial" pitchFamily="34" charset="0"/>
                <a:ea typeface="Arial" pitchFamily="34" charset="-122"/>
                <a:cs typeface="Arial" pitchFamily="34" charset="-120"/>
              </a:rPr>
              <a:t>classifying and writing good requirements</a:t>
            </a:r>
            <a:endParaRPr lang="en-US" sz="6000" dirty="0"/>
          </a:p>
        </p:txBody>
      </p:sp>
      <p:sp>
        <p:nvSpPr>
          <p:cNvPr id="4" name="Text 2"/>
          <p:cNvSpPr/>
          <p:nvPr/>
        </p:nvSpPr>
        <p:spPr>
          <a:xfrm>
            <a:off x="812800" y="438150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Arial" pitchFamily="34" charset="0"/>
                <a:ea typeface="Arial" pitchFamily="34" charset="-122"/>
                <a:cs typeface="Arial" pitchFamily="34" charset="-120"/>
              </a:rPr>
              <a:t>types · ISO/IEC 25010 · quality · EARS</a:t>
            </a:r>
            <a:endParaRPr lang="en-US" sz="1800" dirty="0"/>
          </a:p>
        </p:txBody>
      </p:sp>
      <p:pic>
        <p:nvPicPr>
          <p:cNvPr id="5" name="Image 0" descr="Universidade de Aveiro · DETI"/>
          <p:cNvPicPr>
            <a:picLocks noChangeAspect="1"/>
          </p:cNvPicPr>
          <p:nvPr/>
        </p:nvPicPr>
        <p:blipFill>
          <a:blip r:embed="rId3"/>
          <a:srcRect t="-6497" b="-6497"/>
          <a:stretch/>
        </p:blipFill>
        <p:spPr>
          <a:xfrm>
            <a:off x="812800" y="5816600"/>
            <a:ext cx="2667000" cy="635000"/>
          </a:xfrm>
          <a:prstGeom prst="rect">
            <a:avLst/>
          </a:prstGeom>
        </p:spPr>
      </p:pic>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Functional and non-functional</a:t>
            </a:r>
            <a:endParaRPr lang="en-US" sz="2600" dirty="0"/>
          </a:p>
        </p:txBody>
      </p:sp>
      <p:sp>
        <p:nvSpPr>
          <p:cNvPr id="5" name="Shape 2"/>
          <p:cNvSpPr/>
          <p:nvPr/>
        </p:nvSpPr>
        <p:spPr>
          <a:xfrm>
            <a:off x="812800" y="1371600"/>
            <a:ext cx="5156200" cy="2564904"/>
          </a:xfrm>
          <a:prstGeom prst="rect">
            <a:avLst/>
          </a:prstGeom>
          <a:solidFill>
            <a:srgbClr val="DBEFC1"/>
          </a:solidFill>
          <a:ln/>
        </p:spPr>
        <p:txBody>
          <a:bodyPr/>
          <a:lstStyle/>
          <a:p>
            <a:endParaRPr lang="pt-PT"/>
          </a:p>
        </p:txBody>
      </p:sp>
      <p:sp>
        <p:nvSpPr>
          <p:cNvPr id="6" name="Text 3"/>
          <p:cNvSpPr/>
          <p:nvPr/>
        </p:nvSpPr>
        <p:spPr>
          <a:xfrm>
            <a:off x="1066800" y="1625600"/>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Functional: what the system must </a:t>
            </a:r>
            <a:r>
              <a:rPr lang="en-US" sz="1700" b="1" u="sng" dirty="0">
                <a:solidFill>
                  <a:srgbClr val="000000"/>
                </a:solidFill>
                <a:latin typeface="Arial" pitchFamily="34" charset="0"/>
                <a:ea typeface="Arial" pitchFamily="34" charset="-122"/>
                <a:cs typeface="Arial" pitchFamily="34" charset="-120"/>
              </a:rPr>
              <a:t>do</a:t>
            </a:r>
            <a:endParaRPr lang="en-US" sz="1700" dirty="0"/>
          </a:p>
        </p:txBody>
      </p:sp>
      <p:sp>
        <p:nvSpPr>
          <p:cNvPr id="7" name="Text 4"/>
          <p:cNvSpPr/>
          <p:nvPr/>
        </p:nvSpPr>
        <p:spPr>
          <a:xfrm>
            <a:off x="1066800" y="1986260"/>
            <a:ext cx="478764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FR2: The system shall allow the customer to add products to the order.</a:t>
            </a:r>
            <a:endParaRPr lang="en-US" sz="1400" dirty="0"/>
          </a:p>
        </p:txBody>
      </p:sp>
      <p:sp>
        <p:nvSpPr>
          <p:cNvPr id="8" name="Text 5"/>
          <p:cNvSpPr/>
          <p:nvPr/>
        </p:nvSpPr>
        <p:spPr>
          <a:xfrm>
            <a:off x="1066800" y="2585541"/>
            <a:ext cx="478764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FR3: The system shall allow certain products to be customized.</a:t>
            </a:r>
            <a:endParaRPr lang="en-US" sz="1400" dirty="0"/>
          </a:p>
        </p:txBody>
      </p:sp>
      <p:sp>
        <p:nvSpPr>
          <p:cNvPr id="9" name="Text 6"/>
          <p:cNvSpPr/>
          <p:nvPr/>
        </p:nvSpPr>
        <p:spPr>
          <a:xfrm>
            <a:off x="1066800" y="3184823"/>
            <a:ext cx="478764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FR6: The system shall send the order to the kitchen after payment is confirmed.</a:t>
            </a:r>
            <a:endParaRPr lang="en-US" sz="1400" dirty="0"/>
          </a:p>
        </p:txBody>
      </p:sp>
      <p:sp>
        <p:nvSpPr>
          <p:cNvPr id="10" name="Shape 7"/>
          <p:cNvSpPr/>
          <p:nvPr/>
        </p:nvSpPr>
        <p:spPr>
          <a:xfrm>
            <a:off x="6223000" y="1371600"/>
            <a:ext cx="5156200" cy="2564904"/>
          </a:xfrm>
          <a:prstGeom prst="rect">
            <a:avLst/>
          </a:prstGeom>
          <a:solidFill>
            <a:srgbClr val="DBEFC1"/>
          </a:solidFill>
          <a:ln/>
        </p:spPr>
        <p:txBody>
          <a:bodyPr/>
          <a:lstStyle/>
          <a:p>
            <a:endParaRPr lang="pt-PT"/>
          </a:p>
        </p:txBody>
      </p:sp>
      <p:sp>
        <p:nvSpPr>
          <p:cNvPr id="11" name="Text 8"/>
          <p:cNvSpPr/>
          <p:nvPr/>
        </p:nvSpPr>
        <p:spPr>
          <a:xfrm>
            <a:off x="6477000" y="1625600"/>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Non-functional: what the system must </a:t>
            </a:r>
            <a:r>
              <a:rPr lang="en-US" sz="1700" b="1" u="sng" dirty="0">
                <a:solidFill>
                  <a:srgbClr val="000000"/>
                </a:solidFill>
                <a:latin typeface="Arial" pitchFamily="34" charset="0"/>
                <a:ea typeface="Arial" pitchFamily="34" charset="-122"/>
                <a:cs typeface="Arial" pitchFamily="34" charset="-120"/>
              </a:rPr>
              <a:t>be</a:t>
            </a:r>
            <a:endParaRPr lang="en-US" sz="1700" dirty="0"/>
          </a:p>
        </p:txBody>
      </p:sp>
      <p:sp>
        <p:nvSpPr>
          <p:cNvPr id="12" name="Text 9"/>
          <p:cNvSpPr/>
          <p:nvPr/>
        </p:nvSpPr>
        <p:spPr>
          <a:xfrm>
            <a:off x="6477000" y="1986260"/>
            <a:ext cx="478764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NFR1: The initial menu shall appear in less than 2 seconds.</a:t>
            </a:r>
            <a:endParaRPr lang="en-US" sz="1400" dirty="0"/>
          </a:p>
        </p:txBody>
      </p:sp>
      <p:sp>
        <p:nvSpPr>
          <p:cNvPr id="13" name="Text 10"/>
          <p:cNvSpPr/>
          <p:nvPr/>
        </p:nvSpPr>
        <p:spPr>
          <a:xfrm>
            <a:off x="6477000" y="2585541"/>
            <a:ext cx="49022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NFR3: Minimum availability of 99% during opening hours.</a:t>
            </a:r>
            <a:endParaRPr lang="en-US" sz="1400" dirty="0"/>
          </a:p>
        </p:txBody>
      </p:sp>
      <p:sp>
        <p:nvSpPr>
          <p:cNvPr id="14" name="Text 11"/>
          <p:cNvSpPr/>
          <p:nvPr/>
        </p:nvSpPr>
        <p:spPr>
          <a:xfrm>
            <a:off x="6477000" y="2935982"/>
            <a:ext cx="478764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NFR5: The system shall not store full card data.</a:t>
            </a:r>
            <a:endParaRPr lang="en-US" sz="1400" dirty="0"/>
          </a:p>
        </p:txBody>
      </p:sp>
      <p:sp>
        <p:nvSpPr>
          <p:cNvPr id="15" name="Text 12"/>
          <p:cNvSpPr/>
          <p:nvPr/>
        </p:nvSpPr>
        <p:spPr>
          <a:xfrm>
            <a:off x="812800" y="4114304"/>
            <a:ext cx="10883392"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Arial" pitchFamily="34" charset="0"/>
                <a:ea typeface="Arial" pitchFamily="34" charset="-122"/>
                <a:cs typeface="Arial" pitchFamily="34" charset="-120"/>
              </a:rPr>
              <a:t>It is not always black and white.</a:t>
            </a:r>
            <a:r>
              <a:rPr lang="en-US" sz="1500" dirty="0">
                <a:solidFill>
                  <a:srgbClr val="000000"/>
                </a:solidFill>
                <a:latin typeface="Arial" pitchFamily="34" charset="0"/>
                <a:ea typeface="Arial" pitchFamily="34" charset="-122"/>
                <a:cs typeface="Arial" pitchFamily="34" charset="-120"/>
              </a:rPr>
              <a:t> A non-functional requirement often gives rise to functional ones: NFR5 leads to “payment shall be delegated to a certified provider, storing only the transaction token”.</a:t>
            </a:r>
            <a:endParaRPr lang="en-US" sz="1500" dirty="0"/>
          </a:p>
        </p:txBody>
      </p:sp>
      <p:sp>
        <p:nvSpPr>
          <p:cNvPr id="16" name="Shape 13"/>
          <p:cNvSpPr/>
          <p:nvPr/>
        </p:nvSpPr>
        <p:spPr>
          <a:xfrm>
            <a:off x="812800" y="4806454"/>
            <a:ext cx="10566400" cy="584200"/>
          </a:xfrm>
          <a:prstGeom prst="rect">
            <a:avLst/>
          </a:prstGeom>
          <a:solidFill>
            <a:srgbClr val="92D400"/>
          </a:solidFill>
          <a:ln/>
        </p:spPr>
        <p:txBody>
          <a:bodyPr/>
          <a:lstStyle/>
          <a:p>
            <a:endParaRPr lang="pt-PT"/>
          </a:p>
        </p:txBody>
      </p:sp>
      <p:pic>
        <p:nvPicPr>
          <p:cNvPr id="17" name="Image 1" descr="Lightbulb"/>
          <p:cNvPicPr>
            <a:picLocks noChangeAspect="1"/>
          </p:cNvPicPr>
          <p:nvPr/>
        </p:nvPicPr>
        <p:blipFill>
          <a:blip r:embed="rId4"/>
          <a:srcRect/>
          <a:stretch/>
        </p:blipFill>
        <p:spPr>
          <a:xfrm>
            <a:off x="1016000" y="4920754"/>
            <a:ext cx="355600" cy="355600"/>
          </a:xfrm>
          <a:prstGeom prst="rect">
            <a:avLst/>
          </a:prstGeom>
        </p:spPr>
      </p:pic>
      <p:sp>
        <p:nvSpPr>
          <p:cNvPr id="18" name="Text 14"/>
          <p:cNvSpPr/>
          <p:nvPr/>
        </p:nvSpPr>
        <p:spPr>
          <a:xfrm>
            <a:off x="1524000" y="4974729"/>
            <a:ext cx="7670125"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Tip:</a:t>
            </a:r>
            <a:r>
              <a:rPr lang="en-US" sz="1500" dirty="0">
                <a:solidFill>
                  <a:srgbClr val="000000"/>
                </a:solidFill>
                <a:latin typeface="Arial" pitchFamily="34" charset="0"/>
                <a:ea typeface="Arial" pitchFamily="34" charset="-122"/>
                <a:cs typeface="Arial" pitchFamily="34" charset="-120"/>
              </a:rPr>
              <a:t> ask “does it say </a:t>
            </a:r>
            <a:r>
              <a:rPr lang="en-US" sz="1500" i="1" dirty="0">
                <a:solidFill>
                  <a:srgbClr val="000000"/>
                </a:solidFill>
                <a:latin typeface="Arial" pitchFamily="34" charset="0"/>
                <a:ea typeface="Arial" pitchFamily="34" charset="-122"/>
                <a:cs typeface="Arial" pitchFamily="34" charset="-120"/>
              </a:rPr>
              <a:t>what</a:t>
            </a:r>
            <a:r>
              <a:rPr lang="en-US" sz="1500" dirty="0">
                <a:solidFill>
                  <a:srgbClr val="000000"/>
                </a:solidFill>
                <a:latin typeface="Arial" pitchFamily="34" charset="0"/>
                <a:ea typeface="Arial" pitchFamily="34" charset="-122"/>
                <a:cs typeface="Arial" pitchFamily="34" charset="-120"/>
              </a:rPr>
              <a:t> the system does, or </a:t>
            </a:r>
            <a:r>
              <a:rPr lang="en-US" sz="1500" i="1" dirty="0">
                <a:solidFill>
                  <a:srgbClr val="000000"/>
                </a:solidFill>
                <a:latin typeface="Arial" pitchFamily="34" charset="0"/>
                <a:ea typeface="Arial" pitchFamily="34" charset="-122"/>
                <a:cs typeface="Arial" pitchFamily="34" charset="-120"/>
              </a:rPr>
              <a:t>how well</a:t>
            </a:r>
            <a:r>
              <a:rPr lang="en-US" sz="1500" dirty="0">
                <a:solidFill>
                  <a:srgbClr val="000000"/>
                </a:solidFill>
                <a:latin typeface="Arial" pitchFamily="34" charset="0"/>
                <a:ea typeface="Arial" pitchFamily="34" charset="-122"/>
                <a:cs typeface="Arial" pitchFamily="34" charset="-120"/>
              </a:rPr>
              <a:t> it does something?”</a:t>
            </a:r>
            <a:endParaRPr lang="en-US" sz="1500" dirty="0"/>
          </a:p>
        </p:txBody>
      </p:sp>
      <p:sp>
        <p:nvSpPr>
          <p:cNvPr id="19" name="Text 15"/>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Examples: kiosk Mini SRS</a:t>
            </a:r>
            <a:endParaRPr lang="en-US" sz="1200" dirty="0"/>
          </a:p>
        </p:txBody>
      </p:sp>
      <p:sp>
        <p:nvSpPr>
          <p:cNvPr id="20" name="Text 16"/>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Quality attributes: ISO/IEC 25010:2023</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282700"/>
          <a:ext cx="10553700" cy="3859610"/>
        </p:xfrm>
        <a:graphic>
          <a:graphicData uri="http://schemas.openxmlformats.org/drawingml/2006/table">
            <a:tbl>
              <a:tblPr/>
              <a:tblGrid>
                <a:gridCol w="2955036">
                  <a:extLst>
                    <a:ext uri="{9D8B030D-6E8A-4147-A177-3AD203B41FA5}">
                      <a16:colId xmlns:a16="http://schemas.microsoft.com/office/drawing/2014/main" val="20000"/>
                    </a:ext>
                  </a:extLst>
                </a:gridCol>
                <a:gridCol w="3482721">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Characteristic</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Includes, e.g.</a:t>
                      </a:r>
                      <a:endParaRPr lang="en-US" sz="1400" dirty="0">
                        <a:latin typeface="Arial" charset="0"/>
                        <a:ea typeface="Arial" charset="0"/>
                        <a:cs typeface="Arial" charset="0"/>
                      </a:endParaRPr>
                    </a:p>
                  </a:txBody>
                  <a:tcPr marL="62230" marR="62230" marT="62230" marB="6223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In the kiosk</a:t>
                      </a:r>
                      <a:endParaRPr lang="en-US" sz="1400" dirty="0">
                        <a:latin typeface="Arial" charset="0"/>
                        <a:ea typeface="Arial" charset="0"/>
                        <a:cs typeface="Arial" charset="0"/>
                      </a:endParaRPr>
                    </a:p>
                  </a:txBody>
                  <a:tcPr marL="62230" marR="62230" marT="62230" marB="6223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Functional suitability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completeness, correctness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total includes extras and promotions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Performance efficiency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time behaviour, resources, capacity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NFR1 (menu &lt; 2 s), NFR2 (50 sessions)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Compatibility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co-existence, interoperability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integration with the kitchen system</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Interaction capability*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learnability, accessibility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NFR4 (simple order &lt; 3 min)</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Reliability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availability, fault tolerance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NFR3 (≥ 99% in opening hours)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Security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confidentiality, integrity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NFR5 (no card data stored)</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Maintainability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modularity, testability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new product without a new release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Flexibility*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adaptability, scalability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open a new store without code changes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Safety*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avoiding harm to people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allergens always visible (BR2)</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2"/>
          <p:cNvSpPr/>
          <p:nvPr/>
        </p:nvSpPr>
        <p:spPr>
          <a:xfrm>
            <a:off x="812800" y="5269309"/>
            <a:ext cx="1088339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 Changes from the 2011 edition: interaction capability replaces usability, flexibility replaces portability, and safety is new. Classic alternative: FURPS+ (Grady, HP).</a:t>
            </a:r>
            <a:endParaRPr lang="en-US" sz="1200" dirty="0"/>
          </a:p>
        </p:txBody>
      </p:sp>
      <p:sp>
        <p:nvSpPr>
          <p:cNvPr id="7" name="Text 3"/>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8" name="Text 4"/>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893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2643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Peer Instruction: classify</a:t>
            </a:r>
            <a:endParaRPr lang="en-US" sz="2600" dirty="0"/>
          </a:p>
        </p:txBody>
      </p:sp>
      <p:sp>
        <p:nvSpPr>
          <p:cNvPr id="5" name="Text 2"/>
          <p:cNvSpPr/>
          <p:nvPr/>
        </p:nvSpPr>
        <p:spPr>
          <a:xfrm>
            <a:off x="812800" y="127000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1</a:t>
            </a:r>
            <a:r>
              <a:rPr lang="en-US" sz="1500" dirty="0">
                <a:solidFill>
                  <a:srgbClr val="000000"/>
                </a:solidFill>
                <a:latin typeface="Arial" pitchFamily="34" charset="0"/>
                <a:ea typeface="Arial" pitchFamily="34" charset="-122"/>
                <a:cs typeface="Arial" pitchFamily="34" charset="-120"/>
              </a:rPr>
              <a:t> · 90% of first-time kiosk customers shall complete a simple order without help.</a:t>
            </a:r>
            <a:endParaRPr lang="en-US" sz="1500" dirty="0"/>
          </a:p>
        </p:txBody>
      </p:sp>
      <p:sp>
        <p:nvSpPr>
          <p:cNvPr id="6" name="Text 3"/>
          <p:cNvSpPr/>
          <p:nvPr/>
        </p:nvSpPr>
        <p:spPr>
          <a:xfrm>
            <a:off x="812800" y="169545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2</a:t>
            </a:r>
            <a:r>
              <a:rPr lang="en-US" sz="1500" dirty="0">
                <a:solidFill>
                  <a:srgbClr val="000000"/>
                </a:solidFill>
                <a:latin typeface="Arial" pitchFamily="34" charset="0"/>
                <a:ea typeface="Arial" pitchFamily="34" charset="-122"/>
                <a:cs typeface="Arial" pitchFamily="34" charset="-120"/>
              </a:rPr>
              <a:t> · The system shall allow ingredients to be removed from a customizable product.</a:t>
            </a:r>
            <a:endParaRPr lang="en-US" sz="1500" dirty="0"/>
          </a:p>
        </p:txBody>
      </p:sp>
      <p:sp>
        <p:nvSpPr>
          <p:cNvPr id="7" name="Text 4"/>
          <p:cNvSpPr/>
          <p:nvPr/>
        </p:nvSpPr>
        <p:spPr>
          <a:xfrm>
            <a:off x="812800" y="2120900"/>
            <a:ext cx="7645400" cy="62230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3</a:t>
            </a:r>
            <a:r>
              <a:rPr lang="en-US" sz="1500" dirty="0">
                <a:solidFill>
                  <a:srgbClr val="000000"/>
                </a:solidFill>
                <a:latin typeface="Arial" pitchFamily="34" charset="0"/>
                <a:ea typeface="Arial" pitchFamily="34" charset="-122"/>
                <a:cs typeface="Arial" pitchFamily="34" charset="-120"/>
              </a:rPr>
              <a:t> · The initial menu shall appear within 2 s of touching the screen, in 95% of interactions.</a:t>
            </a:r>
            <a:endParaRPr lang="en-US" sz="1500" dirty="0"/>
          </a:p>
        </p:txBody>
      </p:sp>
      <p:sp>
        <p:nvSpPr>
          <p:cNvPr id="8" name="Text 5"/>
          <p:cNvSpPr/>
          <p:nvPr/>
        </p:nvSpPr>
        <p:spPr>
          <a:xfrm>
            <a:off x="812800" y="2794000"/>
            <a:ext cx="7645400" cy="62230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4</a:t>
            </a:r>
            <a:r>
              <a:rPr lang="en-US" sz="1500" dirty="0">
                <a:solidFill>
                  <a:srgbClr val="000000"/>
                </a:solidFill>
                <a:latin typeface="Arial" pitchFamily="34" charset="0"/>
                <a:ea typeface="Arial" pitchFamily="34" charset="-122"/>
                <a:cs typeface="Arial" pitchFamily="34" charset="-120"/>
              </a:rPr>
              <a:t> · If the payment terminal does not respond, the system shall keep the order and allow a retry.</a:t>
            </a:r>
            <a:endParaRPr lang="en-US" sz="1500" dirty="0"/>
          </a:p>
        </p:txBody>
      </p:sp>
      <p:sp>
        <p:nvSpPr>
          <p:cNvPr id="9" name="Text 6"/>
          <p:cNvSpPr/>
          <p:nvPr/>
        </p:nvSpPr>
        <p:spPr>
          <a:xfrm>
            <a:off x="812800" y="346710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5</a:t>
            </a:r>
            <a:r>
              <a:rPr lang="en-US" sz="1500" dirty="0">
                <a:solidFill>
                  <a:srgbClr val="000000"/>
                </a:solidFill>
                <a:latin typeface="Arial" pitchFamily="34" charset="0"/>
                <a:ea typeface="Arial" pitchFamily="34" charset="-122"/>
                <a:cs typeface="Arial" pitchFamily="34" charset="-120"/>
              </a:rPr>
              <a:t> · Outside 08:00–23:00, no new orders are accepted.</a:t>
            </a:r>
            <a:endParaRPr lang="en-US" sz="1500" dirty="0"/>
          </a:p>
        </p:txBody>
      </p:sp>
      <p:sp>
        <p:nvSpPr>
          <p:cNvPr id="10" name="Text 7"/>
          <p:cNvSpPr/>
          <p:nvPr/>
        </p:nvSpPr>
        <p:spPr>
          <a:xfrm>
            <a:off x="812800" y="389255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6</a:t>
            </a:r>
            <a:r>
              <a:rPr lang="en-US" sz="1500" dirty="0">
                <a:solidFill>
                  <a:srgbClr val="000000"/>
                </a:solidFill>
                <a:latin typeface="Arial" pitchFamily="34" charset="0"/>
                <a:ea typeface="Arial" pitchFamily="34" charset="-122"/>
                <a:cs typeface="Arial" pitchFamily="34" charset="-120"/>
              </a:rPr>
              <a:t> · The system shall be intuitive and easy to use.</a:t>
            </a:r>
            <a:endParaRPr lang="en-US" sz="1500" dirty="0"/>
          </a:p>
        </p:txBody>
      </p:sp>
      <p:sp>
        <p:nvSpPr>
          <p:cNvPr id="11" name="Text 8"/>
          <p:cNvSpPr/>
          <p:nvPr/>
        </p:nvSpPr>
        <p:spPr>
          <a:xfrm>
            <a:off x="812800" y="431800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7</a:t>
            </a:r>
            <a:r>
              <a:rPr lang="en-US" sz="1500" dirty="0">
                <a:solidFill>
                  <a:srgbClr val="000000"/>
                </a:solidFill>
                <a:latin typeface="Arial" pitchFamily="34" charset="0"/>
                <a:ea typeface="Arial" pitchFamily="34" charset="-122"/>
                <a:cs typeface="Arial" pitchFamily="34" charset="-120"/>
              </a:rPr>
              <a:t> · The kiosk shall integrate with the store's existing kitchen system.</a:t>
            </a:r>
            <a:endParaRPr lang="en-US" sz="1500" dirty="0"/>
          </a:p>
        </p:txBody>
      </p:sp>
      <p:sp>
        <p:nvSpPr>
          <p:cNvPr id="12" name="Text 9"/>
          <p:cNvSpPr/>
          <p:nvPr/>
        </p:nvSpPr>
        <p:spPr>
          <a:xfrm>
            <a:off x="812800" y="4743450"/>
            <a:ext cx="7645400" cy="374650"/>
          </a:xfrm>
          <a:prstGeom prst="rect">
            <a:avLst/>
          </a:prstGeom>
          <a:solidFill>
            <a:srgbClr val="DBEFC1"/>
          </a:solidFill>
          <a:ln/>
        </p:spPr>
        <p:txBody>
          <a:bodyPr wrap="square" lIns="152400" tIns="63500" rIns="0" bIns="3810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8</a:t>
            </a:r>
            <a:r>
              <a:rPr lang="en-US" sz="1500" dirty="0">
                <a:solidFill>
                  <a:srgbClr val="000000"/>
                </a:solidFill>
                <a:latin typeface="Arial" pitchFamily="34" charset="0"/>
                <a:ea typeface="Arial" pitchFamily="34" charset="-122"/>
                <a:cs typeface="Arial" pitchFamily="34" charset="-120"/>
              </a:rPr>
              <a:t> · Reduce average waiting time at peak hours by [x]%.</a:t>
            </a:r>
            <a:endParaRPr lang="en-US" sz="1500" dirty="0"/>
          </a:p>
        </p:txBody>
      </p:sp>
      <p:sp>
        <p:nvSpPr>
          <p:cNvPr id="13" name="Text 10"/>
          <p:cNvSpPr/>
          <p:nvPr/>
        </p:nvSpPr>
        <p:spPr>
          <a:xfrm>
            <a:off x="8712200" y="1270000"/>
            <a:ext cx="27470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Arial" pitchFamily="34" charset="0"/>
                <a:ea typeface="Arial" pitchFamily="34" charset="-122"/>
                <a:cs typeface="Arial" pitchFamily="34" charset="-120"/>
              </a:rPr>
              <a:t>Categories</a:t>
            </a:r>
            <a:endParaRPr lang="en-US" sz="1300" dirty="0"/>
          </a:p>
        </p:txBody>
      </p:sp>
      <p:sp>
        <p:nvSpPr>
          <p:cNvPr id="14" name="Text 11"/>
          <p:cNvSpPr/>
          <p:nvPr/>
        </p:nvSpPr>
        <p:spPr>
          <a:xfrm>
            <a:off x="8712200" y="1564580"/>
            <a:ext cx="2667000" cy="340320"/>
          </a:xfrm>
          <a:prstGeom prst="rect">
            <a:avLst/>
          </a:prstGeom>
          <a:solidFill>
            <a:srgbClr val="92D400"/>
          </a:solidFill>
          <a:ln/>
        </p:spPr>
        <p:txBody>
          <a:bodyPr wrap="square" lIns="127000" tIns="63500" rIns="54610" bIns="3810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BUS</a:t>
            </a:r>
            <a:r>
              <a:rPr lang="en-US" sz="1200" dirty="0">
                <a:solidFill>
                  <a:srgbClr val="000000"/>
                </a:solidFill>
                <a:latin typeface="Arial" pitchFamily="34" charset="0"/>
                <a:ea typeface="Arial" pitchFamily="34" charset="-122"/>
                <a:cs typeface="Arial" pitchFamily="34" charset="-120"/>
              </a:rPr>
              <a:t> business objective</a:t>
            </a:r>
            <a:endParaRPr lang="en-US" sz="1200" dirty="0"/>
          </a:p>
        </p:txBody>
      </p:sp>
      <p:sp>
        <p:nvSpPr>
          <p:cNvPr id="15" name="Text 12"/>
          <p:cNvSpPr/>
          <p:nvPr/>
        </p:nvSpPr>
        <p:spPr>
          <a:xfrm>
            <a:off x="8712200" y="1968401"/>
            <a:ext cx="2667000" cy="340320"/>
          </a:xfrm>
          <a:prstGeom prst="rect">
            <a:avLst/>
          </a:prstGeom>
          <a:solidFill>
            <a:srgbClr val="92D400"/>
          </a:solidFill>
          <a:ln/>
        </p:spPr>
        <p:txBody>
          <a:bodyPr wrap="square" lIns="127000" tIns="63500" rIns="54610" bIns="3810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FUN</a:t>
            </a:r>
            <a:r>
              <a:rPr lang="en-US" sz="1200" dirty="0">
                <a:solidFill>
                  <a:srgbClr val="000000"/>
                </a:solidFill>
                <a:latin typeface="Arial" pitchFamily="34" charset="0"/>
                <a:ea typeface="Arial" pitchFamily="34" charset="-122"/>
                <a:cs typeface="Arial" pitchFamily="34" charset="-120"/>
              </a:rPr>
              <a:t> functional</a:t>
            </a:r>
            <a:endParaRPr lang="en-US" sz="1200" dirty="0"/>
          </a:p>
        </p:txBody>
      </p:sp>
      <p:sp>
        <p:nvSpPr>
          <p:cNvPr id="16" name="Text 13"/>
          <p:cNvSpPr/>
          <p:nvPr/>
        </p:nvSpPr>
        <p:spPr>
          <a:xfrm>
            <a:off x="8712200" y="2372221"/>
            <a:ext cx="2667000" cy="340320"/>
          </a:xfrm>
          <a:prstGeom prst="rect">
            <a:avLst/>
          </a:prstGeom>
          <a:solidFill>
            <a:srgbClr val="92D400"/>
          </a:solidFill>
          <a:ln/>
        </p:spPr>
        <p:txBody>
          <a:bodyPr wrap="square" lIns="127000" tIns="63500" rIns="54610" bIns="3810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QUA</a:t>
            </a:r>
            <a:r>
              <a:rPr lang="en-US" sz="1200" dirty="0">
                <a:solidFill>
                  <a:srgbClr val="000000"/>
                </a:solidFill>
                <a:latin typeface="Arial" pitchFamily="34" charset="0"/>
                <a:ea typeface="Arial" pitchFamily="34" charset="-122"/>
                <a:cs typeface="Arial" pitchFamily="34" charset="-120"/>
              </a:rPr>
              <a:t> quality attribute (which?)</a:t>
            </a:r>
            <a:endParaRPr lang="en-US" sz="1200" dirty="0"/>
          </a:p>
        </p:txBody>
      </p:sp>
      <p:sp>
        <p:nvSpPr>
          <p:cNvPr id="17" name="Text 14"/>
          <p:cNvSpPr/>
          <p:nvPr/>
        </p:nvSpPr>
        <p:spPr>
          <a:xfrm>
            <a:off x="8712200" y="2776041"/>
            <a:ext cx="2667000" cy="340320"/>
          </a:xfrm>
          <a:prstGeom prst="rect">
            <a:avLst/>
          </a:prstGeom>
          <a:solidFill>
            <a:srgbClr val="92D400"/>
          </a:solidFill>
          <a:ln/>
        </p:spPr>
        <p:txBody>
          <a:bodyPr wrap="square" lIns="127000" tIns="63500" rIns="54610" bIns="3810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RUL</a:t>
            </a:r>
            <a:r>
              <a:rPr lang="en-US" sz="1200" dirty="0">
                <a:solidFill>
                  <a:srgbClr val="000000"/>
                </a:solidFill>
                <a:latin typeface="Arial" pitchFamily="34" charset="0"/>
                <a:ea typeface="Arial" pitchFamily="34" charset="-122"/>
                <a:cs typeface="Arial" pitchFamily="34" charset="-120"/>
              </a:rPr>
              <a:t> business rule</a:t>
            </a:r>
            <a:endParaRPr lang="en-US" sz="1200" dirty="0"/>
          </a:p>
        </p:txBody>
      </p:sp>
      <p:sp>
        <p:nvSpPr>
          <p:cNvPr id="18" name="Text 15"/>
          <p:cNvSpPr/>
          <p:nvPr/>
        </p:nvSpPr>
        <p:spPr>
          <a:xfrm>
            <a:off x="8712200" y="3179862"/>
            <a:ext cx="2667000" cy="553641"/>
          </a:xfrm>
          <a:prstGeom prst="rect">
            <a:avLst/>
          </a:prstGeom>
          <a:solidFill>
            <a:srgbClr val="92D400"/>
          </a:solidFill>
          <a:ln/>
        </p:spPr>
        <p:txBody>
          <a:bodyPr wrap="square" lIns="127000" tIns="63500" rIns="54610" bIns="3810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CON</a:t>
            </a:r>
            <a:r>
              <a:rPr lang="en-US" sz="1200" dirty="0">
                <a:solidFill>
                  <a:srgbClr val="000000"/>
                </a:solidFill>
                <a:latin typeface="Arial" pitchFamily="34" charset="0"/>
                <a:ea typeface="Arial" pitchFamily="34" charset="-122"/>
                <a:cs typeface="Arial" pitchFamily="34" charset="-120"/>
              </a:rPr>
              <a:t> constraint or external interface</a:t>
            </a:r>
            <a:endParaRPr lang="en-US" sz="1200" dirty="0"/>
          </a:p>
        </p:txBody>
      </p:sp>
      <p:sp>
        <p:nvSpPr>
          <p:cNvPr id="19" name="Text 16"/>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20" name="Text 17"/>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Peer Instruction: suggested answers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84300"/>
          <a:ext cx="10553700" cy="2993229"/>
        </p:xfrm>
        <a:graphic>
          <a:graphicData uri="http://schemas.openxmlformats.org/drawingml/2006/table">
            <a:tbl>
              <a:tblPr/>
              <a:tblGrid>
                <a:gridCol w="633222">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6754368">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Category</a:t>
                      </a:r>
                      <a:endParaRPr lang="en-US" sz="1200" dirty="0">
                        <a:latin typeface="Arial" charset="0"/>
                        <a:ea typeface="Arial" charset="0"/>
                        <a:cs typeface="Arial" charset="0"/>
                      </a:endParaRPr>
                    </a:p>
                  </a:txBody>
                  <a:tcPr marL="53340" marR="53340" marT="53340" marB="5334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Comment</a:t>
                      </a:r>
                      <a:endParaRPr lang="en-US" sz="1200" dirty="0">
                        <a:latin typeface="Arial" charset="0"/>
                        <a:ea typeface="Arial" charset="0"/>
                        <a:cs typeface="Arial" charset="0"/>
                      </a:endParaRPr>
                    </a:p>
                  </a:txBody>
                  <a:tcPr marL="53340" marR="53340" marT="53340" marB="5334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QUA: interaction capability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Verifiable: metric and population are defined.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FUN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Observable behaviour; refines FR3.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QUA: performance efficiency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Verifiable; the “95%” condition avoids “always”.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FUN, driven by reliability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Debatable: behaviour on failure (EARS “If… then” pattern).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RUL (BR1)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Organizational rule; gives rise to an FR that blocks orders.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QUA, poorly written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Not verifiable: rewrite with a metric (like statement 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CON / external interface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Limits the solution; the interface still needs specifying.</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BUS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Organizational goal; needs a target and a deadline.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2"/>
          <p:cNvSpPr/>
          <p:nvPr/>
        </p:nvSpPr>
        <p:spPr>
          <a:xfrm>
            <a:off x="812800" y="4555331"/>
            <a:ext cx="10883392" cy="52070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Lesson:</a:t>
            </a:r>
            <a:r>
              <a:rPr lang="en-US" sz="1500" dirty="0">
                <a:solidFill>
                  <a:srgbClr val="000000"/>
                </a:solidFill>
                <a:latin typeface="Arial" pitchFamily="34" charset="0"/>
                <a:ea typeface="Arial" pitchFamily="34" charset="-122"/>
                <a:cs typeface="Arial" pitchFamily="34" charset="-120"/>
              </a:rPr>
              <a:t> classifying helps you ask the right questions (how is it measured? where does it come from? what does it constrain?), but the boundaries are not always sharp.</a:t>
            </a:r>
            <a:endParaRPr lang="en-US" sz="1500" dirty="0"/>
          </a:p>
        </p:txBody>
      </p:sp>
      <p:sp>
        <p:nvSpPr>
          <p:cNvPr id="7" name="Text 3"/>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8" name="Text 4"/>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Video: exact instructions</a:t>
            </a:r>
            <a:endParaRPr lang="en-US" sz="2600" dirty="0"/>
          </a:p>
        </p:txBody>
      </p:sp>
      <p:sp>
        <p:nvSpPr>
          <p:cNvPr id="5" name="Shape 2"/>
          <p:cNvSpPr/>
          <p:nvPr/>
        </p:nvSpPr>
        <p:spPr>
          <a:xfrm>
            <a:off x="812800" y="1371600"/>
            <a:ext cx="10566400" cy="1473200"/>
          </a:xfrm>
          <a:prstGeom prst="rect">
            <a:avLst/>
          </a:prstGeom>
          <a:solidFill>
            <a:srgbClr val="DBEFC1"/>
          </a:solidFill>
          <a:ln/>
        </p:spPr>
        <p:txBody>
          <a:bodyPr/>
          <a:lstStyle/>
          <a:p>
            <a:endParaRPr lang="pt-PT"/>
          </a:p>
        </p:txBody>
      </p:sp>
      <p:sp>
        <p:nvSpPr>
          <p:cNvPr id="6" name="Shape 3"/>
          <p:cNvSpPr/>
          <p:nvPr/>
        </p:nvSpPr>
        <p:spPr>
          <a:xfrm>
            <a:off x="1066800" y="1600200"/>
            <a:ext cx="1016000" cy="1016000"/>
          </a:xfrm>
          <a:prstGeom prst="rect">
            <a:avLst/>
          </a:prstGeom>
          <a:solidFill>
            <a:srgbClr val="92D400"/>
          </a:solidFill>
          <a:ln/>
        </p:spPr>
        <p:txBody>
          <a:bodyPr/>
          <a:lstStyle/>
          <a:p>
            <a:endParaRPr lang="pt-PT"/>
          </a:p>
        </p:txBody>
      </p:sp>
      <p:pic>
        <p:nvPicPr>
          <p:cNvPr id="7" name="Image 1" descr="Play"/>
          <p:cNvPicPr>
            <a:picLocks noChangeAspect="1"/>
          </p:cNvPicPr>
          <p:nvPr/>
        </p:nvPicPr>
        <p:blipFill>
          <a:blip r:embed="rId4"/>
          <a:srcRect/>
          <a:stretch/>
        </p:blipFill>
        <p:spPr>
          <a:xfrm>
            <a:off x="1270000" y="1803400"/>
            <a:ext cx="609600" cy="609600"/>
          </a:xfrm>
          <a:prstGeom prst="rect">
            <a:avLst/>
          </a:prstGeom>
        </p:spPr>
      </p:pic>
      <p:sp>
        <p:nvSpPr>
          <p:cNvPr id="8" name="Text 4"/>
          <p:cNvSpPr/>
          <p:nvPr/>
        </p:nvSpPr>
        <p:spPr>
          <a:xfrm>
            <a:off x="2336800" y="1644055"/>
            <a:ext cx="90520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00000"/>
                </a:solidFill>
                <a:latin typeface="Arial" pitchFamily="34" charset="0"/>
                <a:ea typeface="Arial" pitchFamily="34" charset="-122"/>
                <a:cs typeface="Arial" pitchFamily="34" charset="-120"/>
              </a:rPr>
              <a:t>Exact Instructions Challenge: PB&amp;J (classroom version)</a:t>
            </a:r>
            <a:endParaRPr lang="en-US" sz="2000" dirty="0"/>
          </a:p>
        </p:txBody>
      </p:sp>
      <p:sp>
        <p:nvSpPr>
          <p:cNvPr id="9" name="Text 5"/>
          <p:cNvSpPr/>
          <p:nvPr/>
        </p:nvSpPr>
        <p:spPr>
          <a:xfrm>
            <a:off x="2336800" y="2025055"/>
            <a:ext cx="905205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Arial" pitchFamily="34" charset="0"/>
                <a:ea typeface="Arial" pitchFamily="34" charset="-122"/>
                <a:cs typeface="Arial" pitchFamily="34" charset="-120"/>
              </a:rPr>
              <a:t>The kids write instructions for making a sandwich; their dad follows them literally.</a:t>
            </a:r>
            <a:endParaRPr lang="en-US" sz="1400" dirty="0"/>
          </a:p>
        </p:txBody>
      </p:sp>
      <p:sp>
        <p:nvSpPr>
          <p:cNvPr id="10" name="Text 6"/>
          <p:cNvSpPr/>
          <p:nvPr/>
        </p:nvSpPr>
        <p:spPr>
          <a:xfrm>
            <a:off x="2336800" y="2341265"/>
            <a:ext cx="9052052" cy="256480"/>
          </a:xfrm>
          <a:prstGeom prst="rect">
            <a:avLst/>
          </a:prstGeom>
          <a:noFill/>
          <a:ln/>
        </p:spPr>
        <p:txBody>
          <a:bodyPr wrap="square" lIns="0" tIns="0" rIns="0" bIns="0" rtlCol="0" anchor="t">
            <a:normAutofit/>
          </a:bodyPr>
          <a:lstStyle/>
          <a:p>
            <a:pPr marL="0" indent="0" algn="l">
              <a:lnSpc>
                <a:spcPts val="1820"/>
              </a:lnSpc>
              <a:buNone/>
            </a:pPr>
            <a:r>
              <a:rPr lang="en-US" sz="1300" u="sng" dirty="0">
                <a:solidFill>
                  <a:srgbClr val="000000"/>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youtube.com/watch?v=FN2RM-CHkuI</a:t>
            </a:r>
            <a:r>
              <a:rPr lang="en-US" sz="1300" dirty="0">
                <a:solidFill>
                  <a:srgbClr val="000000"/>
                </a:solidFill>
                <a:latin typeface="Arial" pitchFamily="34" charset="0"/>
                <a:ea typeface="Arial" pitchFamily="34" charset="-122"/>
                <a:cs typeface="Arial" pitchFamily="34" charset="-120"/>
              </a:rPr>
              <a:t> · Josh Darnit (2017)</a:t>
            </a:r>
            <a:endParaRPr lang="en-US" sz="1300" dirty="0"/>
          </a:p>
        </p:txBody>
      </p:sp>
      <p:sp>
        <p:nvSpPr>
          <p:cNvPr id="11" name="Text 7"/>
          <p:cNvSpPr/>
          <p:nvPr/>
        </p:nvSpPr>
        <p:spPr>
          <a:xfrm>
            <a:off x="812800" y="3073400"/>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Arial" pitchFamily="34" charset="0"/>
                <a:ea typeface="Arial" pitchFamily="34" charset="-122"/>
                <a:cs typeface="Arial" pitchFamily="34" charset="-120"/>
              </a:rPr>
              <a:t>For discussion:</a:t>
            </a:r>
            <a:endParaRPr lang="en-US" sz="1600" dirty="0"/>
          </a:p>
        </p:txBody>
      </p:sp>
      <p:sp>
        <p:nvSpPr>
          <p:cNvPr id="12" name="Text 8"/>
          <p:cNvSpPr/>
          <p:nvPr/>
        </p:nvSpPr>
        <p:spPr>
          <a:xfrm>
            <a:off x="812800" y="3393380"/>
            <a:ext cx="4342892" cy="18288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000000"/>
                </a:solidFill>
                <a:latin typeface="Arial" pitchFamily="34" charset="0"/>
                <a:ea typeface="Arial" pitchFamily="34" charset="-122"/>
                <a:cs typeface="Arial" pitchFamily="34" charset="-120"/>
              </a:rPr>
              <a:t>Which characteristics of a good requirement were the instructions missing? What did the authors assume without saying it?</a:t>
            </a:r>
            <a:endParaRPr lang="en-US" sz="1500" dirty="0"/>
          </a:p>
        </p:txBody>
      </p:sp>
      <p:sp>
        <p:nvSpPr>
          <p:cNvPr id="13" name="Text 9"/>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4" name="Text 10"/>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Good requirements (ISO/IEC/IEEE 29148)</a:t>
            </a:r>
            <a:endParaRPr lang="en-US" sz="2600" dirty="0"/>
          </a:p>
        </p:txBody>
      </p:sp>
      <p:sp>
        <p:nvSpPr>
          <p:cNvPr id="5" name="Text 2"/>
          <p:cNvSpPr/>
          <p:nvPr/>
        </p:nvSpPr>
        <p:spPr>
          <a:xfrm>
            <a:off x="812800" y="1270000"/>
            <a:ext cx="609053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Each requirement shall be…</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17960"/>
          <a:ext cx="5900440" cy="4108450"/>
        </p:xfrm>
        <a:graphic>
          <a:graphicData uri="http://schemas.openxmlformats.org/drawingml/2006/table">
            <a:tbl>
              <a:tblPr/>
              <a:tblGrid>
                <a:gridCol w="1652123">
                  <a:extLst>
                    <a:ext uri="{9D8B030D-6E8A-4147-A177-3AD203B41FA5}">
                      <a16:colId xmlns:a16="http://schemas.microsoft.com/office/drawing/2014/main" val="20000"/>
                    </a:ext>
                  </a:extLst>
                </a:gridCol>
                <a:gridCol w="4248317">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Characteristic</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2230" marR="62230" marT="62230" marB="6223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Necessary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its absence leaves a real gap</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Appropriate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detail suited to the requirement's level</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Unambiguous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has only one interpretation</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Complete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needs no further information to be understood</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Singular</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states a single requirement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Feasible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achievable within the project's constraints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634802">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Verifiable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can be proven by inspection, analysis, demonstration or test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Correct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accurately represents the stakeholder's need</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Conforming</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follows the agreed template and conventions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Shape 3"/>
          <p:cNvSpPr/>
          <p:nvPr/>
        </p:nvSpPr>
        <p:spPr>
          <a:xfrm>
            <a:off x="6979940" y="1270000"/>
            <a:ext cx="4399260" cy="4456410"/>
          </a:xfrm>
          <a:prstGeom prst="rect">
            <a:avLst/>
          </a:prstGeom>
          <a:solidFill>
            <a:srgbClr val="DBEFC1"/>
          </a:solidFill>
          <a:ln/>
        </p:spPr>
        <p:txBody>
          <a:bodyPr/>
          <a:lstStyle/>
          <a:p>
            <a:endParaRPr lang="pt-PT"/>
          </a:p>
        </p:txBody>
      </p:sp>
      <p:sp>
        <p:nvSpPr>
          <p:cNvPr id="8" name="Text 4"/>
          <p:cNvSpPr/>
          <p:nvPr/>
        </p:nvSpPr>
        <p:spPr>
          <a:xfrm>
            <a:off x="7208540" y="1498600"/>
            <a:ext cx="406032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The set shall be…</a:t>
            </a:r>
            <a:endParaRPr lang="en-US" sz="1700" dirty="0"/>
          </a:p>
        </p:txBody>
      </p:sp>
      <p:sp>
        <p:nvSpPr>
          <p:cNvPr id="9" name="Text 5"/>
          <p:cNvSpPr/>
          <p:nvPr/>
        </p:nvSpPr>
        <p:spPr>
          <a:xfrm>
            <a:off x="7208540" y="1859260"/>
            <a:ext cx="4060322" cy="1454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000000"/>
                </a:solidFill>
                <a:latin typeface="Arial" pitchFamily="34" charset="0"/>
                <a:ea typeface="Arial" pitchFamily="34" charset="-122"/>
                <a:cs typeface="Arial" pitchFamily="34" charset="-120"/>
              </a:rPr>
              <a:t>Complete</a:t>
            </a:r>
            <a:endParaRPr lang="en-US" sz="1500" dirty="0"/>
          </a:p>
          <a:p>
            <a:pPr marL="0" indent="0" algn="l">
              <a:lnSpc>
                <a:spcPts val="2250"/>
              </a:lnSpc>
              <a:buNone/>
            </a:pPr>
            <a:r>
              <a:rPr lang="en-US" sz="1500" dirty="0">
                <a:solidFill>
                  <a:srgbClr val="000000"/>
                </a:solidFill>
                <a:latin typeface="Arial" pitchFamily="34" charset="0"/>
                <a:ea typeface="Arial" pitchFamily="34" charset="-122"/>
                <a:cs typeface="Arial" pitchFamily="34" charset="-120"/>
              </a:rPr>
              <a:t>Consistent (no conflicts)</a:t>
            </a:r>
            <a:endParaRPr lang="en-US" sz="1500" dirty="0"/>
          </a:p>
          <a:p>
            <a:pPr marL="0" indent="0" algn="l">
              <a:lnSpc>
                <a:spcPts val="2250"/>
              </a:lnSpc>
              <a:buNone/>
            </a:pPr>
            <a:r>
              <a:rPr lang="en-US" sz="1500" dirty="0">
                <a:solidFill>
                  <a:srgbClr val="000000"/>
                </a:solidFill>
                <a:latin typeface="Arial" pitchFamily="34" charset="0"/>
                <a:ea typeface="Arial" pitchFamily="34" charset="-122"/>
                <a:cs typeface="Arial" pitchFamily="34" charset="-120"/>
              </a:rPr>
              <a:t>Feasible as a whole</a:t>
            </a:r>
            <a:endParaRPr lang="en-US" sz="1500" dirty="0"/>
          </a:p>
          <a:p>
            <a:pPr marL="0" indent="0" algn="l">
              <a:lnSpc>
                <a:spcPts val="2250"/>
              </a:lnSpc>
              <a:buNone/>
            </a:pPr>
            <a:r>
              <a:rPr lang="en-US" sz="1500" dirty="0">
                <a:solidFill>
                  <a:srgbClr val="000000"/>
                </a:solidFill>
                <a:latin typeface="Arial" pitchFamily="34" charset="0"/>
                <a:ea typeface="Arial" pitchFamily="34" charset="-122"/>
                <a:cs typeface="Arial" pitchFamily="34" charset="-120"/>
              </a:rPr>
              <a:t>Comprehensible</a:t>
            </a:r>
            <a:endParaRPr lang="en-US" sz="1500" dirty="0"/>
          </a:p>
          <a:p>
            <a:pPr marL="0" indent="0" algn="l">
              <a:lnSpc>
                <a:spcPts val="2250"/>
              </a:lnSpc>
              <a:buNone/>
            </a:pPr>
            <a:r>
              <a:rPr lang="en-US" sz="1500" dirty="0">
                <a:solidFill>
                  <a:srgbClr val="000000"/>
                </a:solidFill>
                <a:latin typeface="Arial" pitchFamily="34" charset="0"/>
                <a:ea typeface="Arial" pitchFamily="34" charset="-122"/>
                <a:cs typeface="Arial" pitchFamily="34" charset="-120"/>
              </a:rPr>
              <a:t>Able to be validated</a:t>
            </a:r>
            <a:endParaRPr lang="en-US" sz="1500" dirty="0"/>
          </a:p>
        </p:txBody>
      </p:sp>
      <p:sp>
        <p:nvSpPr>
          <p:cNvPr id="10" name="Text 6"/>
          <p:cNvSpPr/>
          <p:nvPr/>
        </p:nvSpPr>
        <p:spPr>
          <a:xfrm>
            <a:off x="7208540" y="5233690"/>
            <a:ext cx="406032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000000"/>
                </a:solidFill>
                <a:latin typeface="Arial" pitchFamily="34" charset="0"/>
                <a:ea typeface="Arial" pitchFamily="34" charset="-122"/>
                <a:cs typeface="Arial" pitchFamily="34" charset="-120"/>
              </a:rPr>
              <a:t>Quick test:</a:t>
            </a:r>
            <a:r>
              <a:rPr lang="en-US" sz="1600" dirty="0">
                <a:solidFill>
                  <a:srgbClr val="000000"/>
                </a:solidFill>
                <a:latin typeface="Arial" pitchFamily="34" charset="0"/>
                <a:ea typeface="Arial" pitchFamily="34" charset="-122"/>
                <a:cs typeface="Arial" pitchFamily="34" charset="-120"/>
              </a:rPr>
              <a:t> “how would I test this?”</a:t>
            </a:r>
            <a:endParaRPr lang="en-US" sz="1600" dirty="0"/>
          </a:p>
        </p:txBody>
      </p:sp>
      <p:sp>
        <p:nvSpPr>
          <p:cNvPr id="11" name="Text 7"/>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ISO/IEC/IEEE 29148:2018, 5.2.5–5.2.6 (paraphrased)</a:t>
            </a:r>
            <a:endParaRPr lang="en-US" sz="1200" dirty="0"/>
          </a:p>
        </p:txBody>
      </p:sp>
      <p:sp>
        <p:nvSpPr>
          <p:cNvPr id="12" name="Text 8"/>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Writing aids: SMART and EARS</a:t>
            </a:r>
            <a:endParaRPr lang="en-US" sz="2600" dirty="0"/>
          </a:p>
        </p:txBody>
      </p:sp>
      <p:sp>
        <p:nvSpPr>
          <p:cNvPr id="5" name="Text 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19</a:t>
            </a:r>
            <a:endParaRPr lang="en-US" sz="1200" dirty="0"/>
          </a:p>
        </p:txBody>
      </p:sp>
      <p:sp>
        <p:nvSpPr>
          <p:cNvPr id="7" name="Shape 4"/>
          <p:cNvSpPr/>
          <p:nvPr/>
        </p:nvSpPr>
        <p:spPr>
          <a:xfrm>
            <a:off x="812800" y="1270000"/>
            <a:ext cx="3556000" cy="4635500"/>
          </a:xfrm>
          <a:prstGeom prst="rect">
            <a:avLst/>
          </a:prstGeom>
          <a:solidFill>
            <a:srgbClr val="DBEFC1"/>
          </a:solidFill>
          <a:ln/>
        </p:spPr>
        <p:txBody>
          <a:bodyPr/>
          <a:lstStyle/>
          <a:p>
            <a:endParaRPr lang="pt-PT"/>
          </a:p>
        </p:txBody>
      </p:sp>
      <p:sp>
        <p:nvSpPr>
          <p:cNvPr id="8" name="Text 5"/>
          <p:cNvSpPr/>
          <p:nvPr/>
        </p:nvSpPr>
        <p:spPr>
          <a:xfrm>
            <a:off x="1016000" y="1473200"/>
            <a:ext cx="324408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SMART</a:t>
            </a:r>
            <a:endParaRPr lang="en-US" sz="1700" dirty="0"/>
          </a:p>
        </p:txBody>
      </p:sp>
      <p:sp>
        <p:nvSpPr>
          <p:cNvPr id="9" name="Text 6"/>
          <p:cNvSpPr/>
          <p:nvPr/>
        </p:nvSpPr>
        <p:spPr>
          <a:xfrm>
            <a:off x="1016000" y="1808460"/>
            <a:ext cx="3244088"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Quick checklist for quality requirements (Wiegers &amp; Beatty, ch. 14)</a:t>
            </a:r>
            <a:endParaRPr lang="en-US" sz="1200" dirty="0"/>
          </a:p>
        </p:txBody>
      </p:sp>
      <p:sp>
        <p:nvSpPr>
          <p:cNvPr id="10" name="Text 7"/>
          <p:cNvSpPr/>
          <p:nvPr/>
        </p:nvSpPr>
        <p:spPr>
          <a:xfrm>
            <a:off x="1016000" y="2280741"/>
            <a:ext cx="457200" cy="457200"/>
          </a:xfrm>
          <a:prstGeom prst="rect">
            <a:avLst/>
          </a:prstGeom>
          <a:solidFill>
            <a:srgbClr val="92D400"/>
          </a:solidFill>
          <a:ln/>
        </p:spPr>
        <p:txBody>
          <a:bodyPr wrap="square" lIns="0" tIns="0" rIns="0" bIns="0" rtlCol="0" anchor="ctr">
            <a:normAutofit/>
          </a:bodyPr>
          <a:lstStyle/>
          <a:p>
            <a:pPr marL="0" indent="0" algn="ctr">
              <a:lnSpc>
                <a:spcPts val="3080"/>
              </a:lnSpc>
              <a:buNone/>
            </a:pPr>
            <a:r>
              <a:rPr lang="en-US" sz="2200" b="1" dirty="0">
                <a:solidFill>
                  <a:srgbClr val="000000"/>
                </a:solidFill>
                <a:latin typeface="Arial" pitchFamily="34" charset="0"/>
                <a:ea typeface="Arial" pitchFamily="34" charset="-122"/>
                <a:cs typeface="Arial" pitchFamily="34" charset="-120"/>
              </a:rPr>
              <a:t>S</a:t>
            </a:r>
            <a:endParaRPr lang="en-US" sz="2200" dirty="0"/>
          </a:p>
        </p:txBody>
      </p:sp>
      <p:sp>
        <p:nvSpPr>
          <p:cNvPr id="11" name="Text 8"/>
          <p:cNvSpPr/>
          <p:nvPr/>
        </p:nvSpPr>
        <p:spPr>
          <a:xfrm>
            <a:off x="1600200" y="2302966"/>
            <a:ext cx="251472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00000"/>
                </a:solidFill>
                <a:latin typeface="Arial" pitchFamily="34" charset="0"/>
                <a:ea typeface="Arial" pitchFamily="34" charset="-122"/>
                <a:cs typeface="Arial" pitchFamily="34" charset="-120"/>
              </a:rPr>
              <a:t>Specific</a:t>
            </a:r>
            <a:endParaRPr lang="en-US" sz="1300" dirty="0"/>
          </a:p>
          <a:p>
            <a:pPr marL="0" indent="0" algn="l">
              <a:lnSpc>
                <a:spcPts val="1625"/>
              </a:lnSpc>
              <a:buNone/>
            </a:pPr>
            <a:r>
              <a:rPr lang="en-US" sz="1300" dirty="0">
                <a:solidFill>
                  <a:srgbClr val="000000"/>
                </a:solidFill>
                <a:latin typeface="Arial" pitchFamily="34" charset="0"/>
                <a:ea typeface="Arial" pitchFamily="34" charset="-122"/>
                <a:cs typeface="Arial" pitchFamily="34" charset="-120"/>
              </a:rPr>
              <a:t>one clear meaning; unambiguous</a:t>
            </a:r>
            <a:endParaRPr lang="en-US" sz="1300" dirty="0"/>
          </a:p>
        </p:txBody>
      </p:sp>
      <p:sp>
        <p:nvSpPr>
          <p:cNvPr id="12" name="Text 9"/>
          <p:cNvSpPr/>
          <p:nvPr/>
        </p:nvSpPr>
        <p:spPr>
          <a:xfrm>
            <a:off x="1016000" y="2814141"/>
            <a:ext cx="457200" cy="457200"/>
          </a:xfrm>
          <a:prstGeom prst="rect">
            <a:avLst/>
          </a:prstGeom>
          <a:solidFill>
            <a:srgbClr val="92D400"/>
          </a:solidFill>
          <a:ln/>
        </p:spPr>
        <p:txBody>
          <a:bodyPr wrap="square" lIns="0" tIns="0" rIns="0" bIns="0" rtlCol="0" anchor="ctr">
            <a:normAutofit/>
          </a:bodyPr>
          <a:lstStyle/>
          <a:p>
            <a:pPr marL="0" indent="0" algn="ctr">
              <a:lnSpc>
                <a:spcPts val="3080"/>
              </a:lnSpc>
              <a:buNone/>
            </a:pPr>
            <a:r>
              <a:rPr lang="en-US" sz="2200" b="1" dirty="0">
                <a:solidFill>
                  <a:srgbClr val="000000"/>
                </a:solidFill>
                <a:latin typeface="Arial" pitchFamily="34" charset="0"/>
                <a:ea typeface="Arial" pitchFamily="34" charset="-122"/>
                <a:cs typeface="Arial" pitchFamily="34" charset="-120"/>
              </a:rPr>
              <a:t>M</a:t>
            </a:r>
            <a:endParaRPr lang="en-US" sz="2200" dirty="0"/>
          </a:p>
        </p:txBody>
      </p:sp>
      <p:sp>
        <p:nvSpPr>
          <p:cNvPr id="13" name="Text 10"/>
          <p:cNvSpPr/>
          <p:nvPr/>
        </p:nvSpPr>
        <p:spPr>
          <a:xfrm>
            <a:off x="1600200" y="2836366"/>
            <a:ext cx="2429489"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00000"/>
                </a:solidFill>
                <a:latin typeface="Arial" pitchFamily="34" charset="0"/>
                <a:ea typeface="Arial" pitchFamily="34" charset="-122"/>
                <a:cs typeface="Arial" pitchFamily="34" charset="-120"/>
              </a:rPr>
              <a:t>Measurable</a:t>
            </a:r>
            <a:endParaRPr lang="en-US" sz="1300" dirty="0"/>
          </a:p>
          <a:p>
            <a:pPr marL="0" indent="0" algn="l">
              <a:lnSpc>
                <a:spcPts val="1625"/>
              </a:lnSpc>
              <a:buNone/>
            </a:pPr>
            <a:r>
              <a:rPr lang="en-US" sz="1300" dirty="0">
                <a:solidFill>
                  <a:srgbClr val="000000"/>
                </a:solidFill>
                <a:latin typeface="Arial" pitchFamily="34" charset="0"/>
                <a:ea typeface="Arial" pitchFamily="34" charset="-122"/>
                <a:cs typeface="Arial" pitchFamily="34" charset="-120"/>
              </a:rPr>
              <a:t>has a metric and target; tangible</a:t>
            </a:r>
            <a:endParaRPr lang="en-US" sz="1300" dirty="0"/>
          </a:p>
        </p:txBody>
      </p:sp>
      <p:sp>
        <p:nvSpPr>
          <p:cNvPr id="14" name="Text 11"/>
          <p:cNvSpPr/>
          <p:nvPr/>
        </p:nvSpPr>
        <p:spPr>
          <a:xfrm>
            <a:off x="1016000" y="3347541"/>
            <a:ext cx="457200" cy="457200"/>
          </a:xfrm>
          <a:prstGeom prst="rect">
            <a:avLst/>
          </a:prstGeom>
          <a:solidFill>
            <a:srgbClr val="92D400"/>
          </a:solidFill>
          <a:ln/>
        </p:spPr>
        <p:txBody>
          <a:bodyPr wrap="square" lIns="0" tIns="0" rIns="0" bIns="0" rtlCol="0" anchor="ctr">
            <a:normAutofit/>
          </a:bodyPr>
          <a:lstStyle/>
          <a:p>
            <a:pPr marL="0" indent="0" algn="ctr">
              <a:lnSpc>
                <a:spcPts val="3080"/>
              </a:lnSpc>
              <a:buNone/>
            </a:pPr>
            <a:r>
              <a:rPr lang="en-US" sz="2200" b="1" dirty="0">
                <a:solidFill>
                  <a:srgbClr val="000000"/>
                </a:solidFill>
                <a:latin typeface="Arial" pitchFamily="34" charset="0"/>
                <a:ea typeface="Arial" pitchFamily="34" charset="-122"/>
                <a:cs typeface="Arial" pitchFamily="34" charset="-120"/>
              </a:rPr>
              <a:t>A</a:t>
            </a:r>
            <a:endParaRPr lang="en-US" sz="2200" dirty="0"/>
          </a:p>
        </p:txBody>
      </p:sp>
      <p:sp>
        <p:nvSpPr>
          <p:cNvPr id="15" name="Text 12"/>
          <p:cNvSpPr/>
          <p:nvPr/>
        </p:nvSpPr>
        <p:spPr>
          <a:xfrm>
            <a:off x="1600200" y="3369766"/>
            <a:ext cx="2608638"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00000"/>
                </a:solidFill>
                <a:latin typeface="Arial" pitchFamily="34" charset="0"/>
                <a:ea typeface="Arial" pitchFamily="34" charset="-122"/>
                <a:cs typeface="Arial" pitchFamily="34" charset="-120"/>
              </a:rPr>
              <a:t>Attainable</a:t>
            </a:r>
            <a:endParaRPr lang="en-US" sz="1300" dirty="0"/>
          </a:p>
          <a:p>
            <a:pPr marL="0" indent="0" algn="l">
              <a:lnSpc>
                <a:spcPts val="1625"/>
              </a:lnSpc>
              <a:buNone/>
            </a:pPr>
            <a:r>
              <a:rPr lang="en-US" sz="1300" dirty="0">
                <a:solidFill>
                  <a:srgbClr val="000000"/>
                </a:solidFill>
                <a:latin typeface="Arial" pitchFamily="34" charset="0"/>
                <a:ea typeface="Arial" pitchFamily="34" charset="-122"/>
                <a:cs typeface="Arial" pitchFamily="34" charset="-120"/>
              </a:rPr>
              <a:t>feasible within constraints; realistic</a:t>
            </a:r>
            <a:endParaRPr lang="en-US" sz="1300" dirty="0"/>
          </a:p>
        </p:txBody>
      </p:sp>
      <p:sp>
        <p:nvSpPr>
          <p:cNvPr id="16" name="Text 13"/>
          <p:cNvSpPr/>
          <p:nvPr/>
        </p:nvSpPr>
        <p:spPr>
          <a:xfrm>
            <a:off x="1016000" y="3880941"/>
            <a:ext cx="457200" cy="457200"/>
          </a:xfrm>
          <a:prstGeom prst="rect">
            <a:avLst/>
          </a:prstGeom>
          <a:solidFill>
            <a:srgbClr val="92D400"/>
          </a:solidFill>
          <a:ln/>
        </p:spPr>
        <p:txBody>
          <a:bodyPr wrap="square" lIns="0" tIns="0" rIns="0" bIns="0" rtlCol="0" anchor="ctr">
            <a:normAutofit/>
          </a:bodyPr>
          <a:lstStyle/>
          <a:p>
            <a:pPr marL="0" indent="0" algn="ctr">
              <a:lnSpc>
                <a:spcPts val="3080"/>
              </a:lnSpc>
              <a:buNone/>
            </a:pPr>
            <a:r>
              <a:rPr lang="en-US" sz="2200" b="1" dirty="0">
                <a:solidFill>
                  <a:srgbClr val="000000"/>
                </a:solidFill>
                <a:latin typeface="Arial" pitchFamily="34" charset="0"/>
                <a:ea typeface="Arial" pitchFamily="34" charset="-122"/>
                <a:cs typeface="Arial" pitchFamily="34" charset="-120"/>
              </a:rPr>
              <a:t>R</a:t>
            </a:r>
            <a:endParaRPr lang="en-US" sz="2200" dirty="0"/>
          </a:p>
        </p:txBody>
      </p:sp>
      <p:sp>
        <p:nvSpPr>
          <p:cNvPr id="17" name="Text 14"/>
          <p:cNvSpPr/>
          <p:nvPr/>
        </p:nvSpPr>
        <p:spPr>
          <a:xfrm>
            <a:off x="1600200" y="3903166"/>
            <a:ext cx="2202411"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00000"/>
                </a:solidFill>
                <a:latin typeface="Arial" pitchFamily="34" charset="0"/>
                <a:ea typeface="Arial" pitchFamily="34" charset="-122"/>
                <a:cs typeface="Arial" pitchFamily="34" charset="-120"/>
              </a:rPr>
              <a:t>Relevant</a:t>
            </a:r>
            <a:endParaRPr lang="en-US" sz="1300" dirty="0"/>
          </a:p>
          <a:p>
            <a:pPr marL="0" indent="0" algn="l">
              <a:lnSpc>
                <a:spcPts val="1625"/>
              </a:lnSpc>
              <a:buNone/>
            </a:pPr>
            <a:r>
              <a:rPr lang="en-US" sz="1300" dirty="0">
                <a:solidFill>
                  <a:srgbClr val="000000"/>
                </a:solidFill>
                <a:latin typeface="Arial" pitchFamily="34" charset="0"/>
                <a:ea typeface="Arial" pitchFamily="34" charset="-122"/>
                <a:cs typeface="Arial" pitchFamily="34" charset="-120"/>
              </a:rPr>
              <a:t>serves a real need; important</a:t>
            </a:r>
            <a:endParaRPr lang="en-US" sz="1300" dirty="0"/>
          </a:p>
        </p:txBody>
      </p:sp>
      <p:sp>
        <p:nvSpPr>
          <p:cNvPr id="18" name="Text 15"/>
          <p:cNvSpPr/>
          <p:nvPr/>
        </p:nvSpPr>
        <p:spPr>
          <a:xfrm>
            <a:off x="1016000" y="4414341"/>
            <a:ext cx="457200" cy="457200"/>
          </a:xfrm>
          <a:prstGeom prst="rect">
            <a:avLst/>
          </a:prstGeom>
          <a:solidFill>
            <a:srgbClr val="92D400"/>
          </a:solidFill>
          <a:ln/>
        </p:spPr>
        <p:txBody>
          <a:bodyPr wrap="square" lIns="0" tIns="0" rIns="0" bIns="0" rtlCol="0" anchor="ctr">
            <a:normAutofit/>
          </a:bodyPr>
          <a:lstStyle/>
          <a:p>
            <a:pPr marL="0" indent="0" algn="ctr">
              <a:lnSpc>
                <a:spcPts val="3080"/>
              </a:lnSpc>
              <a:buNone/>
            </a:pPr>
            <a:r>
              <a:rPr lang="en-US" sz="2200" b="1" dirty="0">
                <a:solidFill>
                  <a:srgbClr val="000000"/>
                </a:solidFill>
                <a:latin typeface="Arial" pitchFamily="34" charset="0"/>
                <a:ea typeface="Arial" pitchFamily="34" charset="-122"/>
                <a:cs typeface="Arial" pitchFamily="34" charset="-120"/>
              </a:rPr>
              <a:t>T</a:t>
            </a:r>
            <a:endParaRPr lang="en-US" sz="2200" dirty="0"/>
          </a:p>
        </p:txBody>
      </p:sp>
      <p:sp>
        <p:nvSpPr>
          <p:cNvPr id="19" name="Text 16"/>
          <p:cNvSpPr/>
          <p:nvPr/>
        </p:nvSpPr>
        <p:spPr>
          <a:xfrm>
            <a:off x="1600200" y="4436566"/>
            <a:ext cx="2580432"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00000"/>
                </a:solidFill>
                <a:latin typeface="Arial" pitchFamily="34" charset="0"/>
                <a:ea typeface="Arial" pitchFamily="34" charset="-122"/>
                <a:cs typeface="Arial" pitchFamily="34" charset="-120"/>
              </a:rPr>
              <a:t>Time-sensitive</a:t>
            </a:r>
            <a:endParaRPr lang="en-US" sz="1300" dirty="0"/>
          </a:p>
          <a:p>
            <a:pPr marL="0" indent="0" algn="l">
              <a:lnSpc>
                <a:spcPts val="1625"/>
              </a:lnSpc>
              <a:buNone/>
            </a:pPr>
            <a:r>
              <a:rPr lang="en-US" sz="1300" dirty="0">
                <a:solidFill>
                  <a:srgbClr val="000000"/>
                </a:solidFill>
                <a:latin typeface="Arial" pitchFamily="34" charset="0"/>
                <a:ea typeface="Arial" pitchFamily="34" charset="-122"/>
                <a:cs typeface="Arial" pitchFamily="34" charset="-120"/>
              </a:rPr>
              <a:t>when or within what time it applies</a:t>
            </a:r>
            <a:endParaRPr lang="en-US" sz="1300" dirty="0"/>
          </a:p>
        </p:txBody>
      </p:sp>
      <p:sp>
        <p:nvSpPr>
          <p:cNvPr id="20" name="Text 17"/>
          <p:cNvSpPr/>
          <p:nvPr/>
        </p:nvSpPr>
        <p:spPr>
          <a:xfrm>
            <a:off x="4622800" y="1270000"/>
            <a:ext cx="695909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EARS: Easy Approach to Requirements Syntax</a:t>
            </a:r>
            <a:endParaRPr lang="en-US" sz="1700" dirty="0"/>
          </a:p>
        </p:txBody>
      </p:sp>
      <p:sp>
        <p:nvSpPr>
          <p:cNvPr id="21" name="Text 18"/>
          <p:cNvSpPr/>
          <p:nvPr/>
        </p:nvSpPr>
        <p:spPr>
          <a:xfrm>
            <a:off x="4622800" y="1592560"/>
            <a:ext cx="69590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Mavin et al. (2009): five sentence patterns</a:t>
            </a:r>
            <a:endParaRPr lang="en-US" sz="1200" dirty="0"/>
          </a:p>
        </p:txBody>
      </p:sp>
      <p:sp>
        <p:nvSpPr>
          <p:cNvPr id="22" name="Shape 19"/>
          <p:cNvSpPr/>
          <p:nvPr/>
        </p:nvSpPr>
        <p:spPr>
          <a:xfrm>
            <a:off x="4622800" y="1878905"/>
            <a:ext cx="6756400" cy="0"/>
          </a:xfrm>
          <a:prstGeom prst="line">
            <a:avLst/>
          </a:prstGeom>
          <a:noFill/>
          <a:ln w="19050">
            <a:solidFill>
              <a:srgbClr val="92D400"/>
            </a:solidFill>
            <a:prstDash val="solid"/>
          </a:ln>
        </p:spPr>
        <p:txBody>
          <a:bodyPr/>
          <a:lstStyle/>
          <a:p>
            <a:endParaRPr lang="pt-PT"/>
          </a:p>
        </p:txBody>
      </p:sp>
      <p:sp>
        <p:nvSpPr>
          <p:cNvPr id="23" name="Text 20"/>
          <p:cNvSpPr/>
          <p:nvPr/>
        </p:nvSpPr>
        <p:spPr>
          <a:xfrm>
            <a:off x="4622800" y="1951930"/>
            <a:ext cx="69590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000000"/>
                </a:solidFill>
                <a:latin typeface="Arial" pitchFamily="34" charset="0"/>
                <a:ea typeface="Arial" pitchFamily="34" charset="-122"/>
                <a:cs typeface="Arial" pitchFamily="34" charset="-120"/>
              </a:rPr>
              <a:t>Ubiquitous</a:t>
            </a:r>
            <a:r>
              <a:rPr lang="en-US" sz="1200" dirty="0">
                <a:solidFill>
                  <a:srgbClr val="000000"/>
                </a:solidFill>
                <a:latin typeface="Arial" pitchFamily="34" charset="0"/>
                <a:ea typeface="Arial" pitchFamily="34" charset="-122"/>
                <a:cs typeface="Arial" pitchFamily="34" charset="-120"/>
              </a:rPr>
              <a:t> · The &lt;system&gt; shall &lt;response&gt;</a:t>
            </a:r>
            <a:endParaRPr lang="en-US" sz="1200" dirty="0"/>
          </a:p>
          <a:p>
            <a:pPr marL="0" indent="0" algn="l">
              <a:lnSpc>
                <a:spcPts val="1560"/>
              </a:lnSpc>
              <a:buNone/>
            </a:pPr>
            <a:r>
              <a:rPr lang="en-US" sz="1200" i="1" dirty="0">
                <a:solidFill>
                  <a:srgbClr val="000000"/>
                </a:solidFill>
                <a:latin typeface="Arial" pitchFamily="34" charset="0"/>
                <a:ea typeface="Arial" pitchFamily="34" charset="-122"/>
                <a:cs typeface="Arial" pitchFamily="34" charset="-120"/>
              </a:rPr>
              <a:t>The kiosk shall display the allergens of each product.</a:t>
            </a:r>
            <a:endParaRPr lang="en-US" sz="1200" dirty="0"/>
          </a:p>
        </p:txBody>
      </p:sp>
      <p:sp>
        <p:nvSpPr>
          <p:cNvPr id="24" name="Shape 21"/>
          <p:cNvSpPr/>
          <p:nvPr/>
        </p:nvSpPr>
        <p:spPr>
          <a:xfrm>
            <a:off x="4622800" y="2459137"/>
            <a:ext cx="6756400" cy="0"/>
          </a:xfrm>
          <a:prstGeom prst="line">
            <a:avLst/>
          </a:prstGeom>
          <a:noFill/>
          <a:ln w="19050">
            <a:solidFill>
              <a:srgbClr val="92D400"/>
            </a:solidFill>
            <a:prstDash val="solid"/>
          </a:ln>
        </p:spPr>
        <p:txBody>
          <a:bodyPr/>
          <a:lstStyle/>
          <a:p>
            <a:endParaRPr lang="pt-PT"/>
          </a:p>
        </p:txBody>
      </p:sp>
      <p:sp>
        <p:nvSpPr>
          <p:cNvPr id="25" name="Text 22"/>
          <p:cNvSpPr/>
          <p:nvPr/>
        </p:nvSpPr>
        <p:spPr>
          <a:xfrm>
            <a:off x="4622800" y="2532162"/>
            <a:ext cx="69590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000000"/>
                </a:solidFill>
                <a:latin typeface="Arial" pitchFamily="34" charset="0"/>
                <a:ea typeface="Arial" pitchFamily="34" charset="-122"/>
                <a:cs typeface="Arial" pitchFamily="34" charset="-120"/>
              </a:rPr>
              <a:t>Event-driven</a:t>
            </a:r>
            <a:r>
              <a:rPr lang="en-US" sz="1200" dirty="0">
                <a:solidFill>
                  <a:srgbClr val="000000"/>
                </a:solidFill>
                <a:latin typeface="Arial" pitchFamily="34" charset="0"/>
                <a:ea typeface="Arial" pitchFamily="34" charset="-122"/>
                <a:cs typeface="Arial" pitchFamily="34" charset="-120"/>
              </a:rPr>
              <a:t> · When &lt;trigger&gt;, the &lt;system&gt; shall &lt;response&gt;</a:t>
            </a:r>
            <a:endParaRPr lang="en-US" sz="1200" dirty="0"/>
          </a:p>
          <a:p>
            <a:pPr marL="0" indent="0" algn="l">
              <a:lnSpc>
                <a:spcPts val="1560"/>
              </a:lnSpc>
              <a:buNone/>
            </a:pPr>
            <a:r>
              <a:rPr lang="en-US" sz="1200" i="1" dirty="0">
                <a:solidFill>
                  <a:srgbClr val="000000"/>
                </a:solidFill>
                <a:latin typeface="Arial" pitchFamily="34" charset="0"/>
                <a:ea typeface="Arial" pitchFamily="34" charset="-122"/>
                <a:cs typeface="Arial" pitchFamily="34" charset="-120"/>
              </a:rPr>
              <a:t>When payment is confirmed, the kiosk shall send the order to the kitchen.</a:t>
            </a:r>
            <a:endParaRPr lang="en-US" sz="1200" dirty="0"/>
          </a:p>
        </p:txBody>
      </p:sp>
      <p:sp>
        <p:nvSpPr>
          <p:cNvPr id="26" name="Shape 23"/>
          <p:cNvSpPr/>
          <p:nvPr/>
        </p:nvSpPr>
        <p:spPr>
          <a:xfrm>
            <a:off x="4622800" y="3039368"/>
            <a:ext cx="6756400" cy="0"/>
          </a:xfrm>
          <a:prstGeom prst="line">
            <a:avLst/>
          </a:prstGeom>
          <a:noFill/>
          <a:ln w="19050">
            <a:solidFill>
              <a:srgbClr val="92D400"/>
            </a:solidFill>
            <a:prstDash val="solid"/>
          </a:ln>
        </p:spPr>
        <p:txBody>
          <a:bodyPr/>
          <a:lstStyle/>
          <a:p>
            <a:endParaRPr lang="pt-PT"/>
          </a:p>
        </p:txBody>
      </p:sp>
      <p:sp>
        <p:nvSpPr>
          <p:cNvPr id="27" name="Text 24"/>
          <p:cNvSpPr/>
          <p:nvPr/>
        </p:nvSpPr>
        <p:spPr>
          <a:xfrm>
            <a:off x="4622800" y="3112393"/>
            <a:ext cx="69590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000000"/>
                </a:solidFill>
                <a:latin typeface="Arial" pitchFamily="34" charset="0"/>
                <a:ea typeface="Arial" pitchFamily="34" charset="-122"/>
                <a:cs typeface="Arial" pitchFamily="34" charset="-120"/>
              </a:rPr>
              <a:t>State-driven</a:t>
            </a:r>
            <a:r>
              <a:rPr lang="en-US" sz="1200" dirty="0">
                <a:solidFill>
                  <a:srgbClr val="000000"/>
                </a:solidFill>
                <a:latin typeface="Arial" pitchFamily="34" charset="0"/>
                <a:ea typeface="Arial" pitchFamily="34" charset="-122"/>
                <a:cs typeface="Arial" pitchFamily="34" charset="-120"/>
              </a:rPr>
              <a:t> · While &lt;state&gt;, the &lt;system&gt; shall &lt;response&gt;</a:t>
            </a:r>
            <a:endParaRPr lang="en-US" sz="1200" dirty="0"/>
          </a:p>
          <a:p>
            <a:pPr marL="0" indent="0" algn="l">
              <a:lnSpc>
                <a:spcPts val="1560"/>
              </a:lnSpc>
              <a:buNone/>
            </a:pPr>
            <a:r>
              <a:rPr lang="en-US" sz="1200" i="1" dirty="0">
                <a:solidFill>
                  <a:srgbClr val="000000"/>
                </a:solidFill>
                <a:latin typeface="Arial" pitchFamily="34" charset="0"/>
                <a:ea typeface="Arial" pitchFamily="34" charset="-122"/>
                <a:cs typeface="Arial" pitchFamily="34" charset="-120"/>
              </a:rPr>
              <a:t>While the store is closed, the kiosk shall reject new orders.</a:t>
            </a:r>
            <a:endParaRPr lang="en-US" sz="1200" dirty="0"/>
          </a:p>
        </p:txBody>
      </p:sp>
      <p:sp>
        <p:nvSpPr>
          <p:cNvPr id="28" name="Shape 25"/>
          <p:cNvSpPr/>
          <p:nvPr/>
        </p:nvSpPr>
        <p:spPr>
          <a:xfrm>
            <a:off x="4622800" y="3619599"/>
            <a:ext cx="6756400" cy="0"/>
          </a:xfrm>
          <a:prstGeom prst="line">
            <a:avLst/>
          </a:prstGeom>
          <a:noFill/>
          <a:ln w="19050">
            <a:solidFill>
              <a:srgbClr val="92D400"/>
            </a:solidFill>
            <a:prstDash val="solid"/>
          </a:ln>
        </p:spPr>
        <p:txBody>
          <a:bodyPr/>
          <a:lstStyle/>
          <a:p>
            <a:endParaRPr lang="pt-PT"/>
          </a:p>
        </p:txBody>
      </p:sp>
      <p:sp>
        <p:nvSpPr>
          <p:cNvPr id="29" name="Text 26"/>
          <p:cNvSpPr/>
          <p:nvPr/>
        </p:nvSpPr>
        <p:spPr>
          <a:xfrm>
            <a:off x="4622800" y="3692624"/>
            <a:ext cx="6959092" cy="619522"/>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000000"/>
                </a:solidFill>
                <a:latin typeface="Arial" pitchFamily="34" charset="0"/>
                <a:ea typeface="Arial" pitchFamily="34" charset="-122"/>
                <a:cs typeface="Arial" pitchFamily="34" charset="-120"/>
              </a:rPr>
              <a:t>Unwanted behaviour</a:t>
            </a:r>
            <a:r>
              <a:rPr lang="en-US" sz="1200" dirty="0">
                <a:solidFill>
                  <a:srgbClr val="000000"/>
                </a:solidFill>
                <a:latin typeface="Arial" pitchFamily="34" charset="0"/>
                <a:ea typeface="Arial" pitchFamily="34" charset="-122"/>
                <a:cs typeface="Arial" pitchFamily="34" charset="-120"/>
              </a:rPr>
              <a:t> · If &lt;condition&gt;, then the &lt;system&gt; shall &lt;response&gt;</a:t>
            </a:r>
            <a:endParaRPr lang="en-US" sz="1200" dirty="0"/>
          </a:p>
          <a:p>
            <a:pPr marL="0" indent="0" algn="l">
              <a:lnSpc>
                <a:spcPts val="1560"/>
              </a:lnSpc>
              <a:buNone/>
            </a:pPr>
            <a:r>
              <a:rPr lang="en-US" sz="1200" i="1" dirty="0">
                <a:solidFill>
                  <a:srgbClr val="000000"/>
                </a:solidFill>
                <a:latin typeface="Arial" pitchFamily="34" charset="0"/>
                <a:ea typeface="Arial" pitchFamily="34" charset="-122"/>
                <a:cs typeface="Arial" pitchFamily="34" charset="-120"/>
              </a:rPr>
              <a:t>If the terminal does not respond within 30 s, then the kiosk shall cancel the transaction and keep the order.</a:t>
            </a:r>
            <a:endParaRPr lang="en-US" sz="1200" dirty="0"/>
          </a:p>
        </p:txBody>
      </p:sp>
      <p:sp>
        <p:nvSpPr>
          <p:cNvPr id="30" name="Shape 27"/>
          <p:cNvSpPr/>
          <p:nvPr/>
        </p:nvSpPr>
        <p:spPr>
          <a:xfrm>
            <a:off x="4622800" y="4397871"/>
            <a:ext cx="6756400" cy="0"/>
          </a:xfrm>
          <a:prstGeom prst="line">
            <a:avLst/>
          </a:prstGeom>
          <a:noFill/>
          <a:ln w="19050">
            <a:solidFill>
              <a:srgbClr val="92D400"/>
            </a:solidFill>
            <a:prstDash val="solid"/>
          </a:ln>
        </p:spPr>
        <p:txBody>
          <a:bodyPr/>
          <a:lstStyle/>
          <a:p>
            <a:endParaRPr lang="pt-PT"/>
          </a:p>
        </p:txBody>
      </p:sp>
      <p:sp>
        <p:nvSpPr>
          <p:cNvPr id="31" name="Text 28"/>
          <p:cNvSpPr/>
          <p:nvPr/>
        </p:nvSpPr>
        <p:spPr>
          <a:xfrm>
            <a:off x="4622800" y="4470896"/>
            <a:ext cx="6959092"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000000"/>
                </a:solidFill>
                <a:latin typeface="Arial" pitchFamily="34" charset="0"/>
                <a:ea typeface="Arial" pitchFamily="34" charset="-122"/>
                <a:cs typeface="Arial" pitchFamily="34" charset="-120"/>
              </a:rPr>
              <a:t>Optional feature</a:t>
            </a:r>
            <a:r>
              <a:rPr lang="en-US" sz="1200" dirty="0">
                <a:solidFill>
                  <a:srgbClr val="000000"/>
                </a:solidFill>
                <a:latin typeface="Arial" pitchFamily="34" charset="0"/>
                <a:ea typeface="Arial" pitchFamily="34" charset="-122"/>
                <a:cs typeface="Arial" pitchFamily="34" charset="-120"/>
              </a:rPr>
              <a:t> · Where &lt;feature is included&gt;, the &lt;system&gt; shall &lt;response&gt;</a:t>
            </a:r>
            <a:endParaRPr lang="en-US" sz="1200" dirty="0"/>
          </a:p>
          <a:p>
            <a:pPr marL="0" indent="0" algn="l">
              <a:lnSpc>
                <a:spcPts val="1560"/>
              </a:lnSpc>
              <a:buNone/>
            </a:pPr>
            <a:r>
              <a:rPr lang="en-US" sz="1200" i="1" dirty="0">
                <a:solidFill>
                  <a:srgbClr val="000000"/>
                </a:solidFill>
                <a:latin typeface="Arial" pitchFamily="34" charset="0"/>
                <a:ea typeface="Arial" pitchFamily="34" charset="-122"/>
                <a:cs typeface="Arial" pitchFamily="34" charset="-120"/>
              </a:rPr>
              <a:t>Where a loyalty card reader is fitted, the kiosk shall apply the customer's points.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Rewrite it: make it SMART</a:t>
            </a:r>
            <a:endParaRPr lang="en-US" sz="2600" dirty="0"/>
          </a:p>
        </p:txBody>
      </p:sp>
      <p:sp>
        <p:nvSpPr>
          <p:cNvPr id="5" name="Text 2"/>
          <p:cNvSpPr/>
          <p:nvPr/>
        </p:nvSpPr>
        <p:spPr>
          <a:xfrm>
            <a:off x="812800" y="1371600"/>
            <a:ext cx="10883392"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000000"/>
                </a:solidFill>
                <a:latin typeface="Arial" pitchFamily="34" charset="0"/>
                <a:ea typeface="Arial" pitchFamily="34" charset="-122"/>
                <a:cs typeface="Arial" pitchFamily="34" charset="-120"/>
              </a:rPr>
              <a:t>2 min in pairs:</a:t>
            </a:r>
            <a:r>
              <a:rPr lang="en-US" sz="1700" dirty="0">
                <a:solidFill>
                  <a:srgbClr val="000000"/>
                </a:solidFill>
                <a:latin typeface="Arial" pitchFamily="34" charset="0"/>
                <a:ea typeface="Arial" pitchFamily="34" charset="-122"/>
                <a:cs typeface="Arial" pitchFamily="34" charset="-120"/>
              </a:rPr>
              <a:t> rewrite each statement so that it passes the SMART check below.</a:t>
            </a:r>
            <a:endParaRPr lang="en-US" sz="1700" dirty="0"/>
          </a:p>
        </p:txBody>
      </p:sp>
      <p:sp>
        <p:nvSpPr>
          <p:cNvPr id="6" name="Text 3"/>
          <p:cNvSpPr/>
          <p:nvPr/>
        </p:nvSpPr>
        <p:spPr>
          <a:xfrm>
            <a:off x="812800" y="1880791"/>
            <a:ext cx="3386634" cy="1178520"/>
          </a:xfrm>
          <a:prstGeom prst="rect">
            <a:avLst/>
          </a:prstGeom>
          <a:solidFill>
            <a:srgbClr val="DBEFC1"/>
          </a:solidFill>
          <a:ln/>
        </p:spPr>
        <p:txBody>
          <a:bodyPr wrap="square" lIns="254000" tIns="254000" rIns="167641" bIns="228600" rtlCol="0" anchor="t">
            <a:normAutofit/>
          </a:bodyPr>
          <a:lstStyle/>
          <a:p>
            <a:pPr marL="0" indent="0" algn="l">
              <a:lnSpc>
                <a:spcPts val="2640"/>
              </a:lnSpc>
              <a:buNone/>
            </a:pPr>
            <a:r>
              <a:rPr lang="en-US" sz="2200" b="1" dirty="0">
                <a:solidFill>
                  <a:srgbClr val="000000"/>
                </a:solidFill>
                <a:latin typeface="Arial" pitchFamily="34" charset="0"/>
                <a:ea typeface="Arial" pitchFamily="34" charset="-122"/>
                <a:cs typeface="Arial" pitchFamily="34" charset="-120"/>
              </a:rPr>
              <a:t>1</a:t>
            </a:r>
            <a:r>
              <a:rPr lang="en-US" sz="2200" dirty="0">
                <a:solidFill>
                  <a:srgbClr val="000000"/>
                </a:solidFill>
                <a:latin typeface="Arial" pitchFamily="34" charset="0"/>
                <a:ea typeface="Arial" pitchFamily="34" charset="-122"/>
                <a:cs typeface="Arial" pitchFamily="34" charset="-120"/>
              </a:rPr>
              <a:t> · “The kiosk shall be fast.”</a:t>
            </a:r>
            <a:endParaRPr lang="en-US" sz="2200" dirty="0"/>
          </a:p>
        </p:txBody>
      </p:sp>
      <p:sp>
        <p:nvSpPr>
          <p:cNvPr id="7" name="Text 4"/>
          <p:cNvSpPr/>
          <p:nvPr/>
        </p:nvSpPr>
        <p:spPr>
          <a:xfrm>
            <a:off x="4402634" y="1880791"/>
            <a:ext cx="3386733" cy="1178520"/>
          </a:xfrm>
          <a:prstGeom prst="rect">
            <a:avLst/>
          </a:prstGeom>
          <a:solidFill>
            <a:srgbClr val="DBEFC1"/>
          </a:solidFill>
          <a:ln/>
        </p:spPr>
        <p:txBody>
          <a:bodyPr wrap="square" lIns="254000" tIns="254000" rIns="167638" bIns="228600" rtlCol="0" anchor="t">
            <a:normAutofit/>
          </a:bodyPr>
          <a:lstStyle/>
          <a:p>
            <a:pPr marL="0" indent="0" algn="l">
              <a:lnSpc>
                <a:spcPts val="2640"/>
              </a:lnSpc>
              <a:buNone/>
            </a:pPr>
            <a:r>
              <a:rPr lang="en-US" sz="2200" b="1" dirty="0">
                <a:solidFill>
                  <a:srgbClr val="000000"/>
                </a:solidFill>
                <a:latin typeface="Arial" pitchFamily="34" charset="0"/>
                <a:ea typeface="Arial" pitchFamily="34" charset="-122"/>
                <a:cs typeface="Arial" pitchFamily="34" charset="-120"/>
              </a:rPr>
              <a:t>2</a:t>
            </a:r>
            <a:r>
              <a:rPr lang="en-US" sz="2200" dirty="0">
                <a:solidFill>
                  <a:srgbClr val="000000"/>
                </a:solidFill>
                <a:latin typeface="Arial" pitchFamily="34" charset="0"/>
                <a:ea typeface="Arial" pitchFamily="34" charset="-122"/>
                <a:cs typeface="Arial" pitchFamily="34" charset="-120"/>
              </a:rPr>
              <a:t> · “The system shall always be available.”</a:t>
            </a:r>
            <a:endParaRPr lang="en-US" sz="2200" dirty="0"/>
          </a:p>
        </p:txBody>
      </p:sp>
      <p:sp>
        <p:nvSpPr>
          <p:cNvPr id="8" name="Text 5"/>
          <p:cNvSpPr/>
          <p:nvPr/>
        </p:nvSpPr>
        <p:spPr>
          <a:xfrm>
            <a:off x="7992566" y="1880791"/>
            <a:ext cx="3386634" cy="1178520"/>
          </a:xfrm>
          <a:prstGeom prst="rect">
            <a:avLst/>
          </a:prstGeom>
          <a:solidFill>
            <a:srgbClr val="DBEFC1"/>
          </a:solidFill>
          <a:ln/>
        </p:spPr>
        <p:txBody>
          <a:bodyPr wrap="square" lIns="254000" tIns="254000" rIns="167641" bIns="228600" rtlCol="0" anchor="t">
            <a:normAutofit/>
          </a:bodyPr>
          <a:lstStyle/>
          <a:p>
            <a:pPr marL="0" indent="0" algn="l">
              <a:lnSpc>
                <a:spcPts val="2640"/>
              </a:lnSpc>
              <a:buNone/>
            </a:pPr>
            <a:r>
              <a:rPr lang="en-US" sz="2200" b="1" dirty="0">
                <a:solidFill>
                  <a:srgbClr val="000000"/>
                </a:solidFill>
                <a:latin typeface="Arial" pitchFamily="34" charset="0"/>
                <a:ea typeface="Arial" pitchFamily="34" charset="-122"/>
                <a:cs typeface="Arial" pitchFamily="34" charset="-120"/>
              </a:rPr>
              <a:t>3</a:t>
            </a:r>
            <a:r>
              <a:rPr lang="en-US" sz="2200" dirty="0">
                <a:solidFill>
                  <a:srgbClr val="000000"/>
                </a:solidFill>
                <a:latin typeface="Arial" pitchFamily="34" charset="0"/>
                <a:ea typeface="Arial" pitchFamily="34" charset="-122"/>
                <a:cs typeface="Arial" pitchFamily="34" charset="-120"/>
              </a:rPr>
              <a:t> · “Payment shall be secure.”</a:t>
            </a:r>
            <a:endParaRPr lang="en-US" sz="2200" dirty="0"/>
          </a:p>
        </p:txBody>
      </p:sp>
      <p:sp>
        <p:nvSpPr>
          <p:cNvPr id="9" name="Shape 6"/>
          <p:cNvSpPr/>
          <p:nvPr/>
        </p:nvSpPr>
        <p:spPr>
          <a:xfrm>
            <a:off x="812800" y="3306961"/>
            <a:ext cx="2032000" cy="0"/>
          </a:xfrm>
          <a:prstGeom prst="line">
            <a:avLst/>
          </a:prstGeom>
          <a:noFill/>
          <a:ln w="38100">
            <a:solidFill>
              <a:srgbClr val="92D400"/>
            </a:solidFill>
            <a:prstDash val="solid"/>
          </a:ln>
        </p:spPr>
        <p:txBody>
          <a:bodyPr/>
          <a:lstStyle/>
          <a:p>
            <a:endParaRPr lang="pt-PT"/>
          </a:p>
        </p:txBody>
      </p:sp>
      <p:sp>
        <p:nvSpPr>
          <p:cNvPr id="10" name="Text 7"/>
          <p:cNvSpPr/>
          <p:nvPr/>
        </p:nvSpPr>
        <p:spPr>
          <a:xfrm>
            <a:off x="812800" y="341491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S · Specific</a:t>
            </a:r>
            <a:endParaRPr lang="en-US" sz="1400" dirty="0"/>
          </a:p>
        </p:txBody>
      </p:sp>
      <p:sp>
        <p:nvSpPr>
          <p:cNvPr id="11" name="Text 8"/>
          <p:cNvSpPr/>
          <p:nvPr/>
        </p:nvSpPr>
        <p:spPr>
          <a:xfrm>
            <a:off x="812800" y="3701852"/>
            <a:ext cx="209296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Which action or property, exactly?</a:t>
            </a:r>
            <a:endParaRPr lang="en-US" sz="1200" dirty="0"/>
          </a:p>
        </p:txBody>
      </p:sp>
      <p:sp>
        <p:nvSpPr>
          <p:cNvPr id="12" name="Shape 9"/>
          <p:cNvSpPr/>
          <p:nvPr/>
        </p:nvSpPr>
        <p:spPr>
          <a:xfrm>
            <a:off x="2946400" y="3306961"/>
            <a:ext cx="2032000" cy="0"/>
          </a:xfrm>
          <a:prstGeom prst="line">
            <a:avLst/>
          </a:prstGeom>
          <a:noFill/>
          <a:ln w="38100">
            <a:solidFill>
              <a:srgbClr val="92D400"/>
            </a:solidFill>
            <a:prstDash val="solid"/>
          </a:ln>
        </p:spPr>
        <p:txBody>
          <a:bodyPr/>
          <a:lstStyle/>
          <a:p>
            <a:endParaRPr lang="pt-PT"/>
          </a:p>
        </p:txBody>
      </p:sp>
      <p:sp>
        <p:nvSpPr>
          <p:cNvPr id="13" name="Text 10"/>
          <p:cNvSpPr/>
          <p:nvPr/>
        </p:nvSpPr>
        <p:spPr>
          <a:xfrm>
            <a:off x="2946400" y="341491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M · Measurable</a:t>
            </a:r>
            <a:endParaRPr lang="en-US" sz="1400" dirty="0"/>
          </a:p>
        </p:txBody>
      </p:sp>
      <p:sp>
        <p:nvSpPr>
          <p:cNvPr id="14" name="Text 11"/>
          <p:cNvSpPr/>
          <p:nvPr/>
        </p:nvSpPr>
        <p:spPr>
          <a:xfrm>
            <a:off x="2946400" y="3701852"/>
            <a:ext cx="209296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What metric and target value?</a:t>
            </a:r>
            <a:endParaRPr lang="en-US" sz="1200" dirty="0"/>
          </a:p>
        </p:txBody>
      </p:sp>
      <p:sp>
        <p:nvSpPr>
          <p:cNvPr id="15" name="Shape 12"/>
          <p:cNvSpPr/>
          <p:nvPr/>
        </p:nvSpPr>
        <p:spPr>
          <a:xfrm>
            <a:off x="5080000" y="3306961"/>
            <a:ext cx="2032000" cy="0"/>
          </a:xfrm>
          <a:prstGeom prst="line">
            <a:avLst/>
          </a:prstGeom>
          <a:noFill/>
          <a:ln w="38100">
            <a:solidFill>
              <a:srgbClr val="92D400"/>
            </a:solidFill>
            <a:prstDash val="solid"/>
          </a:ln>
        </p:spPr>
        <p:txBody>
          <a:bodyPr/>
          <a:lstStyle/>
          <a:p>
            <a:endParaRPr lang="pt-PT"/>
          </a:p>
        </p:txBody>
      </p:sp>
      <p:sp>
        <p:nvSpPr>
          <p:cNvPr id="16" name="Text 13"/>
          <p:cNvSpPr/>
          <p:nvPr/>
        </p:nvSpPr>
        <p:spPr>
          <a:xfrm>
            <a:off x="5080000" y="341491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A · Attainable</a:t>
            </a:r>
            <a:endParaRPr lang="en-US" sz="1400" dirty="0"/>
          </a:p>
        </p:txBody>
      </p:sp>
      <p:sp>
        <p:nvSpPr>
          <p:cNvPr id="17" name="Text 14"/>
          <p:cNvSpPr/>
          <p:nvPr/>
        </p:nvSpPr>
        <p:spPr>
          <a:xfrm>
            <a:off x="5080000" y="3701852"/>
            <a:ext cx="209296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Feasible with this hardware and budget?</a:t>
            </a:r>
            <a:endParaRPr lang="en-US" sz="1200" dirty="0"/>
          </a:p>
        </p:txBody>
      </p:sp>
      <p:sp>
        <p:nvSpPr>
          <p:cNvPr id="18" name="Shape 15"/>
          <p:cNvSpPr/>
          <p:nvPr/>
        </p:nvSpPr>
        <p:spPr>
          <a:xfrm>
            <a:off x="7213600" y="3306961"/>
            <a:ext cx="2032000" cy="0"/>
          </a:xfrm>
          <a:prstGeom prst="line">
            <a:avLst/>
          </a:prstGeom>
          <a:noFill/>
          <a:ln w="38100">
            <a:solidFill>
              <a:srgbClr val="92D400"/>
            </a:solidFill>
            <a:prstDash val="solid"/>
          </a:ln>
        </p:spPr>
        <p:txBody>
          <a:bodyPr/>
          <a:lstStyle/>
          <a:p>
            <a:endParaRPr lang="pt-PT"/>
          </a:p>
        </p:txBody>
      </p:sp>
      <p:sp>
        <p:nvSpPr>
          <p:cNvPr id="19" name="Text 16"/>
          <p:cNvSpPr/>
          <p:nvPr/>
        </p:nvSpPr>
        <p:spPr>
          <a:xfrm>
            <a:off x="7213600" y="341491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R · Relevant</a:t>
            </a:r>
            <a:endParaRPr lang="en-US" sz="1400" dirty="0"/>
          </a:p>
        </p:txBody>
      </p:sp>
      <p:sp>
        <p:nvSpPr>
          <p:cNvPr id="20" name="Text 17"/>
          <p:cNvSpPr/>
          <p:nvPr/>
        </p:nvSpPr>
        <p:spPr>
          <a:xfrm>
            <a:off x="7213600" y="3701852"/>
            <a:ext cx="209296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Which stakeholder need does it serve?</a:t>
            </a:r>
            <a:endParaRPr lang="en-US" sz="1200" dirty="0"/>
          </a:p>
        </p:txBody>
      </p:sp>
      <p:sp>
        <p:nvSpPr>
          <p:cNvPr id="21" name="Shape 18"/>
          <p:cNvSpPr/>
          <p:nvPr/>
        </p:nvSpPr>
        <p:spPr>
          <a:xfrm>
            <a:off x="9347200" y="3306961"/>
            <a:ext cx="2032000" cy="0"/>
          </a:xfrm>
          <a:prstGeom prst="line">
            <a:avLst/>
          </a:prstGeom>
          <a:noFill/>
          <a:ln w="38100">
            <a:solidFill>
              <a:srgbClr val="92D400"/>
            </a:solidFill>
            <a:prstDash val="solid"/>
          </a:ln>
        </p:spPr>
        <p:txBody>
          <a:bodyPr/>
          <a:lstStyle/>
          <a:p>
            <a:endParaRPr lang="pt-PT"/>
          </a:p>
        </p:txBody>
      </p:sp>
      <p:sp>
        <p:nvSpPr>
          <p:cNvPr id="22" name="Text 19"/>
          <p:cNvSpPr/>
          <p:nvPr/>
        </p:nvSpPr>
        <p:spPr>
          <a:xfrm>
            <a:off x="9347200" y="341491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T · Time-sensitive</a:t>
            </a:r>
            <a:endParaRPr lang="en-US" sz="1400" dirty="0"/>
          </a:p>
        </p:txBody>
      </p:sp>
      <p:sp>
        <p:nvSpPr>
          <p:cNvPr id="23" name="Text 20"/>
          <p:cNvSpPr/>
          <p:nvPr/>
        </p:nvSpPr>
        <p:spPr>
          <a:xfrm>
            <a:off x="9347200" y="3701852"/>
            <a:ext cx="209296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00000"/>
                </a:solidFill>
                <a:latin typeface="Arial" pitchFamily="34" charset="0"/>
                <a:ea typeface="Arial" pitchFamily="34" charset="-122"/>
                <a:cs typeface="Arial" pitchFamily="34" charset="-120"/>
              </a:rPr>
              <a:t>When, or within what time window?</a:t>
            </a:r>
            <a:endParaRPr lang="en-US" sz="1200" dirty="0"/>
          </a:p>
        </p:txBody>
      </p:sp>
      <p:sp>
        <p:nvSpPr>
          <p:cNvPr id="24" name="Text 21"/>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25" name="Text 22"/>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92D400"/>
        </a:solidFill>
        <a:effectLst/>
      </p:bgPr>
    </p:bg>
    <p:spTree>
      <p:nvGrpSpPr>
        <p:cNvPr id="1" name=""/>
        <p:cNvGrpSpPr/>
        <p:nvPr/>
      </p:nvGrpSpPr>
      <p:grpSpPr>
        <a:xfrm>
          <a:off x="0" y="0"/>
          <a:ext cx="0" cy="0"/>
          <a:chOff x="0" y="0"/>
          <a:chExt cx="0" cy="0"/>
        </a:xfrm>
      </p:grpSpPr>
      <p:sp>
        <p:nvSpPr>
          <p:cNvPr id="2" name="Text 0"/>
          <p:cNvSpPr/>
          <p:nvPr/>
        </p:nvSpPr>
        <p:spPr>
          <a:xfrm>
            <a:off x="812800" y="255657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part 3</a:t>
            </a:r>
            <a:endParaRPr lang="en-US" sz="1800" dirty="0"/>
          </a:p>
        </p:txBody>
      </p:sp>
      <p:sp>
        <p:nvSpPr>
          <p:cNvPr id="3" name="Text 1"/>
          <p:cNvSpPr>
            <a:spLocks noGrp="1"/>
          </p:cNvSpPr>
          <p:nvPr>
            <p:ph type="title"/>
          </p:nvPr>
        </p:nvSpPr>
        <p:spPr>
          <a:xfrm>
            <a:off x="812800" y="30289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000000"/>
                </a:solidFill>
                <a:latin typeface="Arial" pitchFamily="34" charset="0"/>
                <a:ea typeface="Arial" pitchFamily="34" charset="-122"/>
                <a:cs typeface="Arial" pitchFamily="34" charset="-120"/>
              </a:rPr>
              <a:t>requirements elicitation</a:t>
            </a:r>
            <a:endParaRPr lang="en-US" sz="6000" dirty="0"/>
          </a:p>
        </p:txBody>
      </p:sp>
      <p:sp>
        <p:nvSpPr>
          <p:cNvPr id="4" name="Text 2"/>
          <p:cNvSpPr/>
          <p:nvPr/>
        </p:nvSpPr>
        <p:spPr>
          <a:xfrm>
            <a:off x="812800" y="398145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Arial" pitchFamily="34" charset="0"/>
                <a:ea typeface="Arial" pitchFamily="34" charset="-122"/>
                <a:cs typeface="Arial" pitchFamily="34" charset="-120"/>
              </a:rPr>
              <a:t>challenges · technique families · choosing by context · activity</a:t>
            </a:r>
            <a:endParaRPr lang="en-US" sz="1800" dirty="0"/>
          </a:p>
        </p:txBody>
      </p:sp>
      <p:pic>
        <p:nvPicPr>
          <p:cNvPr id="5" name="Image 0" descr="Universidade de Aveiro · DETI"/>
          <p:cNvPicPr>
            <a:picLocks noChangeAspect="1"/>
          </p:cNvPicPr>
          <p:nvPr/>
        </p:nvPicPr>
        <p:blipFill>
          <a:blip r:embed="rId3"/>
          <a:srcRect t="-6497" b="-6497"/>
          <a:stretch/>
        </p:blipFill>
        <p:spPr>
          <a:xfrm>
            <a:off x="812800" y="5816600"/>
            <a:ext cx="2667000" cy="635000"/>
          </a:xfrm>
          <a:prstGeom prst="rect">
            <a:avLst/>
          </a:prstGeom>
        </p:spPr>
      </p:pic>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Why is elicitation hard?</a:t>
            </a:r>
            <a:endParaRPr lang="en-US" sz="2600" dirty="0"/>
          </a:p>
        </p:txBody>
      </p:sp>
      <p:sp>
        <p:nvSpPr>
          <p:cNvPr id="5" name="Shape 2"/>
          <p:cNvSpPr/>
          <p:nvPr/>
        </p:nvSpPr>
        <p:spPr>
          <a:xfrm>
            <a:off x="812800" y="1270000"/>
            <a:ext cx="6578600" cy="1409402"/>
          </a:xfrm>
          <a:prstGeom prst="rect">
            <a:avLst/>
          </a:prstGeom>
          <a:solidFill>
            <a:srgbClr val="DBEFC1"/>
          </a:solidFill>
          <a:ln/>
        </p:spPr>
        <p:txBody>
          <a:bodyPr/>
          <a:lstStyle/>
          <a:p>
            <a:endParaRPr lang="pt-PT"/>
          </a:p>
        </p:txBody>
      </p:sp>
      <p:sp>
        <p:nvSpPr>
          <p:cNvPr id="6" name="Text 3"/>
          <p:cNvSpPr/>
          <p:nvPr/>
        </p:nvSpPr>
        <p:spPr>
          <a:xfrm>
            <a:off x="1016000" y="1447800"/>
            <a:ext cx="635736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Arial" pitchFamily="34" charset="0"/>
                <a:ea typeface="Arial" pitchFamily="34" charset="-122"/>
                <a:cs typeface="Arial" pitchFamily="34" charset="-120"/>
              </a:rPr>
              <a:t>Elicitation</a:t>
            </a:r>
            <a:endParaRPr lang="en-US" sz="1600" dirty="0"/>
          </a:p>
        </p:txBody>
      </p:sp>
      <p:sp>
        <p:nvSpPr>
          <p:cNvPr id="7" name="Text 4"/>
          <p:cNvSpPr/>
          <p:nvPr/>
        </p:nvSpPr>
        <p:spPr>
          <a:xfrm>
            <a:off x="1016000" y="1755080"/>
            <a:ext cx="635736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A collaborative and analytical process of identifying stakeholders' needs and constraints: gathering, discovering, extracting and defining requirements. It is </a:t>
            </a:r>
            <a:r>
              <a:rPr lang="en-US" sz="1400" b="1" dirty="0">
                <a:solidFill>
                  <a:srgbClr val="000000"/>
                </a:solidFill>
                <a:latin typeface="Arial" pitchFamily="34" charset="0"/>
                <a:ea typeface="Arial" pitchFamily="34" charset="-122"/>
                <a:cs typeface="Arial" pitchFamily="34" charset="-120"/>
              </a:rPr>
              <a:t>not just transcribing</a:t>
            </a:r>
            <a:r>
              <a:rPr lang="en-US" sz="1400" dirty="0">
                <a:solidFill>
                  <a:srgbClr val="000000"/>
                </a:solidFill>
                <a:latin typeface="Arial" pitchFamily="34" charset="0"/>
                <a:ea typeface="Arial" pitchFamily="34" charset="-122"/>
                <a:cs typeface="Arial" pitchFamily="34" charset="-120"/>
              </a:rPr>
              <a:t> what users say.</a:t>
            </a:r>
            <a:endParaRPr lang="en-US" sz="1400" dirty="0"/>
          </a:p>
        </p:txBody>
      </p:sp>
      <p:sp>
        <p:nvSpPr>
          <p:cNvPr id="8" name="Text 5"/>
          <p:cNvSpPr/>
          <p:nvPr/>
        </p:nvSpPr>
        <p:spPr>
          <a:xfrm>
            <a:off x="812800" y="2819102"/>
            <a:ext cx="67759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Arial" pitchFamily="34" charset="0"/>
                <a:ea typeface="Arial" pitchFamily="34" charset="-122"/>
                <a:cs typeface="Arial" pitchFamily="34" charset="-120"/>
              </a:rPr>
              <a:t>Typical obstacles</a:t>
            </a:r>
            <a:endParaRPr lang="en-US" sz="1600" dirty="0"/>
          </a:p>
        </p:txBody>
      </p:sp>
      <p:sp>
        <p:nvSpPr>
          <p:cNvPr id="9" name="Text 6"/>
          <p:cNvSpPr/>
          <p:nvPr/>
        </p:nvSpPr>
        <p:spPr>
          <a:xfrm>
            <a:off x="910082" y="3202583"/>
            <a:ext cx="6671056" cy="1314252"/>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b="1" dirty="0">
                <a:solidFill>
                  <a:srgbClr val="000000"/>
                </a:solidFill>
                <a:latin typeface="Arial" pitchFamily="34" charset="0"/>
                <a:ea typeface="Arial" pitchFamily="34" charset="-122"/>
                <a:cs typeface="Arial" pitchFamily="34" charset="-120"/>
              </a:rPr>
              <a:t>Tacit knowledge:</a:t>
            </a:r>
            <a:r>
              <a:rPr lang="en-US" sz="1400" dirty="0">
                <a:solidFill>
                  <a:srgbClr val="000000"/>
                </a:solidFill>
                <a:latin typeface="Arial" pitchFamily="34" charset="0"/>
                <a:ea typeface="Arial" pitchFamily="34" charset="-122"/>
                <a:cs typeface="Arial" pitchFamily="34" charset="-120"/>
              </a:rPr>
              <a:t> what people do without thinking goes unsaid</a:t>
            </a:r>
            <a:endParaRPr lang="en-US" sz="1400" dirty="0"/>
          </a:p>
          <a:p>
            <a:pPr marL="156718" indent="-156718" algn="l">
              <a:lnSpc>
                <a:spcPts val="2030"/>
              </a:lnSpc>
              <a:buSzPct val="100000"/>
              <a:buChar char="•"/>
            </a:pPr>
            <a:r>
              <a:rPr lang="en-US" sz="1400" b="1" dirty="0">
                <a:solidFill>
                  <a:srgbClr val="000000"/>
                </a:solidFill>
                <a:latin typeface="Arial" pitchFamily="34" charset="0"/>
                <a:ea typeface="Arial" pitchFamily="34" charset="-122"/>
                <a:cs typeface="Arial" pitchFamily="34" charset="-120"/>
              </a:rPr>
              <a:t>Solutions instead of needs:</a:t>
            </a:r>
            <a:r>
              <a:rPr lang="en-US" sz="1400" dirty="0">
                <a:solidFill>
                  <a:srgbClr val="000000"/>
                </a:solidFill>
                <a:latin typeface="Arial" pitchFamily="34" charset="0"/>
                <a:ea typeface="Arial" pitchFamily="34" charset="-122"/>
                <a:cs typeface="Arial" pitchFamily="34" charset="-120"/>
              </a:rPr>
              <a:t> “I want a button that…”</a:t>
            </a:r>
            <a:endParaRPr lang="en-US" sz="1400" dirty="0"/>
          </a:p>
          <a:p>
            <a:pPr marL="156718" indent="-156718" algn="l">
              <a:lnSpc>
                <a:spcPts val="2030"/>
              </a:lnSpc>
              <a:buSzPct val="100000"/>
              <a:buChar char="•"/>
            </a:pPr>
            <a:r>
              <a:rPr lang="en-US" sz="1400" b="1" dirty="0">
                <a:solidFill>
                  <a:srgbClr val="000000"/>
                </a:solidFill>
                <a:latin typeface="Arial" pitchFamily="34" charset="0"/>
                <a:ea typeface="Arial" pitchFamily="34" charset="-122"/>
                <a:cs typeface="Arial" pitchFamily="34" charset="-120"/>
              </a:rPr>
              <a:t>Say ≠ do:</a:t>
            </a:r>
            <a:r>
              <a:rPr lang="en-US" sz="1400" dirty="0">
                <a:solidFill>
                  <a:srgbClr val="000000"/>
                </a:solidFill>
                <a:latin typeface="Arial" pitchFamily="34" charset="0"/>
                <a:ea typeface="Arial" pitchFamily="34" charset="-122"/>
                <a:cs typeface="Arial" pitchFamily="34" charset="-120"/>
              </a:rPr>
              <a:t> the described process is not the one practised</a:t>
            </a:r>
            <a:endParaRPr lang="en-US" sz="1400" dirty="0"/>
          </a:p>
          <a:p>
            <a:pPr marL="156718" indent="-156718" algn="l">
              <a:lnSpc>
                <a:spcPts val="2030"/>
              </a:lnSpc>
              <a:buSzPct val="100000"/>
              <a:buChar char="•"/>
            </a:pPr>
            <a:r>
              <a:rPr lang="en-US" sz="1400" b="1" dirty="0">
                <a:solidFill>
                  <a:srgbClr val="000000"/>
                </a:solidFill>
                <a:latin typeface="Arial" pitchFamily="34" charset="0"/>
                <a:ea typeface="Arial" pitchFamily="34" charset="-122"/>
                <a:cs typeface="Arial" pitchFamily="34" charset="-120"/>
              </a:rPr>
              <a:t>Conflicting interests</a:t>
            </a:r>
            <a:r>
              <a:rPr lang="en-US" sz="1400" dirty="0">
                <a:solidFill>
                  <a:srgbClr val="000000"/>
                </a:solidFill>
                <a:latin typeface="Arial" pitchFamily="34" charset="0"/>
                <a:ea typeface="Arial" pitchFamily="34" charset="-122"/>
                <a:cs typeface="Arial" pitchFamily="34" charset="-120"/>
              </a:rPr>
              <a:t> among stakeholders</a:t>
            </a:r>
            <a:endParaRPr lang="en-US" sz="1400" dirty="0"/>
          </a:p>
          <a:p>
            <a:pPr marL="156718" indent="-156718" algn="l">
              <a:lnSpc>
                <a:spcPts val="2030"/>
              </a:lnSpc>
              <a:buSzPct val="100000"/>
              <a:buChar char="•"/>
            </a:pPr>
            <a:r>
              <a:rPr lang="en-US" sz="1400" b="1" dirty="0">
                <a:solidFill>
                  <a:srgbClr val="000000"/>
                </a:solidFill>
                <a:latin typeface="Arial" pitchFamily="34" charset="0"/>
                <a:ea typeface="Arial" pitchFamily="34" charset="-122"/>
                <a:cs typeface="Arial" pitchFamily="34" charset="-120"/>
              </a:rPr>
              <a:t>“Yes, but…”:</a:t>
            </a:r>
            <a:r>
              <a:rPr lang="en-US" sz="1400" dirty="0">
                <a:solidFill>
                  <a:srgbClr val="000000"/>
                </a:solidFill>
                <a:latin typeface="Arial" pitchFamily="34" charset="0"/>
                <a:ea typeface="Arial" pitchFamily="34" charset="-122"/>
                <a:cs typeface="Arial" pitchFamily="34" charset="-120"/>
              </a:rPr>
              <a:t> people only recognize what they want when they see it</a:t>
            </a:r>
            <a:endParaRPr lang="en-US" sz="1400" dirty="0"/>
          </a:p>
        </p:txBody>
      </p:sp>
      <p:sp>
        <p:nvSpPr>
          <p:cNvPr id="10" name="Text 7"/>
          <p:cNvSpPr/>
          <p:nvPr/>
        </p:nvSpPr>
        <p:spPr>
          <a:xfrm>
            <a:off x="812800" y="4631134"/>
            <a:ext cx="6775958"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00000"/>
                </a:solidFill>
                <a:latin typeface="Arial" pitchFamily="34" charset="0"/>
                <a:ea typeface="Arial" pitchFamily="34" charset="-122"/>
                <a:cs typeface="Arial" pitchFamily="34" charset="-120"/>
              </a:rPr>
              <a:t>Consequence:</a:t>
            </a:r>
            <a:r>
              <a:rPr lang="en-US" sz="1500" dirty="0">
                <a:solidFill>
                  <a:srgbClr val="000000"/>
                </a:solidFill>
                <a:latin typeface="Arial" pitchFamily="34" charset="0"/>
                <a:ea typeface="Arial" pitchFamily="34" charset="-122"/>
                <a:cs typeface="Arial" pitchFamily="34" charset="-120"/>
              </a:rPr>
              <a:t> combine technique families, iterate, </a:t>
            </a:r>
            <a:r>
              <a:rPr lang="en-US" sz="1500" b="1" dirty="0">
                <a:solidFill>
                  <a:srgbClr val="000000"/>
                </a:solidFill>
                <a:latin typeface="Arial" pitchFamily="34" charset="0"/>
                <a:ea typeface="Arial" pitchFamily="34" charset="-122"/>
                <a:cs typeface="Arial" pitchFamily="34" charset="-120"/>
              </a:rPr>
              <a:t>validate early</a:t>
            </a:r>
            <a:r>
              <a:rPr lang="en-US" sz="1500" dirty="0">
                <a:solidFill>
                  <a:srgbClr val="000000"/>
                </a:solidFill>
                <a:latin typeface="Arial" pitchFamily="34" charset="0"/>
                <a:ea typeface="Arial" pitchFamily="34" charset="-122"/>
                <a:cs typeface="Arial" pitchFamily="34" charset="-120"/>
              </a:rPr>
              <a:t>.</a:t>
            </a:r>
            <a:endParaRPr lang="en-US" sz="1500" dirty="0"/>
          </a:p>
        </p:txBody>
      </p:sp>
      <p:pic>
        <p:nvPicPr>
          <p:cNvPr id="11" name="Image 1" descr="An analyst discussing documents with a group of people around a meeting table"/>
          <p:cNvPicPr>
            <a:picLocks noChangeAspect="1"/>
          </p:cNvPicPr>
          <p:nvPr/>
        </p:nvPicPr>
        <p:blipFill>
          <a:blip r:embed="rId4"/>
          <a:srcRect r="46966"/>
          <a:stretch/>
        </p:blipFill>
        <p:spPr>
          <a:xfrm>
            <a:off x="7696200" y="1270000"/>
            <a:ext cx="3683000" cy="4635500"/>
          </a:xfrm>
          <a:prstGeom prst="rect">
            <a:avLst/>
          </a:prstGeom>
        </p:spPr>
      </p:pic>
      <p:sp>
        <p:nvSpPr>
          <p:cNvPr id="12" name="Text 8"/>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Wiegers &amp; Beatty (2013), ch. 7</a:t>
            </a:r>
            <a:endParaRPr lang="en-US" sz="1200" dirty="0"/>
          </a:p>
        </p:txBody>
      </p:sp>
      <p:sp>
        <p:nvSpPr>
          <p:cNvPr id="13" name="Text 9"/>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Families of elicitation techniques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84300"/>
          <a:ext cx="10553700" cy="3079948"/>
        </p:xfrm>
        <a:graphic>
          <a:graphicData uri="http://schemas.openxmlformats.org/drawingml/2006/table">
            <a:tbl>
              <a:tblPr/>
              <a:tblGrid>
                <a:gridCol w="1899666">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Family</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Techniques</a:t>
                      </a:r>
                      <a:endParaRPr lang="en-US" sz="1300" dirty="0">
                        <a:latin typeface="Arial" charset="0"/>
                        <a:ea typeface="Arial" charset="0"/>
                        <a:cs typeface="Arial" charset="0"/>
                      </a:endParaRPr>
                    </a:p>
                  </a:txBody>
                  <a:tcPr marL="57785" marR="57785" marT="57785" marB="57785">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Good at capturing</a:t>
                      </a:r>
                      <a:endParaRPr lang="en-US" sz="1300" dirty="0">
                        <a:latin typeface="Arial" charset="0"/>
                        <a:ea typeface="Arial" charset="0"/>
                        <a:cs typeface="Arial" charset="0"/>
                      </a:endParaRPr>
                    </a:p>
                  </a:txBody>
                  <a:tcPr marL="57785" marR="57785" marT="57785" marB="57785">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Limitations</a:t>
                      </a:r>
                      <a:endParaRPr lang="en-US" sz="1300" dirty="0">
                        <a:latin typeface="Arial" charset="0"/>
                        <a:ea typeface="Arial" charset="0"/>
                        <a:cs typeface="Arial" charset="0"/>
                      </a:endParaRPr>
                    </a:p>
                  </a:txBody>
                  <a:tcPr marL="57785" marR="57785" marT="57785" marB="57785">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Conversational</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interviews, workshops, focus groups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goals, priorities, explicit knowledge</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depend on memory and articulation</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Observational</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observation, ethnography, task analysis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tacit knowledge, real context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time-consuming; the observer changes behaviour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Analytical</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document analysis, interface analysis, reverse engineering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rules, data, current system</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reproduce the past</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Collaborative</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prototypes, story mapping, storyboards, event storming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make the abstract concrete; validate early</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risk of fixing a solution too early</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Questionnaires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online surveys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many users, quantitative data</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only answer what is asked</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Teaching grouping, based on Wiegers &amp; Beatty (2013), ch. 7</a:t>
            </a:r>
            <a:endParaRPr lang="en-US" sz="1200" dirty="0"/>
          </a:p>
        </p:txBody>
      </p:sp>
      <p:sp>
        <p:nvSpPr>
          <p:cNvPr id="7"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Which techniques for which project?</a:t>
            </a:r>
            <a:endParaRPr lang="en-US" sz="2600" dirty="0"/>
          </a:p>
        </p:txBody>
      </p:sp>
      <p:pic>
        <p:nvPicPr>
          <p:cNvPr id="5" name="Image 1" descr="Wiegers table mapping project types (mass-market software, internal corporate software, system replacement, embedded systems, among others) to eight elicitation techniques"/>
          <p:cNvPicPr>
            <a:picLocks noChangeAspect="1"/>
          </p:cNvPicPr>
          <p:nvPr/>
        </p:nvPicPr>
        <p:blipFill>
          <a:blip r:embed="rId4"/>
          <a:srcRect l="-15" r="-15"/>
          <a:stretch/>
        </p:blipFill>
        <p:spPr>
          <a:xfrm>
            <a:off x="812800" y="1244600"/>
            <a:ext cx="7874000" cy="4108450"/>
          </a:xfrm>
          <a:prstGeom prst="rect">
            <a:avLst/>
          </a:prstGeom>
        </p:spPr>
      </p:pic>
      <p:sp>
        <p:nvSpPr>
          <p:cNvPr id="6" name="Text 2"/>
          <p:cNvSpPr/>
          <p:nvPr/>
        </p:nvSpPr>
        <p:spPr>
          <a:xfrm>
            <a:off x="812800" y="5429250"/>
            <a:ext cx="81102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Wiegers &amp; Beatty (2013), figure 7-3: suggested elicitation techniques by project characteristic.</a:t>
            </a:r>
            <a:endParaRPr lang="en-US" sz="1200" dirty="0"/>
          </a:p>
        </p:txBody>
      </p:sp>
      <p:sp>
        <p:nvSpPr>
          <p:cNvPr id="7" name="Shape 3"/>
          <p:cNvSpPr/>
          <p:nvPr/>
        </p:nvSpPr>
        <p:spPr>
          <a:xfrm>
            <a:off x="8940800" y="1244600"/>
            <a:ext cx="2438400" cy="2889845"/>
          </a:xfrm>
          <a:prstGeom prst="rect">
            <a:avLst/>
          </a:prstGeom>
          <a:solidFill>
            <a:srgbClr val="DBEFC1"/>
          </a:solidFill>
          <a:ln/>
        </p:spPr>
        <p:txBody>
          <a:bodyPr/>
          <a:lstStyle/>
          <a:p>
            <a:endParaRPr lang="pt-PT"/>
          </a:p>
        </p:txBody>
      </p:sp>
      <p:sp>
        <p:nvSpPr>
          <p:cNvPr id="8" name="Text 4"/>
          <p:cNvSpPr/>
          <p:nvPr/>
        </p:nvSpPr>
        <p:spPr>
          <a:xfrm>
            <a:off x="9144000" y="1447800"/>
            <a:ext cx="209296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Arial" pitchFamily="34" charset="0"/>
                <a:ea typeface="Arial" pitchFamily="34" charset="-122"/>
                <a:cs typeface="Arial" pitchFamily="34" charset="-120"/>
              </a:rPr>
              <a:t>What about the kiosk?</a:t>
            </a:r>
            <a:endParaRPr lang="en-US" sz="1600" dirty="0"/>
          </a:p>
        </p:txBody>
      </p:sp>
      <p:sp>
        <p:nvSpPr>
          <p:cNvPr id="9" name="Text 5"/>
          <p:cNvSpPr/>
          <p:nvPr/>
        </p:nvSpPr>
        <p:spPr>
          <a:xfrm>
            <a:off x="9144000" y="2062361"/>
            <a:ext cx="2092960"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Arial" pitchFamily="34" charset="0"/>
                <a:ea typeface="Arial" pitchFamily="34" charset="-122"/>
                <a:cs typeface="Arial" pitchFamily="34" charset="-120"/>
              </a:rPr>
              <a:t>A mass-market product, on dedicated hardware, replacing part of the counter service.</a:t>
            </a:r>
            <a:endParaRPr lang="en-US" sz="1400" dirty="0"/>
          </a:p>
        </p:txBody>
      </p:sp>
      <p:sp>
        <p:nvSpPr>
          <p:cNvPr id="10" name="Text 6"/>
          <p:cNvSpPr/>
          <p:nvPr/>
        </p:nvSpPr>
        <p:spPr>
          <a:xfrm>
            <a:off x="9144000" y="3184723"/>
            <a:ext cx="2092960" cy="771922"/>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Arial" pitchFamily="34" charset="0"/>
                <a:ea typeface="Arial" pitchFamily="34" charset="-122"/>
                <a:cs typeface="Arial" pitchFamily="34" charset="-120"/>
              </a:rPr>
              <a:t>30 s:</a:t>
            </a:r>
            <a:r>
              <a:rPr lang="en-US" sz="1400" dirty="0">
                <a:solidFill>
                  <a:srgbClr val="000000"/>
                </a:solidFill>
                <a:latin typeface="Arial" pitchFamily="34" charset="0"/>
                <a:ea typeface="Arial" pitchFamily="34" charset="-122"/>
                <a:cs typeface="Arial" pitchFamily="34" charset="-120"/>
              </a:rPr>
              <a:t> which three techniques would you choose, and why?</a:t>
            </a:r>
            <a:endParaRPr lang="en-US" sz="1400" dirty="0"/>
          </a:p>
        </p:txBody>
      </p:sp>
      <p:sp>
        <p:nvSpPr>
          <p:cNvPr id="11" name="Text 7"/>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2" name="Text 8"/>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Activity: elicitation in action</a:t>
            </a:r>
            <a:endParaRPr lang="en-US" sz="2600" dirty="0"/>
          </a:p>
        </p:txBody>
      </p:sp>
      <p:sp>
        <p:nvSpPr>
          <p:cNvPr id="5" name="Text 2"/>
          <p:cNvSpPr/>
          <p:nvPr/>
        </p:nvSpPr>
        <p:spPr>
          <a:xfrm>
            <a:off x="812800" y="1270000"/>
            <a:ext cx="3437434" cy="683220"/>
          </a:xfrm>
          <a:prstGeom prst="rect">
            <a:avLst/>
          </a:prstGeom>
          <a:solidFill>
            <a:srgbClr val="92D400"/>
          </a:solidFill>
          <a:ln/>
        </p:spPr>
        <p:txBody>
          <a:bodyPr wrap="square" lIns="177800" tIns="127000" rIns="85345" bIns="1016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8 min · read</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your group's case</a:t>
            </a:r>
            <a:endParaRPr lang="en-US" sz="1300" dirty="0"/>
          </a:p>
        </p:txBody>
      </p:sp>
      <p:sp>
        <p:nvSpPr>
          <p:cNvPr id="6" name="Text 3"/>
          <p:cNvSpPr/>
          <p:nvPr/>
        </p:nvSpPr>
        <p:spPr>
          <a:xfrm>
            <a:off x="4377234" y="1270000"/>
            <a:ext cx="3437533" cy="683220"/>
          </a:xfrm>
          <a:prstGeom prst="rect">
            <a:avLst/>
          </a:prstGeom>
          <a:solidFill>
            <a:srgbClr val="92D400"/>
          </a:solidFill>
          <a:ln/>
        </p:spPr>
        <p:txBody>
          <a:bodyPr wrap="square" lIns="177800" tIns="127000" rIns="85342" bIns="1016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7 min · produce</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the group sheet (next slide)</a:t>
            </a:r>
            <a:endParaRPr lang="en-US" sz="1300" dirty="0"/>
          </a:p>
        </p:txBody>
      </p:sp>
      <p:sp>
        <p:nvSpPr>
          <p:cNvPr id="7" name="Text 4"/>
          <p:cNvSpPr/>
          <p:nvPr/>
        </p:nvSpPr>
        <p:spPr>
          <a:xfrm>
            <a:off x="7941766" y="1270000"/>
            <a:ext cx="3437434" cy="683220"/>
          </a:xfrm>
          <a:prstGeom prst="rect">
            <a:avLst/>
          </a:prstGeom>
          <a:solidFill>
            <a:srgbClr val="92D400"/>
          </a:solidFill>
          <a:ln/>
        </p:spPr>
        <p:txBody>
          <a:bodyPr wrap="square" lIns="177800" tIns="127000" rIns="85345" bIns="10160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5 min · share</a:t>
            </a:r>
            <a:endParaRPr lang="en-US" sz="1300" dirty="0"/>
          </a:p>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2 or 3 groups, 1 min each</a:t>
            </a:r>
            <a:endParaRPr lang="en-US" sz="1300" dirty="0"/>
          </a:p>
        </p:txBody>
      </p:sp>
      <p:sp>
        <p:nvSpPr>
          <p:cNvPr id="8" name="Shape 5"/>
          <p:cNvSpPr/>
          <p:nvPr/>
        </p:nvSpPr>
        <p:spPr>
          <a:xfrm>
            <a:off x="812800" y="2105620"/>
            <a:ext cx="10566400" cy="347960"/>
          </a:xfrm>
          <a:prstGeom prst="rect">
            <a:avLst/>
          </a:prstGeom>
          <a:solidFill>
            <a:srgbClr val="DBEFC1"/>
          </a:solidFill>
          <a:ln/>
        </p:spPr>
        <p:txBody>
          <a:bodyPr/>
          <a:lstStyle/>
          <a:p>
            <a:endParaRPr lang="pt-PT"/>
          </a:p>
        </p:txBody>
      </p:sp>
      <p:sp>
        <p:nvSpPr>
          <p:cNvPr id="9" name="Shape 6"/>
          <p:cNvSpPr/>
          <p:nvPr/>
        </p:nvSpPr>
        <p:spPr>
          <a:xfrm>
            <a:off x="812800" y="2450405"/>
            <a:ext cx="10566400" cy="0"/>
          </a:xfrm>
          <a:prstGeom prst="line">
            <a:avLst/>
          </a:prstGeom>
          <a:noFill/>
          <a:ln w="6350">
            <a:solidFill>
              <a:srgbClr val="BBBBBB"/>
            </a:solidFill>
            <a:prstDash val="solid"/>
          </a:ln>
        </p:spPr>
        <p:txBody>
          <a:bodyPr/>
          <a:lstStyle/>
          <a:p>
            <a:endParaRPr lang="pt-PT"/>
          </a:p>
        </p:txBody>
      </p:sp>
      <p:sp>
        <p:nvSpPr>
          <p:cNvPr id="10" name="Text 7"/>
          <p:cNvSpPr/>
          <p:nvPr/>
        </p:nvSpPr>
        <p:spPr>
          <a:xfrm>
            <a:off x="914400" y="2169120"/>
            <a:ext cx="749300"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Group</a:t>
            </a:r>
            <a:endParaRPr lang="en-US" sz="1300" dirty="0"/>
          </a:p>
        </p:txBody>
      </p:sp>
      <p:sp>
        <p:nvSpPr>
          <p:cNvPr id="11" name="Text 8"/>
          <p:cNvSpPr/>
          <p:nvPr/>
        </p:nvSpPr>
        <p:spPr>
          <a:xfrm>
            <a:off x="1765300" y="2169120"/>
            <a:ext cx="2158365"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Technique</a:t>
            </a:r>
            <a:endParaRPr lang="en-US" sz="1300" dirty="0"/>
          </a:p>
        </p:txBody>
      </p:sp>
      <p:sp>
        <p:nvSpPr>
          <p:cNvPr id="12" name="Text 9"/>
          <p:cNvSpPr/>
          <p:nvPr/>
        </p:nvSpPr>
        <p:spPr>
          <a:xfrm>
            <a:off x="4013200" y="2169120"/>
            <a:ext cx="7456170"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Arial" pitchFamily="34" charset="0"/>
                <a:ea typeface="Arial" pitchFamily="34" charset="-122"/>
                <a:cs typeface="Arial" pitchFamily="34" charset="-120"/>
              </a:rPr>
              <a:t>Case (Well-Architected Guide)</a:t>
            </a:r>
            <a:endParaRPr lang="en-US" sz="1300" dirty="0"/>
          </a:p>
        </p:txBody>
      </p:sp>
      <p:sp>
        <p:nvSpPr>
          <p:cNvPr id="13" name="Shape 10"/>
          <p:cNvSpPr/>
          <p:nvPr/>
        </p:nvSpPr>
        <p:spPr>
          <a:xfrm>
            <a:off x="812800" y="2798366"/>
            <a:ext cx="10566400" cy="0"/>
          </a:xfrm>
          <a:prstGeom prst="line">
            <a:avLst/>
          </a:prstGeom>
          <a:noFill/>
          <a:ln w="6350">
            <a:solidFill>
              <a:srgbClr val="BBBBBB"/>
            </a:solidFill>
            <a:prstDash val="solid"/>
          </a:ln>
        </p:spPr>
        <p:txBody>
          <a:bodyPr/>
          <a:lstStyle/>
          <a:p>
            <a:endParaRPr lang="pt-PT"/>
          </a:p>
        </p:txBody>
      </p:sp>
      <p:sp>
        <p:nvSpPr>
          <p:cNvPr id="14" name="Text 11"/>
          <p:cNvSpPr/>
          <p:nvPr/>
        </p:nvSpPr>
        <p:spPr>
          <a:xfrm>
            <a:off x="914400" y="2517080"/>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1</a:t>
            </a:r>
            <a:endParaRPr lang="en-US" sz="1300" dirty="0"/>
          </a:p>
        </p:txBody>
      </p:sp>
      <p:sp>
        <p:nvSpPr>
          <p:cNvPr id="15" name="Text 12"/>
          <p:cNvSpPr/>
          <p:nvPr/>
        </p:nvSpPr>
        <p:spPr>
          <a:xfrm>
            <a:off x="1765300" y="2517080"/>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Interview</a:t>
            </a:r>
            <a:endParaRPr lang="en-US" sz="1300" dirty="0"/>
          </a:p>
        </p:txBody>
      </p:sp>
      <p:sp>
        <p:nvSpPr>
          <p:cNvPr id="16" name="Text 13"/>
          <p:cNvSpPr/>
          <p:nvPr/>
        </p:nvSpPr>
        <p:spPr>
          <a:xfrm>
            <a:off x="4013200" y="2517080"/>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Interview Session: CRM System</a:t>
            </a:r>
            <a:endParaRPr lang="en-US" sz="1300" dirty="0"/>
          </a:p>
        </p:txBody>
      </p:sp>
      <p:sp>
        <p:nvSpPr>
          <p:cNvPr id="17" name="Shape 14"/>
          <p:cNvSpPr/>
          <p:nvPr/>
        </p:nvSpPr>
        <p:spPr>
          <a:xfrm>
            <a:off x="812800" y="3146326"/>
            <a:ext cx="10566400" cy="0"/>
          </a:xfrm>
          <a:prstGeom prst="line">
            <a:avLst/>
          </a:prstGeom>
          <a:noFill/>
          <a:ln w="6350">
            <a:solidFill>
              <a:srgbClr val="BBBBBB"/>
            </a:solidFill>
            <a:prstDash val="solid"/>
          </a:ln>
        </p:spPr>
        <p:txBody>
          <a:bodyPr/>
          <a:lstStyle/>
          <a:p>
            <a:endParaRPr lang="pt-PT"/>
          </a:p>
        </p:txBody>
      </p:sp>
      <p:sp>
        <p:nvSpPr>
          <p:cNvPr id="18" name="Text 15"/>
          <p:cNvSpPr/>
          <p:nvPr/>
        </p:nvSpPr>
        <p:spPr>
          <a:xfrm>
            <a:off x="914400" y="286504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1765300" y="286504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Observation</a:t>
            </a:r>
            <a:endParaRPr lang="en-US" sz="1300" dirty="0"/>
          </a:p>
        </p:txBody>
      </p:sp>
      <p:sp>
        <p:nvSpPr>
          <p:cNvPr id="20" name="Text 17"/>
          <p:cNvSpPr/>
          <p:nvPr/>
        </p:nvSpPr>
        <p:spPr>
          <a:xfrm>
            <a:off x="4013200" y="286504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Observation Session: Warehouse Operations</a:t>
            </a:r>
            <a:endParaRPr lang="en-US" sz="1300" dirty="0"/>
          </a:p>
        </p:txBody>
      </p:sp>
      <p:sp>
        <p:nvSpPr>
          <p:cNvPr id="21" name="Shape 18"/>
          <p:cNvSpPr/>
          <p:nvPr/>
        </p:nvSpPr>
        <p:spPr>
          <a:xfrm>
            <a:off x="812800" y="3494286"/>
            <a:ext cx="10566400" cy="0"/>
          </a:xfrm>
          <a:prstGeom prst="line">
            <a:avLst/>
          </a:prstGeom>
          <a:noFill/>
          <a:ln w="6350">
            <a:solidFill>
              <a:srgbClr val="BBBBBB"/>
            </a:solidFill>
            <a:prstDash val="solid"/>
          </a:ln>
        </p:spPr>
        <p:txBody>
          <a:bodyPr/>
          <a:lstStyle/>
          <a:p>
            <a:endParaRPr lang="pt-PT"/>
          </a:p>
        </p:txBody>
      </p:sp>
      <p:sp>
        <p:nvSpPr>
          <p:cNvPr id="22" name="Text 19"/>
          <p:cNvSpPr/>
          <p:nvPr/>
        </p:nvSpPr>
        <p:spPr>
          <a:xfrm>
            <a:off x="914400" y="321300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3</a:t>
            </a:r>
            <a:endParaRPr lang="en-US" sz="1300" dirty="0"/>
          </a:p>
        </p:txBody>
      </p:sp>
      <p:sp>
        <p:nvSpPr>
          <p:cNvPr id="23" name="Text 20"/>
          <p:cNvSpPr/>
          <p:nvPr/>
        </p:nvSpPr>
        <p:spPr>
          <a:xfrm>
            <a:off x="1765300" y="321300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Workshop</a:t>
            </a:r>
            <a:endParaRPr lang="en-US" sz="1300" dirty="0"/>
          </a:p>
        </p:txBody>
      </p:sp>
      <p:sp>
        <p:nvSpPr>
          <p:cNvPr id="24" name="Text 21"/>
          <p:cNvSpPr/>
          <p:nvPr/>
        </p:nvSpPr>
        <p:spPr>
          <a:xfrm>
            <a:off x="4013200" y="321300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Requirements Workshop: Employee Onboarding System</a:t>
            </a:r>
            <a:endParaRPr lang="en-US" sz="1300" dirty="0"/>
          </a:p>
        </p:txBody>
      </p:sp>
      <p:sp>
        <p:nvSpPr>
          <p:cNvPr id="25" name="Shape 22"/>
          <p:cNvSpPr/>
          <p:nvPr/>
        </p:nvSpPr>
        <p:spPr>
          <a:xfrm>
            <a:off x="812800" y="3842246"/>
            <a:ext cx="10566400" cy="0"/>
          </a:xfrm>
          <a:prstGeom prst="line">
            <a:avLst/>
          </a:prstGeom>
          <a:noFill/>
          <a:ln w="6350">
            <a:solidFill>
              <a:srgbClr val="BBBBBB"/>
            </a:solidFill>
            <a:prstDash val="solid"/>
          </a:ln>
        </p:spPr>
        <p:txBody>
          <a:bodyPr/>
          <a:lstStyle/>
          <a:p>
            <a:endParaRPr lang="pt-PT"/>
          </a:p>
        </p:txBody>
      </p:sp>
      <p:sp>
        <p:nvSpPr>
          <p:cNvPr id="26" name="Text 23"/>
          <p:cNvSpPr/>
          <p:nvPr/>
        </p:nvSpPr>
        <p:spPr>
          <a:xfrm>
            <a:off x="914400" y="356096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4</a:t>
            </a:r>
            <a:endParaRPr lang="en-US" sz="1300" dirty="0"/>
          </a:p>
        </p:txBody>
      </p:sp>
      <p:sp>
        <p:nvSpPr>
          <p:cNvPr id="27" name="Text 24"/>
          <p:cNvSpPr/>
          <p:nvPr/>
        </p:nvSpPr>
        <p:spPr>
          <a:xfrm>
            <a:off x="1765300" y="356096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Questionnaire</a:t>
            </a:r>
            <a:endParaRPr lang="en-US" sz="1300" dirty="0"/>
          </a:p>
        </p:txBody>
      </p:sp>
      <p:sp>
        <p:nvSpPr>
          <p:cNvPr id="28" name="Text 25"/>
          <p:cNvSpPr/>
          <p:nvPr/>
        </p:nvSpPr>
        <p:spPr>
          <a:xfrm>
            <a:off x="4013200" y="356096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Survey: E-Learning Platform Requirements</a:t>
            </a:r>
            <a:endParaRPr lang="en-US" sz="1300" dirty="0"/>
          </a:p>
        </p:txBody>
      </p:sp>
      <p:sp>
        <p:nvSpPr>
          <p:cNvPr id="29" name="Shape 26"/>
          <p:cNvSpPr/>
          <p:nvPr/>
        </p:nvSpPr>
        <p:spPr>
          <a:xfrm>
            <a:off x="812800" y="4190206"/>
            <a:ext cx="10566400" cy="0"/>
          </a:xfrm>
          <a:prstGeom prst="line">
            <a:avLst/>
          </a:prstGeom>
          <a:noFill/>
          <a:ln w="6350">
            <a:solidFill>
              <a:srgbClr val="BBBBBB"/>
            </a:solidFill>
            <a:prstDash val="solid"/>
          </a:ln>
        </p:spPr>
        <p:txBody>
          <a:bodyPr/>
          <a:lstStyle/>
          <a:p>
            <a:endParaRPr lang="pt-PT"/>
          </a:p>
        </p:txBody>
      </p:sp>
      <p:sp>
        <p:nvSpPr>
          <p:cNvPr id="30" name="Text 27"/>
          <p:cNvSpPr/>
          <p:nvPr/>
        </p:nvSpPr>
        <p:spPr>
          <a:xfrm>
            <a:off x="914400" y="390892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5</a:t>
            </a:r>
            <a:endParaRPr lang="en-US" sz="1300" dirty="0"/>
          </a:p>
        </p:txBody>
      </p:sp>
      <p:sp>
        <p:nvSpPr>
          <p:cNvPr id="31" name="Text 28"/>
          <p:cNvSpPr/>
          <p:nvPr/>
        </p:nvSpPr>
        <p:spPr>
          <a:xfrm>
            <a:off x="1765300" y="390892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Document analysis</a:t>
            </a:r>
            <a:endParaRPr lang="en-US" sz="1300" dirty="0"/>
          </a:p>
        </p:txBody>
      </p:sp>
      <p:sp>
        <p:nvSpPr>
          <p:cNvPr id="32" name="Text 29"/>
          <p:cNvSpPr/>
          <p:nvPr/>
        </p:nvSpPr>
        <p:spPr>
          <a:xfrm>
            <a:off x="4013200" y="390892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val="tx"/>
                    </a:ext>
                  </a:extLst>
                </a:hlinkClick>
              </a:rPr>
              <a:t>Document Analysis: Hospital Management System</a:t>
            </a:r>
            <a:endParaRPr lang="en-US" sz="1300" dirty="0"/>
          </a:p>
        </p:txBody>
      </p:sp>
      <p:sp>
        <p:nvSpPr>
          <p:cNvPr id="33" name="Shape 30"/>
          <p:cNvSpPr/>
          <p:nvPr/>
        </p:nvSpPr>
        <p:spPr>
          <a:xfrm>
            <a:off x="812800" y="4538166"/>
            <a:ext cx="10566400" cy="0"/>
          </a:xfrm>
          <a:prstGeom prst="line">
            <a:avLst/>
          </a:prstGeom>
          <a:noFill/>
          <a:ln w="6350">
            <a:solidFill>
              <a:srgbClr val="BBBBBB"/>
            </a:solidFill>
            <a:prstDash val="solid"/>
          </a:ln>
        </p:spPr>
        <p:txBody>
          <a:bodyPr/>
          <a:lstStyle/>
          <a:p>
            <a:endParaRPr lang="pt-PT"/>
          </a:p>
        </p:txBody>
      </p:sp>
      <p:sp>
        <p:nvSpPr>
          <p:cNvPr id="34" name="Text 31"/>
          <p:cNvSpPr/>
          <p:nvPr/>
        </p:nvSpPr>
        <p:spPr>
          <a:xfrm>
            <a:off x="914400" y="425688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6</a:t>
            </a:r>
            <a:endParaRPr lang="en-US" sz="1300" dirty="0"/>
          </a:p>
        </p:txBody>
      </p:sp>
      <p:sp>
        <p:nvSpPr>
          <p:cNvPr id="35" name="Text 32"/>
          <p:cNvSpPr/>
          <p:nvPr/>
        </p:nvSpPr>
        <p:spPr>
          <a:xfrm>
            <a:off x="1765300" y="425688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Prototyping</a:t>
            </a:r>
            <a:endParaRPr lang="en-US" sz="1300" dirty="0"/>
          </a:p>
        </p:txBody>
      </p:sp>
      <p:sp>
        <p:nvSpPr>
          <p:cNvPr id="36" name="Text 33"/>
          <p:cNvSpPr/>
          <p:nvPr/>
        </p:nvSpPr>
        <p:spPr>
          <a:xfrm>
            <a:off x="4013200" y="425688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9">
                  <a:extLst>
                    <a:ext uri="{A12FA001-AC4F-418D-AE19-62706E023703}">
                      <ahyp:hlinkClr xmlns:ahyp="http://schemas.microsoft.com/office/drawing/2018/hyperlinkcolor" val="tx"/>
                    </a:ext>
                  </a:extLst>
                </a:hlinkClick>
              </a:rPr>
              <a:t>Prototyping Session: E-Commerce Website</a:t>
            </a:r>
            <a:endParaRPr lang="en-US" sz="1300" dirty="0"/>
          </a:p>
        </p:txBody>
      </p:sp>
      <p:sp>
        <p:nvSpPr>
          <p:cNvPr id="37" name="Shape 34"/>
          <p:cNvSpPr/>
          <p:nvPr/>
        </p:nvSpPr>
        <p:spPr>
          <a:xfrm>
            <a:off x="812800" y="4886127"/>
            <a:ext cx="10566400" cy="0"/>
          </a:xfrm>
          <a:prstGeom prst="line">
            <a:avLst/>
          </a:prstGeom>
          <a:noFill/>
          <a:ln w="6350">
            <a:solidFill>
              <a:srgbClr val="BBBBBB"/>
            </a:solidFill>
            <a:prstDash val="solid"/>
          </a:ln>
        </p:spPr>
        <p:txBody>
          <a:bodyPr/>
          <a:lstStyle/>
          <a:p>
            <a:endParaRPr lang="pt-PT"/>
          </a:p>
        </p:txBody>
      </p:sp>
      <p:sp>
        <p:nvSpPr>
          <p:cNvPr id="38" name="Text 35"/>
          <p:cNvSpPr/>
          <p:nvPr/>
        </p:nvSpPr>
        <p:spPr>
          <a:xfrm>
            <a:off x="914400" y="4604841"/>
            <a:ext cx="7493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7</a:t>
            </a:r>
            <a:endParaRPr lang="en-US" sz="1300" dirty="0"/>
          </a:p>
        </p:txBody>
      </p:sp>
      <p:sp>
        <p:nvSpPr>
          <p:cNvPr id="39" name="Text 36"/>
          <p:cNvSpPr/>
          <p:nvPr/>
        </p:nvSpPr>
        <p:spPr>
          <a:xfrm>
            <a:off x="1765300" y="4604841"/>
            <a:ext cx="215836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000000"/>
                </a:solidFill>
                <a:latin typeface="Arial" pitchFamily="34" charset="0"/>
                <a:ea typeface="Arial" pitchFamily="34" charset="-122"/>
                <a:cs typeface="Arial" pitchFamily="34" charset="-120"/>
              </a:rPr>
              <a:t>Event storming</a:t>
            </a:r>
            <a:endParaRPr lang="en-US" sz="1300" dirty="0"/>
          </a:p>
        </p:txBody>
      </p:sp>
      <p:sp>
        <p:nvSpPr>
          <p:cNvPr id="40" name="Text 37"/>
          <p:cNvSpPr/>
          <p:nvPr/>
        </p:nvSpPr>
        <p:spPr>
          <a:xfrm>
            <a:off x="4013200" y="4604841"/>
            <a:ext cx="7456170"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0B5CAD"/>
                </a:solidFill>
                <a:latin typeface="Arial" pitchFamily="34" charset="0"/>
                <a:ea typeface="Arial" pitchFamily="34" charset="-122"/>
                <a:cs typeface="Arial" pitchFamily="34" charset="-120"/>
                <a:hlinkClick r:id="rId10">
                  <a:extLst>
                    <a:ext uri="{A12FA001-AC4F-418D-AE19-62706E023703}">
                      <ahyp:hlinkClr xmlns:ahyp="http://schemas.microsoft.com/office/drawing/2018/hyperlinkcolor" val="tx"/>
                    </a:ext>
                  </a:extLst>
                </a:hlinkClick>
              </a:rPr>
              <a:t>Event Storming Session: Retail Order Management</a:t>
            </a:r>
            <a:endParaRPr lang="en-US" sz="1300" dirty="0"/>
          </a:p>
        </p:txBody>
      </p:sp>
      <p:sp>
        <p:nvSpPr>
          <p:cNvPr id="41" name="Text 38"/>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Groups of 3–4; with more than 7 groups, cases repeat</a:t>
            </a:r>
            <a:endParaRPr lang="en-US" sz="1200" dirty="0"/>
          </a:p>
        </p:txBody>
      </p:sp>
      <p:sp>
        <p:nvSpPr>
          <p:cNvPr id="42" name="Text 39"/>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Group sheet</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84300"/>
          <a:ext cx="10553700" cy="1929805"/>
        </p:xfrm>
        <a:graphic>
          <a:graphicData uri="http://schemas.openxmlformats.org/drawingml/2006/table">
            <a:tbl>
              <a:tblPr/>
              <a:tblGrid>
                <a:gridCol w="633222">
                  <a:extLst>
                    <a:ext uri="{9D8B030D-6E8A-4147-A177-3AD203B41FA5}">
                      <a16:colId xmlns:a16="http://schemas.microsoft.com/office/drawing/2014/main" val="20000"/>
                    </a:ext>
                  </a:extLst>
                </a:gridCol>
                <a:gridCol w="9920478">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960"/>
                        </a:lnSpc>
                        <a:buNone/>
                      </a:pPr>
                      <a:r>
                        <a:rPr lang="en-US" sz="1400" b="1" dirty="0">
                          <a:solidFill>
                            <a:srgbClr val="000000"/>
                          </a:solidFill>
                          <a:latin typeface="Arial" pitchFamily="34" charset="0"/>
                          <a:ea typeface="Arial" pitchFamily="34" charset="-122"/>
                          <a:cs typeface="Arial" pitchFamily="34" charset="-120"/>
                        </a:rPr>
                        <a:t>Answer based on your group's case</a:t>
                      </a:r>
                      <a:endParaRPr lang="en-US" sz="1400" dirty="0">
                        <a:latin typeface="Arial" charset="0"/>
                        <a:ea typeface="Arial" charset="0"/>
                        <a:cs typeface="Arial" charset="0"/>
                      </a:endParaRPr>
                    </a:p>
                  </a:txBody>
                  <a:tcPr marL="62230" marR="62230" marT="62230" marB="6223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What is the goal of the session? Which stakeholders take part?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What knowledge does it capture best: tacit or explicit? Why?</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One strength, one limitation and a type of project where you would use it (compare with figure 7-3).</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itchFamily="34" charset="0"/>
                          <a:ea typeface="Arial" pitchFamily="34" charset="-122"/>
                          <a:cs typeface="Arial" pitchFamily="34" charset="-120"/>
                        </a:rPr>
                        <a:t>From the document's notes, write 1 functional and 1 non-functional requirement.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812800" y="3491905"/>
            <a:ext cx="108833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Arial" pitchFamily="34" charset="0"/>
                <a:ea typeface="Arial" pitchFamily="34" charset="-122"/>
                <a:cs typeface="Arial" pitchFamily="34" charset="-120"/>
              </a:rPr>
              <a:t>Post your sheet on the </a:t>
            </a:r>
            <a:r>
              <a:rPr lang="en-US" sz="1500" u="sng" dirty="0">
                <a:solidFill>
                  <a:srgbClr val="0B5CAD"/>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class board</a:t>
            </a:r>
            <a:r>
              <a:rPr lang="en-US" sz="1500" dirty="0">
                <a:solidFill>
                  <a:srgbClr val="000000"/>
                </a:solidFill>
                <a:latin typeface="Arial" pitchFamily="34" charset="0"/>
                <a:ea typeface="Arial" pitchFamily="34" charset="-122"/>
                <a:cs typeface="Arial" pitchFamily="34" charset="-120"/>
              </a:rPr>
              <a:t>, in your technique's column.</a:t>
            </a:r>
            <a:endParaRPr lang="en-US" sz="1500" dirty="0"/>
          </a:p>
        </p:txBody>
      </p:sp>
      <p:sp>
        <p:nvSpPr>
          <p:cNvPr id="7" name="Text 3"/>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8" name="Text 4"/>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Sharing and synthesis</a:t>
            </a:r>
            <a:endParaRPr lang="en-US" sz="2600" dirty="0"/>
          </a:p>
        </p:txBody>
      </p:sp>
      <p:sp>
        <p:nvSpPr>
          <p:cNvPr id="5" name="Text 2"/>
          <p:cNvSpPr/>
          <p:nvPr/>
        </p:nvSpPr>
        <p:spPr>
          <a:xfrm>
            <a:off x="812800" y="1371600"/>
            <a:ext cx="50231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To discuss</a:t>
            </a:r>
            <a:endParaRPr lang="en-US" sz="1700" dirty="0"/>
          </a:p>
        </p:txBody>
      </p:sp>
      <p:sp>
        <p:nvSpPr>
          <p:cNvPr id="6" name="Text 3"/>
          <p:cNvSpPr/>
          <p:nvPr/>
        </p:nvSpPr>
        <p:spPr>
          <a:xfrm>
            <a:off x="854968" y="1757660"/>
            <a:ext cx="4973316" cy="1130300"/>
          </a:xfrm>
          <a:prstGeom prst="rect">
            <a:avLst/>
          </a:prstGeom>
          <a:noFill/>
          <a:ln/>
        </p:spPr>
        <p:txBody>
          <a:bodyPr wrap="square" lIns="0" tIns="0" rIns="0" bIns="0" rtlCol="0" anchor="t">
            <a:normAutofit/>
          </a:bodyPr>
          <a:lstStyle/>
          <a:p>
            <a:pPr marL="211832" indent="-211832" algn="l">
              <a:lnSpc>
                <a:spcPts val="2175"/>
              </a:lnSpc>
              <a:buSzPct val="100000"/>
              <a:buFontTx/>
              <a:buAutoNum type="arabicPeriod"/>
            </a:pPr>
            <a:r>
              <a:rPr lang="en-US" sz="1500" dirty="0">
                <a:solidFill>
                  <a:srgbClr val="000000"/>
                </a:solidFill>
                <a:latin typeface="Arial" pitchFamily="34" charset="0"/>
                <a:ea typeface="Arial" pitchFamily="34" charset="-122"/>
                <a:cs typeface="Arial" pitchFamily="34" charset="-120"/>
              </a:rPr>
              <a:t>Which techniques revealed tacit knowledge?</a:t>
            </a:r>
            <a:endParaRPr lang="en-US" sz="1500" dirty="0"/>
          </a:p>
          <a:p>
            <a:pPr marL="211832" indent="-211832" algn="l">
              <a:lnSpc>
                <a:spcPts val="2175"/>
              </a:lnSpc>
              <a:buSzPct val="100000"/>
              <a:buFontTx/>
              <a:buAutoNum type="arabicPeriod"/>
            </a:pPr>
            <a:r>
              <a:rPr lang="en-US" sz="1500" dirty="0">
                <a:solidFill>
                  <a:srgbClr val="000000"/>
                </a:solidFill>
                <a:latin typeface="Arial" pitchFamily="34" charset="0"/>
                <a:ea typeface="Arial" pitchFamily="34" charset="-122"/>
                <a:cs typeface="Arial" pitchFamily="34" charset="-120"/>
              </a:rPr>
              <a:t>Who was heard in each case, and who was left out?</a:t>
            </a:r>
            <a:endParaRPr lang="en-US" sz="1500" dirty="0"/>
          </a:p>
          <a:p>
            <a:pPr marL="211832" indent="-211832" algn="l">
              <a:lnSpc>
                <a:spcPts val="2175"/>
              </a:lnSpc>
              <a:buSzPct val="100000"/>
              <a:buFontTx/>
              <a:buAutoNum type="arabicPeriod"/>
            </a:pPr>
            <a:r>
              <a:rPr lang="en-US" sz="1500" dirty="0">
                <a:solidFill>
                  <a:srgbClr val="000000"/>
                </a:solidFill>
                <a:latin typeface="Arial" pitchFamily="34" charset="0"/>
                <a:ea typeface="Arial" pitchFamily="34" charset="-122"/>
                <a:cs typeface="Arial" pitchFamily="34" charset="-120"/>
              </a:rPr>
              <a:t>Why does no document get as far as verifiable requirements?</a:t>
            </a:r>
            <a:endParaRPr lang="en-US" sz="1500" dirty="0"/>
          </a:p>
        </p:txBody>
      </p:sp>
      <p:sp>
        <p:nvSpPr>
          <p:cNvPr id="7" name="Shape 4"/>
          <p:cNvSpPr/>
          <p:nvPr/>
        </p:nvSpPr>
        <p:spPr>
          <a:xfrm>
            <a:off x="5994400" y="1371600"/>
            <a:ext cx="5384800" cy="4533900"/>
          </a:xfrm>
          <a:prstGeom prst="rect">
            <a:avLst/>
          </a:prstGeom>
          <a:solidFill>
            <a:srgbClr val="DBEFC1"/>
          </a:solidFill>
          <a:ln/>
        </p:spPr>
        <p:txBody>
          <a:bodyPr/>
          <a:lstStyle/>
          <a:p>
            <a:endParaRPr lang="pt-PT"/>
          </a:p>
        </p:txBody>
      </p:sp>
      <p:sp>
        <p:nvSpPr>
          <p:cNvPr id="8" name="Text 5"/>
          <p:cNvSpPr/>
          <p:nvPr/>
        </p:nvSpPr>
        <p:spPr>
          <a:xfrm>
            <a:off x="6248400" y="1625600"/>
            <a:ext cx="50231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Key takeaways</a:t>
            </a:r>
            <a:endParaRPr lang="en-US" sz="1700" dirty="0"/>
          </a:p>
        </p:txBody>
      </p:sp>
      <p:sp>
        <p:nvSpPr>
          <p:cNvPr id="9" name="Text 6"/>
          <p:cNvSpPr/>
          <p:nvPr/>
        </p:nvSpPr>
        <p:spPr>
          <a:xfrm>
            <a:off x="6248400" y="2011660"/>
            <a:ext cx="502310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Arial" pitchFamily="34" charset="0"/>
                <a:ea typeface="Arial" pitchFamily="34" charset="-122"/>
                <a:cs typeface="Arial" pitchFamily="34" charset="-120"/>
              </a:rPr>
              <a:t>No technique is enough on its own: combine at least two families.</a:t>
            </a:r>
            <a:endParaRPr lang="en-US" sz="1500" dirty="0"/>
          </a:p>
        </p:txBody>
      </p:sp>
      <p:sp>
        <p:nvSpPr>
          <p:cNvPr id="10" name="Text 7"/>
          <p:cNvSpPr/>
          <p:nvPr/>
        </p:nvSpPr>
        <p:spPr>
          <a:xfrm>
            <a:off x="6248400" y="2672060"/>
            <a:ext cx="502310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Arial" pitchFamily="34" charset="0"/>
                <a:ea typeface="Arial" pitchFamily="34" charset="-122"/>
                <a:cs typeface="Arial" pitchFamily="34" charset="-120"/>
              </a:rPr>
              <a:t>Elicitation notes are not requirements: they still need analysis and specification.</a:t>
            </a:r>
            <a:endParaRPr lang="en-US" sz="1500" dirty="0"/>
          </a:p>
        </p:txBody>
      </p:sp>
      <p:sp>
        <p:nvSpPr>
          <p:cNvPr id="11" name="Text 8"/>
          <p:cNvSpPr/>
          <p:nvPr/>
        </p:nvSpPr>
        <p:spPr>
          <a:xfrm>
            <a:off x="6248400" y="3332460"/>
            <a:ext cx="502310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Arial" pitchFamily="34" charset="0"/>
                <a:ea typeface="Arial" pitchFamily="34" charset="-122"/>
                <a:cs typeface="Arial" pitchFamily="34" charset="-120"/>
              </a:rPr>
              <a:t>Validate early with the people who will use the system.</a:t>
            </a:r>
            <a:endParaRPr lang="en-US" sz="1500" dirty="0"/>
          </a:p>
        </p:txBody>
      </p:sp>
      <p:sp>
        <p:nvSpPr>
          <p:cNvPr id="12" name="Text 9"/>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3" name="Text 10"/>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92D400"/>
        </a:solidFill>
        <a:effectLst/>
      </p:bgPr>
    </p:bg>
    <p:spTree>
      <p:nvGrpSpPr>
        <p:cNvPr id="1" name=""/>
        <p:cNvGrpSpPr/>
        <p:nvPr/>
      </p:nvGrpSpPr>
      <p:grpSpPr>
        <a:xfrm>
          <a:off x="0" y="0"/>
          <a:ext cx="0" cy="0"/>
          <a:chOff x="0" y="0"/>
          <a:chExt cx="0" cy="0"/>
        </a:xfrm>
      </p:grpSpPr>
      <p:sp>
        <p:nvSpPr>
          <p:cNvPr id="2" name="Text 0"/>
          <p:cNvSpPr/>
          <p:nvPr/>
        </p:nvSpPr>
        <p:spPr>
          <a:xfrm>
            <a:off x="812800" y="255657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part 4</a:t>
            </a:r>
            <a:endParaRPr lang="en-US" sz="1800" dirty="0"/>
          </a:p>
        </p:txBody>
      </p:sp>
      <p:sp>
        <p:nvSpPr>
          <p:cNvPr id="3" name="Text 1"/>
          <p:cNvSpPr>
            <a:spLocks noGrp="1"/>
          </p:cNvSpPr>
          <p:nvPr>
            <p:ph type="title"/>
          </p:nvPr>
        </p:nvSpPr>
        <p:spPr>
          <a:xfrm>
            <a:off x="812800" y="30289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000000"/>
                </a:solidFill>
                <a:latin typeface="Arial" pitchFamily="34" charset="0"/>
                <a:ea typeface="Arial" pitchFamily="34" charset="-122"/>
                <a:cs typeface="Arial" pitchFamily="34" charset="-120"/>
              </a:rPr>
              <a:t>documenting requirements</a:t>
            </a:r>
            <a:endParaRPr lang="en-US" sz="6000" dirty="0"/>
          </a:p>
        </p:txBody>
      </p:sp>
      <p:sp>
        <p:nvSpPr>
          <p:cNvPr id="4" name="Text 2"/>
          <p:cNvSpPr/>
          <p:nvPr/>
        </p:nvSpPr>
        <p:spPr>
          <a:xfrm>
            <a:off x="812800" y="398145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Arial" pitchFamily="34" charset="0"/>
                <a:ea typeface="Arial" pitchFamily="34" charset="-122"/>
                <a:cs typeface="Arial" pitchFamily="34" charset="-120"/>
              </a:rPr>
              <a:t>SRS · ISO/IEC/IEEE 29148 · when to follow a standard</a:t>
            </a:r>
            <a:endParaRPr lang="en-US" sz="1800" dirty="0"/>
          </a:p>
        </p:txBody>
      </p:sp>
      <p:pic>
        <p:nvPicPr>
          <p:cNvPr id="5" name="Image 0" descr="Universidade de Aveiro · DETI"/>
          <p:cNvPicPr>
            <a:picLocks noChangeAspect="1"/>
          </p:cNvPicPr>
          <p:nvPr/>
        </p:nvPicPr>
        <p:blipFill>
          <a:blip r:embed="rId3"/>
          <a:srcRect t="-6497" b="-6497"/>
          <a:stretch/>
        </p:blipFill>
        <p:spPr>
          <a:xfrm>
            <a:off x="812800" y="5816600"/>
            <a:ext cx="2667000" cy="635000"/>
          </a:xfrm>
          <a:prstGeom prst="rect">
            <a:avLst/>
          </a:prstGeom>
        </p:spPr>
      </p:pic>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Requirements specification (SRS)</a:t>
            </a:r>
            <a:endParaRPr lang="en-US" sz="2600" dirty="0"/>
          </a:p>
        </p:txBody>
      </p:sp>
      <p:sp>
        <p:nvSpPr>
          <p:cNvPr id="5" name="Text 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Wiegers &amp; Beatty (2013), ch. 10 and appendix C</a:t>
            </a:r>
            <a:endParaRPr lang="en-US" sz="1200" dirty="0"/>
          </a:p>
        </p:txBody>
      </p:sp>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29</a:t>
            </a:r>
            <a:endParaRPr lang="en-US" sz="1200" dirty="0"/>
          </a:p>
        </p:txBody>
      </p:sp>
      <p:sp>
        <p:nvSpPr>
          <p:cNvPr id="7" name="Text 4"/>
          <p:cNvSpPr/>
          <p:nvPr/>
        </p:nvSpPr>
        <p:spPr>
          <a:xfrm>
            <a:off x="812800" y="1270000"/>
            <a:ext cx="63835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Arial" pitchFamily="34" charset="0"/>
                <a:ea typeface="Arial" pitchFamily="34" charset="-122"/>
                <a:cs typeface="Arial" pitchFamily="34" charset="-120"/>
              </a:rPr>
              <a:t>ISO/IEC/IEEE 29148:2018: information items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40780"/>
          <a:ext cx="6184900" cy="1796355"/>
        </p:xfrm>
        <a:graphic>
          <a:graphicData uri="http://schemas.openxmlformats.org/drawingml/2006/table">
            <a:tbl>
              <a:tblPr/>
              <a:tblGrid>
                <a:gridCol w="1360678">
                  <a:extLst>
                    <a:ext uri="{9D8B030D-6E8A-4147-A177-3AD203B41FA5}">
                      <a16:colId xmlns:a16="http://schemas.microsoft.com/office/drawing/2014/main" val="20000"/>
                    </a:ext>
                  </a:extLst>
                </a:gridCol>
                <a:gridCol w="4824222">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Item</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820"/>
                        </a:lnSpc>
                        <a:buNone/>
                      </a:pPr>
                      <a:r>
                        <a:rPr lang="en-US" sz="1300" b="1" dirty="0">
                          <a:solidFill>
                            <a:srgbClr val="000000"/>
                          </a:solidFill>
                          <a:latin typeface="Arial" pitchFamily="34" charset="0"/>
                          <a:ea typeface="Arial" pitchFamily="34" charset="-122"/>
                          <a:cs typeface="Arial" pitchFamily="34" charset="-120"/>
                        </a:rPr>
                        <a:t>Describes</a:t>
                      </a:r>
                      <a:endParaRPr lang="en-US" sz="1300" dirty="0">
                        <a:latin typeface="Arial" charset="0"/>
                        <a:ea typeface="Arial" charset="0"/>
                        <a:cs typeface="Arial" charset="0"/>
                      </a:endParaRPr>
                    </a:p>
                  </a:txBody>
                  <a:tcPr marL="57785" marR="57785" marT="57785" marB="57785">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BRS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the organization's business requirements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StRS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stakeholder needs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SyRS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system requirements (hardware, software, people)</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SRS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itchFamily="34" charset="0"/>
                          <a:ea typeface="Arial" pitchFamily="34" charset="-122"/>
                          <a:cs typeface="Arial" pitchFamily="34" charset="-120"/>
                        </a:rPr>
                        <a:t>software requirements</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812800" y="3551436"/>
            <a:ext cx="638352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00000"/>
                </a:solidFill>
                <a:latin typeface="Arial" pitchFamily="34" charset="0"/>
                <a:ea typeface="Arial" pitchFamily="34" charset="-122"/>
                <a:cs typeface="Arial" pitchFamily="34" charset="-120"/>
              </a:rPr>
              <a:t>IEEE 830-1998 was superseded by 29148 (2011, revised in 2018).</a:t>
            </a:r>
            <a:endParaRPr lang="en-US" sz="1300" dirty="0"/>
          </a:p>
        </p:txBody>
      </p:sp>
      <p:sp>
        <p:nvSpPr>
          <p:cNvPr id="10" name="Text 6"/>
          <p:cNvSpPr/>
          <p:nvPr/>
        </p:nvSpPr>
        <p:spPr>
          <a:xfrm>
            <a:off x="812800" y="5162550"/>
            <a:ext cx="6383528"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Arial" pitchFamily="34" charset="0"/>
                <a:ea typeface="Arial" pitchFamily="34" charset="-122"/>
                <a:cs typeface="Arial" pitchFamily="34" charset="-120"/>
              </a:rPr>
              <a:t>There is no single structure: the team chooses and tailors a template. What matters is that each requirement has an </a:t>
            </a:r>
            <a:r>
              <a:rPr lang="en-US" sz="1500" b="1" dirty="0">
                <a:solidFill>
                  <a:srgbClr val="000000"/>
                </a:solidFill>
                <a:latin typeface="Arial" pitchFamily="34" charset="0"/>
                <a:ea typeface="Arial" pitchFamily="34" charset="-122"/>
                <a:cs typeface="Arial" pitchFamily="34" charset="-120"/>
              </a:rPr>
              <a:t>ID, source, priority and verification criterion</a:t>
            </a: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11" name="Shape 7"/>
          <p:cNvSpPr/>
          <p:nvPr/>
        </p:nvSpPr>
        <p:spPr>
          <a:xfrm>
            <a:off x="7315200" y="1270000"/>
            <a:ext cx="4064000" cy="4635500"/>
          </a:xfrm>
          <a:prstGeom prst="rect">
            <a:avLst/>
          </a:prstGeom>
          <a:solidFill>
            <a:srgbClr val="DBEFC1"/>
          </a:solidFill>
          <a:ln/>
        </p:spPr>
        <p:txBody>
          <a:bodyPr/>
          <a:lstStyle/>
          <a:p>
            <a:endParaRPr lang="pt-PT"/>
          </a:p>
        </p:txBody>
      </p:sp>
      <p:sp>
        <p:nvSpPr>
          <p:cNvPr id="12" name="Text 8"/>
          <p:cNvSpPr/>
          <p:nvPr/>
        </p:nvSpPr>
        <p:spPr>
          <a:xfrm>
            <a:off x="7783076" y="1409700"/>
            <a:ext cx="3128248"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00000"/>
                </a:solidFill>
                <a:latin typeface="Arial" pitchFamily="34" charset="0"/>
                <a:ea typeface="Arial" pitchFamily="34" charset="-122"/>
                <a:cs typeface="Arial" pitchFamily="34" charset="-120"/>
              </a:rPr>
              <a:t>Wiegers' SRS template (example)</a:t>
            </a:r>
            <a:endParaRPr lang="en-US" sz="1300" dirty="0"/>
          </a:p>
        </p:txBody>
      </p:sp>
      <p:sp>
        <p:nvSpPr>
          <p:cNvPr id="13" name="Shape 9"/>
          <p:cNvSpPr/>
          <p:nvPr/>
        </p:nvSpPr>
        <p:spPr>
          <a:xfrm>
            <a:off x="7639050" y="1736030"/>
            <a:ext cx="3416300" cy="4023420"/>
          </a:xfrm>
          <a:prstGeom prst="rect">
            <a:avLst/>
          </a:prstGeom>
          <a:solidFill>
            <a:srgbClr val="FFFFFF"/>
          </a:solidFill>
          <a:ln w="12700">
            <a:solidFill>
              <a:srgbClr val="555555"/>
            </a:solidFill>
            <a:prstDash val="solid"/>
          </a:ln>
        </p:spPr>
        <p:txBody>
          <a:bodyPr/>
          <a:lstStyle/>
          <a:p>
            <a:endParaRPr lang="pt-PT"/>
          </a:p>
        </p:txBody>
      </p:sp>
      <p:sp>
        <p:nvSpPr>
          <p:cNvPr id="14" name="Text 10"/>
          <p:cNvSpPr/>
          <p:nvPr/>
        </p:nvSpPr>
        <p:spPr>
          <a:xfrm>
            <a:off x="7874000" y="1945580"/>
            <a:ext cx="3034792" cy="463550"/>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000000"/>
                </a:solidFill>
                <a:latin typeface="Arial" pitchFamily="34" charset="0"/>
                <a:ea typeface="Arial" pitchFamily="34" charset="-122"/>
                <a:cs typeface="Arial" pitchFamily="34" charset="-120"/>
              </a:rPr>
              <a:t>Software Requirements Specification</a:t>
            </a:r>
            <a:endParaRPr lang="en-US" sz="1500" dirty="0"/>
          </a:p>
        </p:txBody>
      </p:sp>
      <p:sp>
        <p:nvSpPr>
          <p:cNvPr id="15" name="Text 11"/>
          <p:cNvSpPr/>
          <p:nvPr/>
        </p:nvSpPr>
        <p:spPr>
          <a:xfrm>
            <a:off x="7874000" y="2447230"/>
            <a:ext cx="30347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Arial" pitchFamily="34" charset="0"/>
                <a:ea typeface="Arial" pitchFamily="34" charset="-122"/>
                <a:cs typeface="Arial" pitchFamily="34" charset="-120"/>
              </a:rPr>
              <a:t>for &lt;project&gt; · version 1.0</a:t>
            </a:r>
            <a:endParaRPr lang="en-US" sz="1200" dirty="0"/>
          </a:p>
        </p:txBody>
      </p:sp>
      <p:pic>
        <p:nvPicPr>
          <p:cNvPr id="16" name="Image 1" descr="line"/>
          <p:cNvPicPr>
            <a:picLocks noChangeAspect="1"/>
          </p:cNvPicPr>
          <p:nvPr/>
        </p:nvPicPr>
        <p:blipFill>
          <a:blip r:embed="rId4"/>
          <a:srcRect/>
          <a:stretch/>
        </p:blipFill>
        <p:spPr>
          <a:xfrm>
            <a:off x="7874000" y="2724051"/>
            <a:ext cx="2971800" cy="12700"/>
          </a:xfrm>
          <a:prstGeom prst="rect">
            <a:avLst/>
          </a:prstGeom>
        </p:spPr>
      </p:pic>
      <p:sp>
        <p:nvSpPr>
          <p:cNvPr id="17" name="Text 12"/>
          <p:cNvSpPr/>
          <p:nvPr/>
        </p:nvSpPr>
        <p:spPr>
          <a:xfrm>
            <a:off x="7874000" y="2800251"/>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Arial" pitchFamily="34" charset="0"/>
                <a:ea typeface="Arial" pitchFamily="34" charset="-122"/>
                <a:cs typeface="Arial" pitchFamily="34" charset="-120"/>
              </a:rPr>
              <a:t>Contents</a:t>
            </a:r>
            <a:endParaRPr lang="en-US" sz="1200" dirty="0"/>
          </a:p>
        </p:txBody>
      </p:sp>
      <p:sp>
        <p:nvSpPr>
          <p:cNvPr id="18" name="Text 13"/>
          <p:cNvSpPr/>
          <p:nvPr/>
        </p:nvSpPr>
        <p:spPr>
          <a:xfrm>
            <a:off x="7874000" y="3077071"/>
            <a:ext cx="3034792" cy="215860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1. Introduction</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2. Overall description</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3. System features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4. Data requirements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5. External interface requirements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6. Quality attributes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7. Internationalization and localization requirements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8. Other requirements</a:t>
            </a:r>
            <a:endParaRPr lang="en-US" sz="1200" dirty="0"/>
          </a:p>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Appendices: glossary, analysis models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When should you follow a standard?</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84300"/>
          <a:ext cx="10553700" cy="2848769"/>
        </p:xfrm>
        <a:graphic>
          <a:graphicData uri="http://schemas.openxmlformats.org/drawingml/2006/table">
            <a:tbl>
              <a:tblPr/>
              <a:tblGrid>
                <a:gridCol w="3799332">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4643628">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Context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Follow a standard?</a:t>
                      </a:r>
                      <a:endParaRPr lang="en-US" sz="1200" dirty="0">
                        <a:latin typeface="Arial" charset="0"/>
                        <a:ea typeface="Arial" charset="0"/>
                        <a:cs typeface="Arial" charset="0"/>
                      </a:endParaRPr>
                    </a:p>
                  </a:txBody>
                  <a:tcPr marL="53340" marR="53340" marT="53340" marB="5334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1680"/>
                        </a:lnSpc>
                        <a:buNone/>
                      </a:pPr>
                      <a:r>
                        <a:rPr lang="en-US" sz="1200" b="1" dirty="0">
                          <a:solidFill>
                            <a:srgbClr val="000000"/>
                          </a:solidFill>
                          <a:latin typeface="Arial" pitchFamily="34" charset="0"/>
                          <a:ea typeface="Arial" pitchFamily="34" charset="-122"/>
                          <a:cs typeface="Arial" pitchFamily="34" charset="-120"/>
                        </a:rPr>
                        <a:t>Why</a:t>
                      </a:r>
                      <a:endParaRPr lang="en-US" sz="1200" dirty="0">
                        <a:latin typeface="Arial" charset="0"/>
                        <a:ea typeface="Arial" charset="0"/>
                        <a:cs typeface="Arial" charset="0"/>
                      </a:endParaRPr>
                    </a:p>
                  </a:txBody>
                  <a:tcPr marL="53340" marR="53340" marT="53340" marB="5334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759222">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Regulated or safety-critical software: medical (IEC 62304), automotive (ISO 26262), avionics (DO-178C), railway (EN 50128/50716)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Yes, almost always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Certification requires documented, traceable and verified requirements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Contracts or public tenders, outsourcing</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The SRS is the basis for acceptance and, if needed, for disputes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Large system, distributed teams, long life cycle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Recommended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Communication across teams and long-term maintenance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Agile product, small team, customer on hand, low risk</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Not necessarily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Backlog with acceptance criteria; use 29148 as a quality checklist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5902">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Clothing web store, small online retailer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Not necessarily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itchFamily="34" charset="0"/>
                          <a:ea typeface="Arial" pitchFamily="34" charset="-122"/>
                          <a:cs typeface="Arial" pitchFamily="34" charset="-120"/>
                        </a:rPr>
                        <a:t>Low risk, but legal duties (GDPR, card payments, accessibility): document and trace those; the rest in a backlog</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812800" y="4385469"/>
            <a:ext cx="10883392"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00000"/>
                </a:solidFill>
                <a:latin typeface="Arial" pitchFamily="34" charset="0"/>
                <a:ea typeface="Arial" pitchFamily="34" charset="-122"/>
                <a:cs typeface="Arial" pitchFamily="34" charset="-120"/>
              </a:rPr>
              <a:t>Sector standards require a requirements process but do not mandate 29148: it is the usual reference and can be tailored.</a:t>
            </a:r>
            <a:endParaRPr lang="en-US" sz="1400" dirty="0"/>
          </a:p>
        </p:txBody>
      </p:sp>
      <p:sp>
        <p:nvSpPr>
          <p:cNvPr id="7" name="Text 3"/>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8" name="Text 4"/>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92D400"/>
        </a:solidFill>
        <a:effectLst/>
      </p:bgPr>
    </p:bg>
    <p:spTree>
      <p:nvGrpSpPr>
        <p:cNvPr id="1" name=""/>
        <p:cNvGrpSpPr/>
        <p:nvPr/>
      </p:nvGrpSpPr>
      <p:grpSpPr>
        <a:xfrm>
          <a:off x="0" y="0"/>
          <a:ext cx="0" cy="0"/>
          <a:chOff x="0" y="0"/>
          <a:chExt cx="0" cy="0"/>
        </a:xfrm>
      </p:grpSpPr>
      <p:sp>
        <p:nvSpPr>
          <p:cNvPr id="2" name="Text 0"/>
          <p:cNvSpPr/>
          <p:nvPr/>
        </p:nvSpPr>
        <p:spPr>
          <a:xfrm>
            <a:off x="812800" y="255657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00000"/>
                </a:solidFill>
                <a:latin typeface="Arial" pitchFamily="34" charset="0"/>
                <a:ea typeface="Arial" pitchFamily="34" charset="-122"/>
                <a:cs typeface="Arial" pitchFamily="34" charset="-120"/>
              </a:rPr>
              <a:t>part 5</a:t>
            </a:r>
            <a:endParaRPr lang="en-US" sz="1800" dirty="0"/>
          </a:p>
        </p:txBody>
      </p:sp>
      <p:sp>
        <p:nvSpPr>
          <p:cNvPr id="3" name="Text 1"/>
          <p:cNvSpPr>
            <a:spLocks noGrp="1"/>
          </p:cNvSpPr>
          <p:nvPr>
            <p:ph type="title"/>
          </p:nvPr>
        </p:nvSpPr>
        <p:spPr>
          <a:xfrm>
            <a:off x="812800" y="3028950"/>
            <a:ext cx="11379200"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000000"/>
                </a:solidFill>
                <a:latin typeface="Arial" pitchFamily="34" charset="0"/>
                <a:ea typeface="Arial" pitchFamily="34" charset="-122"/>
                <a:cs typeface="Arial" pitchFamily="34" charset="-120"/>
              </a:rPr>
              <a:t>AI in requirements engineering</a:t>
            </a:r>
            <a:endParaRPr lang="en-US" sz="6000" dirty="0"/>
          </a:p>
        </p:txBody>
      </p:sp>
      <p:sp>
        <p:nvSpPr>
          <p:cNvPr id="4" name="Text 2"/>
          <p:cNvSpPr/>
          <p:nvPr/>
        </p:nvSpPr>
        <p:spPr>
          <a:xfrm>
            <a:off x="812800" y="398145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Arial" pitchFamily="34" charset="0"/>
                <a:ea typeface="Arial" pitchFamily="34" charset="-122"/>
                <a:cs typeface="Arial" pitchFamily="34" charset="-120"/>
              </a:rPr>
              <a:t>where it helps · demo · risks</a:t>
            </a:r>
            <a:endParaRPr lang="en-US" sz="1800" dirty="0"/>
          </a:p>
        </p:txBody>
      </p:sp>
      <p:pic>
        <p:nvPicPr>
          <p:cNvPr id="5" name="Image 0" descr="Universidade de Aveiro · DETI"/>
          <p:cNvPicPr>
            <a:picLocks noChangeAspect="1"/>
          </p:cNvPicPr>
          <p:nvPr/>
        </p:nvPicPr>
        <p:blipFill>
          <a:blip r:embed="rId3"/>
          <a:srcRect t="-6497" b="-6497"/>
          <a:stretch/>
        </p:blipFill>
        <p:spPr>
          <a:xfrm>
            <a:off x="812800" y="5816600"/>
            <a:ext cx="2667000" cy="635000"/>
          </a:xfrm>
          <a:prstGeom prst="rect">
            <a:avLst/>
          </a:prstGeom>
        </p:spPr>
      </p:pic>
      <p:sp>
        <p:nvSpPr>
          <p:cNvPr id="6"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Where can AI help?</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84300"/>
          <a:ext cx="10553700" cy="4057749"/>
        </p:xfrm>
        <a:graphic>
          <a:graphicData uri="http://schemas.openxmlformats.org/drawingml/2006/table">
            <a:tbl>
              <a:tblPr/>
              <a:tblGrid>
                <a:gridCol w="1899666">
                  <a:extLst>
                    <a:ext uri="{9D8B030D-6E8A-4147-A177-3AD203B41FA5}">
                      <a16:colId xmlns:a16="http://schemas.microsoft.com/office/drawing/2014/main" val="20000"/>
                    </a:ext>
                  </a:extLst>
                </a:gridCol>
                <a:gridCol w="485470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439241">
                <a:tc>
                  <a:txBody>
                    <a:bodyPr/>
                    <a:lstStyle/>
                    <a:p>
                      <a:pPr marL="0" indent="0">
                        <a:lnSpc>
                          <a:spcPts val="2240"/>
                        </a:lnSpc>
                        <a:buNone/>
                      </a:pPr>
                      <a:r>
                        <a:rPr lang="en-US" sz="1600" b="1" dirty="0">
                          <a:solidFill>
                            <a:srgbClr val="000000"/>
                          </a:solidFill>
                          <a:latin typeface="Arial" pitchFamily="34" charset="0"/>
                          <a:ea typeface="Arial" pitchFamily="34" charset="-122"/>
                          <a:cs typeface="Arial" pitchFamily="34" charset="-120"/>
                        </a:rPr>
                        <a:t>Activity</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2240"/>
                        </a:lnSpc>
                        <a:buNone/>
                      </a:pPr>
                      <a:r>
                        <a:rPr lang="en-US" sz="1600" b="1" dirty="0">
                          <a:solidFill>
                            <a:srgbClr val="000000"/>
                          </a:solidFill>
                          <a:latin typeface="Arial" pitchFamily="34" charset="0"/>
                          <a:ea typeface="Arial" pitchFamily="34" charset="-122"/>
                          <a:cs typeface="Arial" pitchFamily="34" charset="-120"/>
                        </a:rPr>
                        <a:t>How AI can help</a:t>
                      </a:r>
                      <a:endParaRPr lang="en-US" sz="1600" dirty="0">
                        <a:latin typeface="Arial" charset="0"/>
                        <a:ea typeface="Arial" charset="0"/>
                        <a:cs typeface="Arial" charset="0"/>
                      </a:endParaRPr>
                    </a:p>
                  </a:txBody>
                  <a:tcPr marL="71120" marR="71120" marT="71120" marB="7112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tc>
                  <a:txBody>
                    <a:bodyPr/>
                    <a:lstStyle/>
                    <a:p>
                      <a:pPr marL="0" indent="0">
                        <a:lnSpc>
                          <a:spcPts val="2240"/>
                        </a:lnSpc>
                        <a:buNone/>
                      </a:pPr>
                      <a:r>
                        <a:rPr lang="en-US" sz="1600" b="1" dirty="0">
                          <a:solidFill>
                            <a:srgbClr val="000000"/>
                          </a:solidFill>
                          <a:latin typeface="Arial" pitchFamily="34" charset="0"/>
                          <a:ea typeface="Arial" pitchFamily="34" charset="-122"/>
                          <a:cs typeface="Arial" pitchFamily="34" charset="-120"/>
                        </a:rPr>
                        <a:t>Watch out</a:t>
                      </a:r>
                      <a:endParaRPr lang="en-US" sz="1600" dirty="0">
                        <a:latin typeface="Arial" charset="0"/>
                        <a:ea typeface="Arial" charset="0"/>
                        <a:cs typeface="Arial" charset="0"/>
                      </a:endParaRPr>
                    </a:p>
                  </a:txBody>
                  <a:tcPr marL="71120" marR="71120" marT="71120" marB="71120">
                    <a:lnL w="12700" cap="flat" cmpd="sng" algn="ctr">
                      <a:solidFill>
                        <a:srgbClr val="AFBF9B"/>
                      </a:solidFill>
                      <a:prstDash val="solid"/>
                      <a:round/>
                      <a:headEnd type="none" w="med" len="med"/>
                      <a:tailEnd type="none" w="med" len="med"/>
                    </a:lnL>
                    <a:lnR w="12700" cap="flat" cmpd="sng" algn="ctr">
                      <a:solidFill>
                        <a:srgbClr val="AFBF9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FBF9B"/>
                      </a:solidFill>
                      <a:prstDash val="solid"/>
                      <a:round/>
                      <a:headEnd type="none" w="med" len="med"/>
                      <a:tailEnd type="none" w="med" len="med"/>
                    </a:lnB>
                    <a:solidFill>
                      <a:srgbClr val="DBEFC1"/>
                    </a:solidFill>
                  </a:tcPr>
                </a:tc>
                <a:extLst>
                  <a:ext uri="{0D108BD9-81ED-4DB2-BD59-A6C34878D82A}">
                    <a16:rowId xmlns:a16="http://schemas.microsoft.com/office/drawing/2014/main" val="10000"/>
                  </a:ext>
                </a:extLst>
              </a:tr>
              <a:tr h="1008162">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Elicitation</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prepare interview scripts; transcribe and summarize sessions; simulate personas for rehearsal; collect legal requirements for a domain</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does not replace real stakeholders; consent and GDPR</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F9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723702">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Analysis</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classify FR/NFR; detect ambiguities, duplicates and conflicts; verify conformance with SMART</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false positives; lack of domain context</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723702">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Specification</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draft user stories and acceptance criteria; rewrite in EARS</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plausible but invented requirements</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39241">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Validation</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generate test cases; check quality against 29148</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the decision remains human</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723702">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Management</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change impact analysis; traceability</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00000"/>
                          </a:solidFill>
                          <a:latin typeface="Arial" pitchFamily="34" charset="0"/>
                          <a:ea typeface="Arial" pitchFamily="34" charset="-122"/>
                          <a:cs typeface="Arial" pitchFamily="34" charset="-120"/>
                        </a:rPr>
                        <a:t>requires requirements with IDs and links</a:t>
                      </a:r>
                      <a:endParaRPr lang="en-US" sz="1600" dirty="0">
                        <a:latin typeface="Arial" charset="0"/>
                        <a:ea typeface="Arial" charset="0"/>
                        <a:cs typeface="Arial"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7" name="Text 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Demo: interview → requirements</a:t>
            </a:r>
            <a:endParaRPr lang="en-US" sz="2600" dirty="0"/>
          </a:p>
        </p:txBody>
      </p:sp>
      <p:sp>
        <p:nvSpPr>
          <p:cNvPr id="5" name="Shape 2"/>
          <p:cNvSpPr/>
          <p:nvPr/>
        </p:nvSpPr>
        <p:spPr>
          <a:xfrm>
            <a:off x="812800" y="1371600"/>
            <a:ext cx="5137150" cy="2481263"/>
          </a:xfrm>
          <a:prstGeom prst="rect">
            <a:avLst/>
          </a:prstGeom>
          <a:solidFill>
            <a:srgbClr val="DBEFC1"/>
          </a:solidFill>
          <a:ln/>
        </p:spPr>
        <p:txBody>
          <a:bodyPr/>
          <a:lstStyle/>
          <a:p>
            <a:endParaRPr lang="pt-PT"/>
          </a:p>
        </p:txBody>
      </p:sp>
      <p:sp>
        <p:nvSpPr>
          <p:cNvPr id="6" name="Text 3"/>
          <p:cNvSpPr/>
          <p:nvPr/>
        </p:nvSpPr>
        <p:spPr>
          <a:xfrm>
            <a:off x="1041400" y="1600200"/>
            <a:ext cx="48203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Interview excerpt (manager)</a:t>
            </a:r>
            <a:endParaRPr lang="en-US" sz="1500" dirty="0"/>
          </a:p>
        </p:txBody>
      </p:sp>
      <p:sp>
        <p:nvSpPr>
          <p:cNvPr id="7" name="Text 4"/>
          <p:cNvSpPr/>
          <p:nvPr/>
        </p:nvSpPr>
        <p:spPr>
          <a:xfrm>
            <a:off x="1041400" y="1917700"/>
            <a:ext cx="4820349" cy="17319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“We opened in 2015, right next to the university, so lunchtime is always crazy. The queue reaches the door and some people give up. My idea was for people to order by themselves, like you already see in other chains. Orders with allergies are a nightmare: sometimes the kitchen doesn't see the note. Oh, and the veggie burger has been selling really well since the summer. Invoices with a tax number take ages at the counter… that invoice thing is a real headache. Weekends are quieter, it's mostly families.”</a:t>
            </a:r>
            <a:endParaRPr lang="en-US" sz="1200" dirty="0"/>
          </a:p>
        </p:txBody>
      </p:sp>
      <p:sp>
        <p:nvSpPr>
          <p:cNvPr id="8" name="Shape 5"/>
          <p:cNvSpPr/>
          <p:nvPr/>
        </p:nvSpPr>
        <p:spPr>
          <a:xfrm>
            <a:off x="6213475" y="1381125"/>
            <a:ext cx="5156200" cy="2462213"/>
          </a:xfrm>
          <a:prstGeom prst="rect">
            <a:avLst/>
          </a:prstGeom>
          <a:noFill/>
          <a:ln w="19050">
            <a:solidFill>
              <a:srgbClr val="000000"/>
            </a:solidFill>
            <a:prstDash val="solid"/>
          </a:ln>
        </p:spPr>
        <p:txBody>
          <a:bodyPr/>
          <a:lstStyle/>
          <a:p>
            <a:endParaRPr lang="pt-PT"/>
          </a:p>
        </p:txBody>
      </p:sp>
      <p:sp>
        <p:nvSpPr>
          <p:cNvPr id="9" name="Text 6"/>
          <p:cNvSpPr/>
          <p:nvPr/>
        </p:nvSpPr>
        <p:spPr>
          <a:xfrm>
            <a:off x="6451600" y="1619250"/>
            <a:ext cx="48203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Prompt</a:t>
            </a:r>
            <a:endParaRPr lang="en-US" sz="1500" dirty="0"/>
          </a:p>
        </p:txBody>
      </p:sp>
      <p:sp>
        <p:nvSpPr>
          <p:cNvPr id="10" name="Text 7"/>
          <p:cNvSpPr/>
          <p:nvPr/>
        </p:nvSpPr>
        <p:spPr>
          <a:xfrm>
            <a:off x="6451600" y="1936750"/>
            <a:ext cx="4820349"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Courier New" pitchFamily="49" charset="0"/>
                <a:ea typeface="Courier New" pitchFamily="49" charset="-122"/>
                <a:cs typeface="Courier New" pitchFamily="49" charset="-120"/>
              </a:rPr>
              <a:t>You are a requirements analyst. From the excerpt, identify: (1) user requirements; (2) FRs and NFRs in EARS format; (3) open questions. Do not invent values: mark them as [to be confirmed].</a:t>
            </a:r>
            <a:endParaRPr lang="en-US" sz="1200" dirty="0"/>
          </a:p>
        </p:txBody>
      </p:sp>
      <p:sp>
        <p:nvSpPr>
          <p:cNvPr id="11" name="Text 8"/>
          <p:cNvSpPr/>
          <p:nvPr/>
        </p:nvSpPr>
        <p:spPr>
          <a:xfrm>
            <a:off x="812800" y="4030662"/>
            <a:ext cx="10566400" cy="819150"/>
          </a:xfrm>
          <a:prstGeom prst="rect">
            <a:avLst/>
          </a:prstGeom>
          <a:solidFill>
            <a:srgbClr val="92D400"/>
          </a:solidFill>
          <a:ln/>
        </p:spPr>
        <p:txBody>
          <a:bodyPr wrap="square" lIns="228600" tIns="152400" rIns="0" bIns="127000" rtlCol="0" anchor="t">
            <a:normAutofit/>
          </a:bodyPr>
          <a:lstStyle/>
          <a:p>
            <a:pPr marL="0" indent="0" algn="l">
              <a:lnSpc>
                <a:spcPts val="2025"/>
              </a:lnSpc>
              <a:buNone/>
            </a:pPr>
            <a:r>
              <a:rPr lang="en-US" sz="1500" b="1" dirty="0">
                <a:solidFill>
                  <a:srgbClr val="000000"/>
                </a:solidFill>
                <a:latin typeface="Arial" pitchFamily="34" charset="0"/>
                <a:ea typeface="Arial" pitchFamily="34" charset="-122"/>
                <a:cs typeface="Arial" pitchFamily="34" charset="-120"/>
              </a:rPr>
              <a:t>3 min, think-pair:</a:t>
            </a:r>
            <a:r>
              <a:rPr lang="en-US" sz="1500" dirty="0">
                <a:solidFill>
                  <a:srgbClr val="000000"/>
                </a:solidFill>
                <a:latin typeface="Arial" pitchFamily="34" charset="0"/>
                <a:ea typeface="Arial" pitchFamily="34" charset="-122"/>
                <a:cs typeface="Arial" pitchFamily="34" charset="-120"/>
              </a:rPr>
              <a:t> is each generated requirement necessary? verifiable? traceable to the excerpt? What was invented? What was left out?</a:t>
            </a:r>
            <a:endParaRPr lang="en-US" sz="1500" dirty="0"/>
          </a:p>
        </p:txBody>
      </p:sp>
      <p:sp>
        <p:nvSpPr>
          <p:cNvPr id="12" name="Text 9"/>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Illustrative excerpt written for this class</a:t>
            </a:r>
            <a:endParaRPr lang="en-US" sz="1200" dirty="0"/>
          </a:p>
        </p:txBody>
      </p:sp>
      <p:sp>
        <p:nvSpPr>
          <p:cNvPr id="13" name="Text 10"/>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1244600"/>
            <a:ext cx="10566400" cy="835620"/>
          </a:xfrm>
          <a:prstGeom prst="rect">
            <a:avLst/>
          </a:prstGeom>
          <a:solidFill>
            <a:srgbClr val="92D400"/>
          </a:solidFill>
          <a:ln/>
        </p:spPr>
        <p:txBody>
          <a:bodyPr/>
          <a:lstStyle/>
          <a:p>
            <a:endParaRPr lang="pt-PT"/>
          </a:p>
        </p:txBody>
      </p:sp>
      <p:sp>
        <p:nvSpPr>
          <p:cNvPr id="3" name="Text 1"/>
          <p:cNvSpPr/>
          <p:nvPr/>
        </p:nvSpPr>
        <p:spPr>
          <a:xfrm>
            <a:off x="1041400" y="1418530"/>
            <a:ext cx="365760" cy="513060"/>
          </a:xfrm>
          <a:prstGeom prst="rect">
            <a:avLst/>
          </a:prstGeom>
          <a:noFill/>
          <a:ln/>
        </p:spPr>
        <p:txBody>
          <a:bodyPr wrap="square" lIns="0" tIns="0" rIns="0" bIns="0" rtlCol="0" anchor="t">
            <a:normAutofit/>
          </a:bodyPr>
          <a:lstStyle/>
          <a:p>
            <a:pPr marL="0" indent="0" algn="l">
              <a:lnSpc>
                <a:spcPts val="3840"/>
              </a:lnSpc>
              <a:buNone/>
            </a:pPr>
            <a:r>
              <a:rPr lang="en-US" sz="4800" b="1" dirty="0">
                <a:solidFill>
                  <a:srgbClr val="000000"/>
                </a:solidFill>
                <a:latin typeface="Arial" pitchFamily="34" charset="0"/>
                <a:ea typeface="Arial" pitchFamily="34" charset="-122"/>
                <a:cs typeface="Arial" pitchFamily="34" charset="-120"/>
              </a:rPr>
              <a:t>“</a:t>
            </a:r>
            <a:endParaRPr lang="en-US" sz="4800" dirty="0"/>
          </a:p>
        </p:txBody>
      </p:sp>
      <p:sp>
        <p:nvSpPr>
          <p:cNvPr id="4" name="Text 2"/>
          <p:cNvSpPr/>
          <p:nvPr/>
        </p:nvSpPr>
        <p:spPr>
          <a:xfrm>
            <a:off x="1524000" y="1384300"/>
            <a:ext cx="991539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00000"/>
                </a:solidFill>
                <a:latin typeface="Arial" pitchFamily="34" charset="0"/>
                <a:ea typeface="Arial" pitchFamily="34" charset="-122"/>
                <a:cs typeface="Arial" pitchFamily="34" charset="-120"/>
              </a:rPr>
              <a:t>Requirements are a communication problem, not a technical problem.</a:t>
            </a:r>
            <a:endParaRPr lang="en-US" sz="2000" dirty="0"/>
          </a:p>
        </p:txBody>
      </p:sp>
      <p:sp>
        <p:nvSpPr>
          <p:cNvPr id="5" name="Text 3"/>
          <p:cNvSpPr/>
          <p:nvPr/>
        </p:nvSpPr>
        <p:spPr>
          <a:xfrm>
            <a:off x="1524000" y="1727200"/>
            <a:ext cx="99153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Arial" pitchFamily="34" charset="0"/>
                <a:ea typeface="Arial" pitchFamily="34" charset="-122"/>
                <a:cs typeface="Arial" pitchFamily="34" charset="-120"/>
              </a:rPr>
              <a:t>Karl Wiegers, Tech Lead Journal podcast #133 (2023)</a:t>
            </a:r>
            <a:endParaRPr lang="en-US" sz="1200" dirty="0"/>
          </a:p>
        </p:txBody>
      </p:sp>
      <p:sp>
        <p:nvSpPr>
          <p:cNvPr id="6" name="Text 4"/>
          <p:cNvSpPr/>
          <p:nvPr/>
        </p:nvSpPr>
        <p:spPr>
          <a:xfrm>
            <a:off x="812800" y="2232620"/>
            <a:ext cx="507542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Risks</a:t>
            </a:r>
            <a:endParaRPr lang="en-US" sz="1500" dirty="0"/>
          </a:p>
        </p:txBody>
      </p:sp>
      <p:sp>
        <p:nvSpPr>
          <p:cNvPr id="7" name="Text 5"/>
          <p:cNvSpPr/>
          <p:nvPr/>
        </p:nvSpPr>
        <p:spPr>
          <a:xfrm>
            <a:off x="910844" y="2562820"/>
            <a:ext cx="4969764" cy="1180802"/>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b="1" dirty="0">
                <a:solidFill>
                  <a:srgbClr val="000000"/>
                </a:solidFill>
                <a:latin typeface="Arial" pitchFamily="34" charset="0"/>
                <a:ea typeface="Arial" pitchFamily="34" charset="-122"/>
                <a:cs typeface="Arial" pitchFamily="34" charset="-120"/>
              </a:rPr>
              <a:t>Hallucination:</a:t>
            </a:r>
            <a:r>
              <a:rPr lang="en-US" sz="1300" dirty="0">
                <a:solidFill>
                  <a:srgbClr val="000000"/>
                </a:solidFill>
                <a:latin typeface="Arial" pitchFamily="34" charset="0"/>
                <a:ea typeface="Arial" pitchFamily="34" charset="-122"/>
                <a:cs typeface="Arial" pitchFamily="34" charset="-120"/>
              </a:rPr>
              <a:t> plausible requirements with no source</a:t>
            </a:r>
            <a:endParaRPr lang="en-US" sz="1300" dirty="0"/>
          </a:p>
          <a:p>
            <a:pPr marL="155956" indent="-155956" algn="l">
              <a:lnSpc>
                <a:spcPts val="1820"/>
              </a:lnSpc>
              <a:buSzPct val="100000"/>
              <a:buChar char="•"/>
            </a:pPr>
            <a:r>
              <a:rPr lang="en-US" sz="1300" b="1" dirty="0">
                <a:solidFill>
                  <a:srgbClr val="000000"/>
                </a:solidFill>
                <a:latin typeface="Arial" pitchFamily="34" charset="0"/>
                <a:ea typeface="Arial" pitchFamily="34" charset="-122"/>
                <a:cs typeface="Arial" pitchFamily="34" charset="-120"/>
              </a:rPr>
              <a:t>False completeness:</a:t>
            </a:r>
            <a:r>
              <a:rPr lang="en-US" sz="1300" dirty="0">
                <a:solidFill>
                  <a:srgbClr val="000000"/>
                </a:solidFill>
                <a:latin typeface="Arial" pitchFamily="34" charset="0"/>
                <a:ea typeface="Arial" pitchFamily="34" charset="-122"/>
                <a:cs typeface="Arial" pitchFamily="34" charset="-120"/>
              </a:rPr>
              <a:t> a well-written list is not a complete list</a:t>
            </a:r>
            <a:endParaRPr lang="en-US" sz="1300" dirty="0"/>
          </a:p>
          <a:p>
            <a:pPr marL="155956" indent="-155956" algn="l">
              <a:lnSpc>
                <a:spcPts val="1820"/>
              </a:lnSpc>
              <a:buSzPct val="100000"/>
              <a:buChar char="•"/>
            </a:pPr>
            <a:r>
              <a:rPr lang="en-US" sz="1300" b="1" dirty="0">
                <a:solidFill>
                  <a:srgbClr val="000000"/>
                </a:solidFill>
                <a:latin typeface="Arial" pitchFamily="34" charset="0"/>
                <a:ea typeface="Arial" pitchFamily="34" charset="-122"/>
                <a:cs typeface="Arial" pitchFamily="34" charset="-120"/>
              </a:rPr>
              <a:t>Tacit knowledge</a:t>
            </a:r>
            <a:r>
              <a:rPr lang="en-US" sz="1300" dirty="0">
                <a:solidFill>
                  <a:srgbClr val="000000"/>
                </a:solidFill>
                <a:latin typeface="Arial" pitchFamily="34" charset="0"/>
                <a:ea typeface="Arial" pitchFamily="34" charset="-122"/>
                <a:cs typeface="Arial" pitchFamily="34" charset="-120"/>
              </a:rPr>
              <a:t> that never reaches the model</a:t>
            </a:r>
            <a:endParaRPr lang="en-US" sz="1300" dirty="0"/>
          </a:p>
          <a:p>
            <a:pPr marL="155956" indent="-155956" algn="l">
              <a:lnSpc>
                <a:spcPts val="1820"/>
              </a:lnSpc>
              <a:buSzPct val="100000"/>
              <a:buChar char="•"/>
            </a:pPr>
            <a:r>
              <a:rPr lang="en-US" sz="1300" b="1" dirty="0">
                <a:solidFill>
                  <a:srgbClr val="000000"/>
                </a:solidFill>
                <a:latin typeface="Arial" pitchFamily="34" charset="0"/>
                <a:ea typeface="Arial" pitchFamily="34" charset="-122"/>
                <a:cs typeface="Arial" pitchFamily="34" charset="-120"/>
              </a:rPr>
              <a:t>Confidentiality:</a:t>
            </a:r>
            <a:r>
              <a:rPr lang="en-US" sz="1300" dirty="0">
                <a:solidFill>
                  <a:srgbClr val="000000"/>
                </a:solidFill>
                <a:latin typeface="Arial" pitchFamily="34" charset="0"/>
                <a:ea typeface="Arial" pitchFamily="34" charset="-122"/>
                <a:cs typeface="Arial" pitchFamily="34" charset="-120"/>
              </a:rPr>
              <a:t> interviews and customer data (GDPR)</a:t>
            </a:r>
            <a:endParaRPr lang="en-US" sz="1300" dirty="0"/>
          </a:p>
          <a:p>
            <a:pPr marL="155956" indent="-155956" algn="l">
              <a:lnSpc>
                <a:spcPts val="1820"/>
              </a:lnSpc>
              <a:buSzPct val="100000"/>
              <a:buChar char="•"/>
            </a:pPr>
            <a:r>
              <a:rPr lang="en-US" sz="1300" b="1" dirty="0">
                <a:solidFill>
                  <a:srgbClr val="000000"/>
                </a:solidFill>
                <a:latin typeface="Arial" pitchFamily="34" charset="0"/>
                <a:ea typeface="Arial" pitchFamily="34" charset="-122"/>
                <a:cs typeface="Arial" pitchFamily="34" charset="-120"/>
              </a:rPr>
              <a:t>Over-reliance:</a:t>
            </a:r>
            <a:r>
              <a:rPr lang="en-US" sz="1300" dirty="0">
                <a:solidFill>
                  <a:srgbClr val="000000"/>
                </a:solidFill>
                <a:latin typeface="Arial" pitchFamily="34" charset="0"/>
                <a:ea typeface="Arial" pitchFamily="34" charset="-122"/>
                <a:cs typeface="Arial" pitchFamily="34" charset="-120"/>
              </a:rPr>
              <a:t> losing the skill of asking</a:t>
            </a:r>
            <a:endParaRPr lang="en-US" sz="1300" dirty="0"/>
          </a:p>
        </p:txBody>
      </p:sp>
      <p:sp>
        <p:nvSpPr>
          <p:cNvPr id="8" name="Text 6"/>
          <p:cNvSpPr/>
          <p:nvPr/>
        </p:nvSpPr>
        <p:spPr>
          <a:xfrm>
            <a:off x="812800" y="3819823"/>
            <a:ext cx="5075428"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00000"/>
                </a:solidFill>
                <a:latin typeface="Arial" pitchFamily="34" charset="0"/>
                <a:ea typeface="Arial" pitchFamily="34" charset="-122"/>
                <a:cs typeface="Arial" pitchFamily="34" charset="-120"/>
              </a:rPr>
              <a:t>Rule: human in the loop, and every requirement traceable to a source.</a:t>
            </a:r>
            <a:endParaRPr lang="en-US" sz="1400" dirty="0"/>
          </a:p>
        </p:txBody>
      </p:sp>
      <p:sp>
        <p:nvSpPr>
          <p:cNvPr id="9" name="Shape 7"/>
          <p:cNvSpPr/>
          <p:nvPr/>
        </p:nvSpPr>
        <p:spPr>
          <a:xfrm>
            <a:off x="6045200" y="2232620"/>
            <a:ext cx="5334000" cy="2123083"/>
          </a:xfrm>
          <a:prstGeom prst="rect">
            <a:avLst/>
          </a:prstGeom>
          <a:solidFill>
            <a:srgbClr val="DBEFC1"/>
          </a:solidFill>
          <a:ln/>
        </p:spPr>
        <p:txBody>
          <a:bodyPr/>
          <a:lstStyle/>
          <a:p>
            <a:endParaRPr lang="pt-PT"/>
          </a:p>
        </p:txBody>
      </p:sp>
      <p:sp>
        <p:nvSpPr>
          <p:cNvPr id="10" name="Text 8"/>
          <p:cNvSpPr/>
          <p:nvPr/>
        </p:nvSpPr>
        <p:spPr>
          <a:xfrm>
            <a:off x="6248400" y="2410420"/>
            <a:ext cx="507542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Arial" pitchFamily="34" charset="0"/>
                <a:ea typeface="Arial" pitchFamily="34" charset="-122"/>
                <a:cs typeface="Arial" pitchFamily="34" charset="-120"/>
              </a:rPr>
              <a:t>Systematic review (Zadenoori et al., 2025)</a:t>
            </a:r>
            <a:endParaRPr lang="en-US" sz="1500" dirty="0"/>
          </a:p>
        </p:txBody>
      </p:sp>
      <p:sp>
        <p:nvSpPr>
          <p:cNvPr id="11" name="Text 9"/>
          <p:cNvSpPr/>
          <p:nvPr/>
        </p:nvSpPr>
        <p:spPr>
          <a:xfrm>
            <a:off x="6248400" y="2715220"/>
            <a:ext cx="50754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0000"/>
                </a:solidFill>
                <a:latin typeface="Arial" pitchFamily="34" charset="0"/>
                <a:ea typeface="Arial" pitchFamily="34" charset="-122"/>
                <a:cs typeface="Arial" pitchFamily="34" charset="-120"/>
              </a:rPr>
              <a:t>74 primary studies (2023–2024) on LLMs in requirements engineering:</a:t>
            </a:r>
            <a:endParaRPr lang="en-US" sz="1300" dirty="0"/>
          </a:p>
        </p:txBody>
      </p:sp>
      <p:sp>
        <p:nvSpPr>
          <p:cNvPr id="12" name="Text 10"/>
          <p:cNvSpPr/>
          <p:nvPr/>
        </p:nvSpPr>
        <p:spPr>
          <a:xfrm>
            <a:off x="6346444" y="3253581"/>
            <a:ext cx="4969764" cy="949722"/>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000000"/>
                </a:solidFill>
                <a:latin typeface="Arial" pitchFamily="34" charset="0"/>
                <a:ea typeface="Arial" pitchFamily="34" charset="-122"/>
                <a:cs typeface="Arial" pitchFamily="34" charset="-120"/>
              </a:rPr>
              <a:t>elicitation and validation are the most studied activities</a:t>
            </a:r>
            <a:endParaRPr lang="en-US" sz="1300" dirty="0"/>
          </a:p>
          <a:p>
            <a:pPr marL="155956" indent="-155956" algn="l">
              <a:lnSpc>
                <a:spcPts val="1820"/>
              </a:lnSpc>
              <a:buSzPct val="100000"/>
              <a:buChar char="•"/>
            </a:pPr>
            <a:r>
              <a:rPr lang="en-US" sz="1300" dirty="0">
                <a:solidFill>
                  <a:srgbClr val="000000"/>
                </a:solidFill>
                <a:latin typeface="Arial" pitchFamily="34" charset="0"/>
                <a:ea typeface="Arial" pitchFamily="34" charset="-122"/>
                <a:cs typeface="Arial" pitchFamily="34" charset="-120"/>
              </a:rPr>
              <a:t>mostly GPT models with zero-shot or few-shot prompting</a:t>
            </a:r>
            <a:endParaRPr lang="en-US" sz="1300" dirty="0"/>
          </a:p>
          <a:p>
            <a:pPr marL="155956" indent="-155956" algn="l">
              <a:lnSpc>
                <a:spcPts val="1820"/>
              </a:lnSpc>
              <a:buSzPct val="100000"/>
              <a:buChar char="•"/>
            </a:pPr>
            <a:r>
              <a:rPr lang="en-US" sz="1300" dirty="0">
                <a:solidFill>
                  <a:srgbClr val="000000"/>
                </a:solidFill>
                <a:latin typeface="Arial" pitchFamily="34" charset="0"/>
                <a:ea typeface="Arial" pitchFamily="34" charset="-122"/>
                <a:cs typeface="Arial" pitchFamily="34" charset="-120"/>
              </a:rPr>
              <a:t>evaluations in controlled settings; little integration into real industrial workflows</a:t>
            </a:r>
            <a:endParaRPr lang="en-US" sz="1300" dirty="0"/>
          </a:p>
        </p:txBody>
      </p:sp>
      <p:sp>
        <p:nvSpPr>
          <p:cNvPr id="13" name="Shape 11"/>
          <p:cNvSpPr/>
          <p:nvPr/>
        </p:nvSpPr>
        <p:spPr>
          <a:xfrm>
            <a:off x="812800" y="2232620"/>
            <a:ext cx="12192000" cy="1016000"/>
          </a:xfrm>
          <a:prstGeom prst="rect">
            <a:avLst/>
          </a:prstGeom>
          <a:solidFill>
            <a:srgbClr val="92D400"/>
          </a:solidFill>
          <a:ln/>
        </p:spPr>
        <p:txBody>
          <a:bodyPr/>
          <a:lstStyle/>
          <a:p>
            <a:endParaRPr lang="pt-PT"/>
          </a:p>
        </p:txBody>
      </p:sp>
      <p:pic>
        <p:nvPicPr>
          <p:cNvPr id="14" name="Image 0" descr="Universidade de Aveiro · DETI"/>
          <p:cNvPicPr>
            <a:picLocks noChangeAspect="1"/>
          </p:cNvPicPr>
          <p:nvPr/>
        </p:nvPicPr>
        <p:blipFill>
          <a:blip r:embed="rId3"/>
          <a:srcRect t="-5944" b="-5944"/>
          <a:stretch/>
        </p:blipFill>
        <p:spPr>
          <a:xfrm>
            <a:off x="1104900" y="2486620"/>
            <a:ext cx="2159000" cy="508000"/>
          </a:xfrm>
          <a:prstGeom prst="rect">
            <a:avLst/>
          </a:prstGeom>
        </p:spPr>
      </p:pic>
      <p:sp>
        <p:nvSpPr>
          <p:cNvPr id="15" name="Text 12"/>
          <p:cNvSpPr>
            <a:spLocks noGrp="1"/>
          </p:cNvSpPr>
          <p:nvPr>
            <p:ph type="title"/>
          </p:nvPr>
        </p:nvSpPr>
        <p:spPr>
          <a:xfrm>
            <a:off x="3606800" y="255012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Risks and what research says</a:t>
            </a:r>
            <a:endParaRPr lang="en-US" sz="2600" dirty="0"/>
          </a:p>
        </p:txBody>
      </p:sp>
      <p:sp>
        <p:nvSpPr>
          <p:cNvPr id="16" name="Text 13"/>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 · arXiv:2509.11446 · techleadjournal.dev/episodes/133</a:t>
            </a:r>
            <a:endParaRPr lang="en-US" sz="1200" dirty="0"/>
          </a:p>
        </p:txBody>
      </p:sp>
      <p:sp>
        <p:nvSpPr>
          <p:cNvPr id="17" name="Text 14"/>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Exit ticket</a:t>
            </a:r>
            <a:endParaRPr lang="en-US" sz="2600" dirty="0"/>
          </a:p>
        </p:txBody>
      </p:sp>
      <p:sp>
        <p:nvSpPr>
          <p:cNvPr id="5" name="Text 2"/>
          <p:cNvSpPr/>
          <p:nvPr/>
        </p:nvSpPr>
        <p:spPr>
          <a:xfrm>
            <a:off x="812800" y="1371600"/>
            <a:ext cx="1088339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Arial" pitchFamily="34" charset="0"/>
                <a:ea typeface="Arial" pitchFamily="34" charset="-122"/>
                <a:cs typeface="Arial" pitchFamily="34" charset="-120"/>
              </a:rPr>
              <a:t>Answer individually (3 min)</a:t>
            </a:r>
            <a:endParaRPr lang="en-US" sz="1700" dirty="0"/>
          </a:p>
        </p:txBody>
      </p:sp>
      <p:sp>
        <p:nvSpPr>
          <p:cNvPr id="6" name="Text 3"/>
          <p:cNvSpPr/>
          <p:nvPr/>
        </p:nvSpPr>
        <p:spPr>
          <a:xfrm>
            <a:off x="812800" y="1783060"/>
            <a:ext cx="10566400" cy="612775"/>
          </a:xfrm>
          <a:prstGeom prst="rect">
            <a:avLst/>
          </a:prstGeom>
          <a:solidFill>
            <a:srgbClr val="DBEFC1"/>
          </a:solidFill>
          <a:ln/>
        </p:spPr>
        <p:txBody>
          <a:bodyPr wrap="square" lIns="203200" tIns="177800" rIns="0" bIns="152400" rtlCol="0" anchor="t">
            <a:normAutofit/>
          </a:bodyPr>
          <a:lstStyle/>
          <a:p>
            <a:pPr marL="0" indent="0" algn="l">
              <a:lnSpc>
                <a:spcPts val="2025"/>
              </a:lnSpc>
              <a:buNone/>
            </a:pPr>
            <a:r>
              <a:rPr lang="en-US" sz="1500" b="1" dirty="0">
                <a:solidFill>
                  <a:srgbClr val="000000"/>
                </a:solidFill>
                <a:latin typeface="Arial" pitchFamily="34" charset="0"/>
                <a:ea typeface="Arial" pitchFamily="34" charset="-122"/>
                <a:cs typeface="Arial" pitchFamily="34" charset="-120"/>
              </a:rPr>
              <a:t>1</a:t>
            </a:r>
            <a:r>
              <a:rPr lang="en-US" sz="1500" dirty="0">
                <a:solidFill>
                  <a:srgbClr val="000000"/>
                </a:solidFill>
                <a:latin typeface="Arial" pitchFamily="34" charset="0"/>
                <a:ea typeface="Arial" pitchFamily="34" charset="-122"/>
                <a:cs typeface="Arial" pitchFamily="34" charset="-120"/>
              </a:rPr>
              <a:t> · Rewrite “the system shall be fast” as a verifiable requirement.</a:t>
            </a:r>
            <a:endParaRPr lang="en-US" sz="1500" dirty="0"/>
          </a:p>
        </p:txBody>
      </p:sp>
      <p:sp>
        <p:nvSpPr>
          <p:cNvPr id="7" name="Text 4"/>
          <p:cNvSpPr/>
          <p:nvPr/>
        </p:nvSpPr>
        <p:spPr>
          <a:xfrm>
            <a:off x="812800" y="2548235"/>
            <a:ext cx="10566400" cy="612775"/>
          </a:xfrm>
          <a:prstGeom prst="rect">
            <a:avLst/>
          </a:prstGeom>
          <a:solidFill>
            <a:srgbClr val="DBEFC1"/>
          </a:solidFill>
          <a:ln/>
        </p:spPr>
        <p:txBody>
          <a:bodyPr wrap="square" lIns="203200" tIns="177800" rIns="0" bIns="152400" rtlCol="0" anchor="t">
            <a:normAutofit/>
          </a:bodyPr>
          <a:lstStyle/>
          <a:p>
            <a:pPr marL="0" indent="0" algn="l">
              <a:lnSpc>
                <a:spcPts val="2025"/>
              </a:lnSpc>
              <a:buNone/>
            </a:pPr>
            <a:r>
              <a:rPr lang="en-US" sz="1500" b="1" dirty="0">
                <a:solidFill>
                  <a:srgbClr val="000000"/>
                </a:solidFill>
                <a:latin typeface="Arial" pitchFamily="34" charset="0"/>
                <a:ea typeface="Arial" pitchFamily="34" charset="-122"/>
                <a:cs typeface="Arial" pitchFamily="34" charset="-120"/>
              </a:rPr>
              <a:t>2</a:t>
            </a:r>
            <a:r>
              <a:rPr lang="en-US" sz="1500" dirty="0">
                <a:solidFill>
                  <a:srgbClr val="000000"/>
                </a:solidFill>
                <a:latin typeface="Arial" pitchFamily="34" charset="0"/>
                <a:ea typeface="Arial" pitchFamily="34" charset="-122"/>
                <a:cs typeface="Arial" pitchFamily="34" charset="-120"/>
              </a:rPr>
              <a:t> · Which elicitation technique would you use to replace a legacy system, and why?</a:t>
            </a:r>
            <a:endParaRPr lang="en-US" sz="1500" dirty="0"/>
          </a:p>
        </p:txBody>
      </p:sp>
      <p:sp>
        <p:nvSpPr>
          <p:cNvPr id="8" name="Text 5"/>
          <p:cNvSpPr/>
          <p:nvPr/>
        </p:nvSpPr>
        <p:spPr>
          <a:xfrm>
            <a:off x="812800" y="3313410"/>
            <a:ext cx="10566400" cy="612775"/>
          </a:xfrm>
          <a:prstGeom prst="rect">
            <a:avLst/>
          </a:prstGeom>
          <a:solidFill>
            <a:srgbClr val="DBEFC1"/>
          </a:solidFill>
          <a:ln/>
        </p:spPr>
        <p:txBody>
          <a:bodyPr wrap="square" lIns="203200" tIns="177800" rIns="0" bIns="152400" rtlCol="0" anchor="t">
            <a:normAutofit/>
          </a:bodyPr>
          <a:lstStyle/>
          <a:p>
            <a:pPr marL="0" indent="0" algn="l">
              <a:lnSpc>
                <a:spcPts val="2025"/>
              </a:lnSpc>
              <a:buNone/>
            </a:pPr>
            <a:r>
              <a:rPr lang="en-US" sz="1500" b="1" dirty="0">
                <a:solidFill>
                  <a:srgbClr val="000000"/>
                </a:solidFill>
                <a:latin typeface="Arial" pitchFamily="34" charset="0"/>
                <a:ea typeface="Arial" pitchFamily="34" charset="-122"/>
                <a:cs typeface="Arial" pitchFamily="34" charset="-120"/>
              </a:rPr>
              <a:t>3</a:t>
            </a:r>
            <a:r>
              <a:rPr lang="en-US" sz="1500" dirty="0">
                <a:solidFill>
                  <a:srgbClr val="000000"/>
                </a:solidFill>
                <a:latin typeface="Arial" pitchFamily="34" charset="0"/>
                <a:ea typeface="Arial" pitchFamily="34" charset="-122"/>
                <a:cs typeface="Arial" pitchFamily="34" charset="-120"/>
              </a:rPr>
              <a:t> · Name one risk of using an LLM to extract requirements.</a:t>
            </a:r>
            <a:endParaRPr lang="en-US" sz="1500" dirty="0"/>
          </a:p>
        </p:txBody>
      </p:sp>
      <p:sp>
        <p:nvSpPr>
          <p:cNvPr id="9" name="Text 6"/>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0" name="Text 7"/>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solidFill>
            <a:srgbClr val="92D400"/>
          </a:solidFill>
          <a:ln/>
        </p:spPr>
        <p:txBody>
          <a:bodyPr/>
          <a:lstStyle/>
          <a:p>
            <a:endParaRPr lang="pt-PT"/>
          </a:p>
        </p:txBody>
      </p:sp>
      <p:pic>
        <p:nvPicPr>
          <p:cNvPr id="3" name="Image 0" descr="Universidade de Aveiro · DETI"/>
          <p:cNvPicPr>
            <a:picLocks noChangeAspect="1"/>
          </p:cNvPicPr>
          <p:nvPr/>
        </p:nvPicPr>
        <p:blipFill>
          <a:blip r:embed="rId3"/>
          <a:srcRect t="-5944" b="-5944"/>
          <a:stretch/>
        </p:blipFill>
        <p:spPr>
          <a:xfrm>
            <a:off x="292100" y="254000"/>
            <a:ext cx="2159000" cy="508000"/>
          </a:xfrm>
          <a:prstGeom prst="rect">
            <a:avLst/>
          </a:prstGeom>
        </p:spPr>
      </p:pic>
      <p:sp>
        <p:nvSpPr>
          <p:cNvPr id="4" name="Text 1"/>
          <p:cNvSpPr>
            <a:spLocks noGrp="1"/>
          </p:cNvSpPr>
          <p:nvPr>
            <p:ph type="title"/>
          </p:nvPr>
        </p:nvSpPr>
        <p:spPr>
          <a:xfrm>
            <a:off x="2794000" y="317500"/>
            <a:ext cx="8842756"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000000"/>
                </a:solidFill>
                <a:latin typeface="Arial" pitchFamily="34" charset="0"/>
                <a:ea typeface="Arial" pitchFamily="34" charset="-122"/>
                <a:cs typeface="Arial" pitchFamily="34" charset="-120"/>
              </a:rPr>
              <a:t>References</a:t>
            </a:r>
            <a:endParaRPr lang="en-US" sz="2600" dirty="0"/>
          </a:p>
        </p:txBody>
      </p:sp>
      <p:sp>
        <p:nvSpPr>
          <p:cNvPr id="5" name="Text 2"/>
          <p:cNvSpPr/>
          <p:nvPr/>
        </p:nvSpPr>
        <p:spPr>
          <a:xfrm>
            <a:off x="812800" y="1371600"/>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Wiegers, K. &amp; Beatty, J. (2013). </a:t>
            </a:r>
            <a:r>
              <a:rPr lang="en-US" sz="1200" i="1" dirty="0">
                <a:solidFill>
                  <a:srgbClr val="000000"/>
                </a:solidFill>
                <a:latin typeface="Arial" pitchFamily="34" charset="0"/>
                <a:ea typeface="Arial" pitchFamily="34" charset="-122"/>
                <a:cs typeface="Arial" pitchFamily="34" charset="-120"/>
              </a:rPr>
              <a:t>Software Requirements</a:t>
            </a:r>
            <a:r>
              <a:rPr lang="en-US" sz="1200" dirty="0">
                <a:solidFill>
                  <a:srgbClr val="000000"/>
                </a:solidFill>
                <a:latin typeface="Arial" pitchFamily="34" charset="0"/>
                <a:ea typeface="Arial" pitchFamily="34" charset="-122"/>
                <a:cs typeface="Arial" pitchFamily="34" charset="-120"/>
              </a:rPr>
              <a:t>, 3rd ed. Microsoft Press.</a:t>
            </a:r>
            <a:endParaRPr lang="en-US" sz="1200" dirty="0"/>
          </a:p>
        </p:txBody>
      </p:sp>
      <p:sp>
        <p:nvSpPr>
          <p:cNvPr id="6" name="Text 3"/>
          <p:cNvSpPr/>
          <p:nvPr/>
        </p:nvSpPr>
        <p:spPr>
          <a:xfrm>
            <a:off x="812800" y="1704280"/>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ISO/IEC/IEEE 29148:2018. </a:t>
            </a:r>
            <a:r>
              <a:rPr lang="en-US" sz="1200" i="1" dirty="0">
                <a:solidFill>
                  <a:srgbClr val="000000"/>
                </a:solidFill>
                <a:latin typeface="Arial" pitchFamily="34" charset="0"/>
                <a:ea typeface="Arial" pitchFamily="34" charset="-122"/>
                <a:cs typeface="Arial" pitchFamily="34" charset="-120"/>
              </a:rPr>
              <a:t>Systems and software engineering — Life cycle processes — Requirements engineering.</a:t>
            </a:r>
            <a:endParaRPr lang="en-US" sz="1200" dirty="0"/>
          </a:p>
        </p:txBody>
      </p:sp>
      <p:sp>
        <p:nvSpPr>
          <p:cNvPr id="7" name="Text 4"/>
          <p:cNvSpPr/>
          <p:nvPr/>
        </p:nvSpPr>
        <p:spPr>
          <a:xfrm>
            <a:off x="812800" y="2036961"/>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ISO/IEC 25010:2023. </a:t>
            </a:r>
            <a:r>
              <a:rPr lang="en-US" sz="1200" i="1" dirty="0">
                <a:solidFill>
                  <a:srgbClr val="000000"/>
                </a:solidFill>
                <a:latin typeface="Arial" pitchFamily="34" charset="0"/>
                <a:ea typeface="Arial" pitchFamily="34" charset="-122"/>
                <a:cs typeface="Arial" pitchFamily="34" charset="-120"/>
              </a:rPr>
              <a:t>Systems and software engineering — SQuaRE — Product quality model.</a:t>
            </a:r>
            <a:endParaRPr lang="en-US" sz="1200" dirty="0"/>
          </a:p>
        </p:txBody>
      </p:sp>
      <p:sp>
        <p:nvSpPr>
          <p:cNvPr id="8" name="Text 5"/>
          <p:cNvSpPr/>
          <p:nvPr/>
        </p:nvSpPr>
        <p:spPr>
          <a:xfrm>
            <a:off x="812800" y="2369641"/>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Sommerville, I. (2015). </a:t>
            </a:r>
            <a:r>
              <a:rPr lang="en-US" sz="1200" i="1" dirty="0">
                <a:solidFill>
                  <a:srgbClr val="000000"/>
                </a:solidFill>
                <a:latin typeface="Arial" pitchFamily="34" charset="0"/>
                <a:ea typeface="Arial" pitchFamily="34" charset="-122"/>
                <a:cs typeface="Arial" pitchFamily="34" charset="-120"/>
              </a:rPr>
              <a:t>Software Engineering</a:t>
            </a:r>
            <a:r>
              <a:rPr lang="en-US" sz="1200" dirty="0">
                <a:solidFill>
                  <a:srgbClr val="000000"/>
                </a:solidFill>
                <a:latin typeface="Arial" pitchFamily="34" charset="0"/>
                <a:ea typeface="Arial" pitchFamily="34" charset="-122"/>
                <a:cs typeface="Arial" pitchFamily="34" charset="-120"/>
              </a:rPr>
              <a:t>, 10th ed. Pearson.</a:t>
            </a:r>
            <a:endParaRPr lang="en-US" sz="1200" dirty="0"/>
          </a:p>
        </p:txBody>
      </p:sp>
      <p:sp>
        <p:nvSpPr>
          <p:cNvPr id="9" name="Text 6"/>
          <p:cNvSpPr/>
          <p:nvPr/>
        </p:nvSpPr>
        <p:spPr>
          <a:xfrm>
            <a:off x="812800" y="2702322"/>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Mavin, A., Wilkinson, P., Harwood, A. &amp; Novak, M. (2009). Easy Approach to Requirements Syntax (EARS). </a:t>
            </a:r>
            <a:r>
              <a:rPr lang="en-US" sz="1200" i="1" dirty="0">
                <a:solidFill>
                  <a:srgbClr val="000000"/>
                </a:solidFill>
                <a:latin typeface="Arial" pitchFamily="34" charset="0"/>
                <a:ea typeface="Arial" pitchFamily="34" charset="-122"/>
                <a:cs typeface="Arial" pitchFamily="34" charset="-120"/>
              </a:rPr>
              <a:t>IEEE RE'09.</a:t>
            </a:r>
            <a:endParaRPr lang="en-US" sz="1200" dirty="0"/>
          </a:p>
        </p:txBody>
      </p:sp>
      <p:sp>
        <p:nvSpPr>
          <p:cNvPr id="10" name="Text 7"/>
          <p:cNvSpPr/>
          <p:nvPr/>
        </p:nvSpPr>
        <p:spPr>
          <a:xfrm>
            <a:off x="812800" y="3035002"/>
            <a:ext cx="1088339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Méndez Fernández, D. et al. (2017). Naming the pain in requirements engineering: Contemporary problems, causes, and effects in practice. </a:t>
            </a:r>
            <a:r>
              <a:rPr lang="en-US" sz="1200" i="1" dirty="0">
                <a:solidFill>
                  <a:srgbClr val="000000"/>
                </a:solidFill>
                <a:latin typeface="Arial" pitchFamily="34" charset="0"/>
                <a:ea typeface="Arial" pitchFamily="34" charset="-122"/>
                <a:cs typeface="Arial" pitchFamily="34" charset="-120"/>
              </a:rPr>
              <a:t>Empirical Software Engineering</a:t>
            </a:r>
            <a:r>
              <a:rPr lang="en-US" sz="1200" dirty="0">
                <a:solidFill>
                  <a:srgbClr val="000000"/>
                </a:solidFill>
                <a:latin typeface="Arial" pitchFamily="34" charset="0"/>
                <a:ea typeface="Arial" pitchFamily="34" charset="-122"/>
                <a:cs typeface="Arial" pitchFamily="34" charset="-120"/>
              </a:rPr>
              <a:t>, 22(5).</a:t>
            </a:r>
            <a:endParaRPr lang="en-US" sz="1200" dirty="0"/>
          </a:p>
        </p:txBody>
      </p:sp>
      <p:sp>
        <p:nvSpPr>
          <p:cNvPr id="11" name="Text 8"/>
          <p:cNvSpPr/>
          <p:nvPr/>
        </p:nvSpPr>
        <p:spPr>
          <a:xfrm>
            <a:off x="812800" y="3573363"/>
            <a:ext cx="1088339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Zadenoori, M. A., Dąbrowski, J., Alhoshan, W., Zhao, L. &amp; Ferrari, A. (2025). Large Language Models for Requirements Engineering: A Systematic Literature Review. </a:t>
            </a:r>
            <a:r>
              <a:rPr lang="en-US" sz="1200" i="1" dirty="0">
                <a:solidFill>
                  <a:srgbClr val="000000"/>
                </a:solidFill>
                <a:latin typeface="Arial" pitchFamily="34" charset="0"/>
                <a:ea typeface="Arial" pitchFamily="34" charset="-122"/>
                <a:cs typeface="Arial" pitchFamily="34" charset="-120"/>
              </a:rPr>
              <a:t>arXiv:2509.11446.</a:t>
            </a:r>
            <a:endParaRPr lang="en-US" sz="1200" dirty="0"/>
          </a:p>
        </p:txBody>
      </p:sp>
      <p:sp>
        <p:nvSpPr>
          <p:cNvPr id="12" name="Text 9"/>
          <p:cNvSpPr/>
          <p:nvPr/>
        </p:nvSpPr>
        <p:spPr>
          <a:xfrm>
            <a:off x="812800" y="4111724"/>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Mazur, E. (1997). </a:t>
            </a:r>
            <a:r>
              <a:rPr lang="en-US" sz="1200" i="1" dirty="0">
                <a:solidFill>
                  <a:srgbClr val="000000"/>
                </a:solidFill>
                <a:latin typeface="Arial" pitchFamily="34" charset="0"/>
                <a:ea typeface="Arial" pitchFamily="34" charset="-122"/>
                <a:cs typeface="Arial" pitchFamily="34" charset="-120"/>
              </a:rPr>
              <a:t>Peer Instruction: A User's Manual.</a:t>
            </a:r>
            <a:r>
              <a:rPr lang="en-US" sz="1200" dirty="0">
                <a:solidFill>
                  <a:srgbClr val="000000"/>
                </a:solidFill>
                <a:latin typeface="Arial" pitchFamily="34" charset="0"/>
                <a:ea typeface="Arial" pitchFamily="34" charset="-122"/>
                <a:cs typeface="Arial" pitchFamily="34" charset="-120"/>
              </a:rPr>
              <a:t> Prentice Hall.</a:t>
            </a:r>
            <a:endParaRPr lang="en-US" sz="1200" dirty="0"/>
          </a:p>
        </p:txBody>
      </p:sp>
      <p:sp>
        <p:nvSpPr>
          <p:cNvPr id="13" name="Text 10"/>
          <p:cNvSpPr/>
          <p:nvPr/>
        </p:nvSpPr>
        <p:spPr>
          <a:xfrm>
            <a:off x="812800" y="4444405"/>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Josh Darnit (2017). </a:t>
            </a:r>
            <a:r>
              <a:rPr lang="en-US" sz="1200" i="1" dirty="0">
                <a:solidFill>
                  <a:srgbClr val="000000"/>
                </a:solidFill>
                <a:latin typeface="Arial" pitchFamily="34" charset="0"/>
                <a:ea typeface="Arial" pitchFamily="34" charset="-122"/>
                <a:cs typeface="Arial" pitchFamily="34" charset="-120"/>
              </a:rPr>
              <a:t>Exact Instructions Challenge PB&amp;J Classroom Friendly</a:t>
            </a:r>
            <a:r>
              <a:rPr lang="en-US" sz="1200" dirty="0">
                <a:solidFill>
                  <a:srgbClr val="000000"/>
                </a:solidFill>
                <a:latin typeface="Arial" pitchFamily="34" charset="0"/>
                <a:ea typeface="Arial" pitchFamily="34" charset="-122"/>
                <a:cs typeface="Arial" pitchFamily="34" charset="-120"/>
              </a:rPr>
              <a:t> [video]. </a:t>
            </a:r>
            <a:r>
              <a:rPr lang="en-US" sz="1200" u="sng" dirty="0">
                <a:solidFill>
                  <a:srgbClr val="000000"/>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youtube.com/watch?v=FN2RM-CHkuI</a:t>
            </a:r>
            <a:endParaRPr lang="en-US" sz="1200" dirty="0"/>
          </a:p>
        </p:txBody>
      </p:sp>
      <p:sp>
        <p:nvSpPr>
          <p:cNvPr id="14" name="Text 11"/>
          <p:cNvSpPr/>
          <p:nvPr/>
        </p:nvSpPr>
        <p:spPr>
          <a:xfrm>
            <a:off x="812800" y="4777085"/>
            <a:ext cx="1088339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00000"/>
                </a:solidFill>
                <a:latin typeface="Arial" pitchFamily="34" charset="0"/>
                <a:ea typeface="Arial" pitchFamily="34" charset="-122"/>
                <a:cs typeface="Arial" pitchFamily="34" charset="-120"/>
              </a:rPr>
              <a:t>Well-Architected Guide, Requirement Gathering: </a:t>
            </a:r>
            <a:r>
              <a:rPr lang="en-US" sz="1200" u="sng" dirty="0">
                <a:solidFill>
                  <a:srgbClr val="000000"/>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well-architected-guide.com</a:t>
            </a:r>
            <a:r>
              <a:rPr lang="en-US" sz="1200" dirty="0">
                <a:solidFill>
                  <a:srgbClr val="000000"/>
                </a:solidFill>
                <a:latin typeface="Arial" pitchFamily="34" charset="0"/>
                <a:ea typeface="Arial" pitchFamily="34" charset="-122"/>
                <a:cs typeface="Arial" pitchFamily="34" charset="-120"/>
              </a:rPr>
              <a:t> (activity cases).</a:t>
            </a:r>
            <a:endParaRPr lang="en-US" sz="1200" dirty="0"/>
          </a:p>
        </p:txBody>
      </p:sp>
      <p:sp>
        <p:nvSpPr>
          <p:cNvPr id="15" name="Text 12"/>
          <p:cNvSpPr/>
          <p:nvPr/>
        </p:nvSpPr>
        <p:spPr>
          <a:xfrm>
            <a:off x="812800" y="63398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Systems Analysis · Software Requirements (I)</a:t>
            </a:r>
            <a:endParaRPr lang="en-US" sz="1200" dirty="0"/>
          </a:p>
        </p:txBody>
      </p:sp>
      <p:sp>
        <p:nvSpPr>
          <p:cNvPr id="16" name="Text 13"/>
          <p:cNvSpPr/>
          <p:nvPr/>
        </p:nvSpPr>
        <p:spPr>
          <a:xfrm>
            <a:off x="10058400" y="63398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92D400"/>
        </a:solidFill>
        <a:effectLst/>
      </p:bgPr>
    </p:bg>
    <p:spTree>
      <p:nvGrpSpPr>
        <p:cNvPr id="1" name=""/>
        <p:cNvGrpSpPr/>
        <p:nvPr/>
      </p:nvGrpSpPr>
      <p:grpSpPr>
        <a:xfrm>
          <a:off x="0" y="0"/>
          <a:ext cx="0" cy="0"/>
          <a:chOff x="0" y="0"/>
          <a:chExt cx="0" cy="0"/>
        </a:xfrm>
      </p:grpSpPr>
      <p:pic>
        <p:nvPicPr>
          <p:cNvPr id="2" name="Image 0" descr="Universidade de Aveiro, assinatura"/>
          <p:cNvPicPr>
            <a:picLocks noChangeAspect="1"/>
          </p:cNvPicPr>
          <p:nvPr/>
        </p:nvPicPr>
        <p:blipFill>
          <a:blip r:embed="rId3"/>
          <a:srcRect t="-77278" b="-77278"/>
          <a:stretch/>
        </p:blipFill>
        <p:spPr>
          <a:xfrm>
            <a:off x="3568700" y="2476500"/>
            <a:ext cx="5054600" cy="1905000"/>
          </a:xfrm>
          <a:prstGeom prst="rect">
            <a:avLst/>
          </a:prstGeom>
        </p:spPr>
      </p:pic>
    </p:spTree>
  </p:cSld>
  <p:clrMapOvr>
    <a:masterClrMapping/>
  </p:clrMapOvr>
</p:sld>
</file>

<file path=ppt/theme/theme1.xml><?xml version="1.0" encoding="utf-8"?>
<a:theme xmlns:a="http://schemas.openxmlformats.org/drawingml/2006/main" name="TP04 – Software Requirements (Part I)">
  <a:themeElements>
    <a:clrScheme name="TP04 – Software Requirements (Part I)">
      <a:dk1>
        <a:srgbClr val="000000"/>
      </a:dk1>
      <a:lt1>
        <a:srgbClr val="FFFFFF"/>
      </a:lt1>
      <a:dk2>
        <a:srgbClr val="404040"/>
      </a:dk2>
      <a:lt2>
        <a:srgbClr val="E6E6E6"/>
      </a:lt2>
      <a:accent1>
        <a:srgbClr val="92D400"/>
      </a:accent1>
      <a:accent2>
        <a:srgbClr val="DBEFC1"/>
      </a:accent2>
      <a:accent3>
        <a:srgbClr val="555555"/>
      </a:accent3>
      <a:accent4>
        <a:srgbClr val="333333"/>
      </a:accent4>
      <a:accent5>
        <a:srgbClr val="444444"/>
      </a:accent5>
      <a:accent6>
        <a:srgbClr val="9AA0A6"/>
      </a:accent6>
      <a:hlink>
        <a:srgbClr val="0563C1"/>
      </a:hlink>
      <a:folHlink>
        <a:srgbClr val="954F72"/>
      </a:folHlink>
    </a:clrScheme>
    <a:fontScheme name="TP04 – Software Requirements (Part 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6704</Words>
  <Application>Microsoft Office PowerPoint</Application>
  <PresentationFormat>Widescreen</PresentationFormat>
  <Paragraphs>635</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Courier New</vt:lpstr>
      <vt:lpstr>TP04 – Software Requirements (Part I)</vt:lpstr>
      <vt:lpstr>software requirements </vt:lpstr>
      <vt:lpstr>Learning objectives</vt:lpstr>
      <vt:lpstr>Starting point</vt:lpstr>
      <vt:lpstr>what is a requirement?</vt:lpstr>
      <vt:lpstr>What is a requirement?</vt:lpstr>
      <vt:lpstr>What the evidence says</vt:lpstr>
      <vt:lpstr>As a LECI student, why should I care...?</vt:lpstr>
      <vt:lpstr>Types of requirements information</vt:lpstr>
      <vt:lpstr>Stakeholders</vt:lpstr>
      <vt:lpstr>PowerPoint Presentation</vt:lpstr>
      <vt:lpstr>The requirements engineering process</vt:lpstr>
      <vt:lpstr>classifying and writing good requirements</vt:lpstr>
      <vt:lpstr>Functional and non-functional</vt:lpstr>
      <vt:lpstr>Quality attributes: ISO/IEC 25010:2023</vt:lpstr>
      <vt:lpstr>Peer Instruction: classify</vt:lpstr>
      <vt:lpstr>Peer Instruction: suggested answers</vt:lpstr>
      <vt:lpstr>Video: exact instructions</vt:lpstr>
      <vt:lpstr>Good requirements (ISO/IEC/IEEE 29148)</vt:lpstr>
      <vt:lpstr>Writing aids: SMART and EARS</vt:lpstr>
      <vt:lpstr>Rewrite it: make it SMART</vt:lpstr>
      <vt:lpstr>requirements elicitation</vt:lpstr>
      <vt:lpstr>Why is elicitation hard?</vt:lpstr>
      <vt:lpstr>Families of elicitation techniques</vt:lpstr>
      <vt:lpstr>Which techniques for which project?</vt:lpstr>
      <vt:lpstr>Activity: elicitation in action</vt:lpstr>
      <vt:lpstr>Group sheet</vt:lpstr>
      <vt:lpstr>Sharing and synthesis</vt:lpstr>
      <vt:lpstr>documenting requirements</vt:lpstr>
      <vt:lpstr>Requirements specification (SRS)</vt:lpstr>
      <vt:lpstr>When should you follow a standard?</vt:lpstr>
      <vt:lpstr>AI in requirements engineering</vt:lpstr>
      <vt:lpstr>Where can AI help?</vt:lpstr>
      <vt:lpstr>Demo: interview → requirements</vt:lpstr>
      <vt:lpstr>Risks and what research says</vt:lpstr>
      <vt:lpstr>Exit ticket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TP04 – Software Requirements (Part I)</dc:title>
  <dc:subject/>
  <dc:creator/>
  <cp:lastModifiedBy>Ilídio Oliveira</cp:lastModifiedBy>
  <cp:revision>1</cp:revision>
  <dcterms:created xsi:type="dcterms:W3CDTF">2026-10-08T14:55:41Z</dcterms:created>
  <dcterms:modified xsi:type="dcterms:W3CDTF">2026-10-08T15:49:08Z</dcterms:modified>
</cp:coreProperties>
</file>