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8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2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E2-479A-AE52-96BB9472D7BB}"/>
              </c:ext>
            </c:extLst>
          </c:dPt>
          <c:dPt>
            <c:idx val="1"/>
            <c:bubble3D val="0"/>
            <c:spPr>
              <a:solidFill>
                <a:srgbClr val="F7A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E2-479A-AE52-96BB9472D7BB}"/>
              </c:ext>
            </c:extLst>
          </c:dPt>
          <c:dPt>
            <c:idx val="2"/>
            <c:bubble3D val="0"/>
            <c:spPr>
              <a:solidFill>
                <a:srgbClr val="EA74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E2-479A-AE52-96BB9472D7B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E2-479A-AE52-96BB9472D7B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E2-479A-AE52-96BB9472D7B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E2-479A-AE52-96BB9472D7B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PT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TP · written exam</c:v>
                </c:pt>
                <c:pt idx="1">
                  <c:v>P · group project</c:v>
                </c:pt>
                <c:pt idx="2">
                  <c:v>P · lab portfolio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45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0E2-479A-AE52-96BB9472D7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00000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578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session covers what Systems Analysis and Design is, the lifecycles we will use, how AI agents change the work, and how the course runs. [TO CONFIRM: academic year and instructor names.]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Analysis: understand and specify what the system must do. Design: define how it will do it. The main goal is to bridge business needs and technical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reading: survey-based figures such as PMI or the Standish CHAOS reports depend on how "failure" is defined; the Standish methodology in particular has been criticised. Use them as indicators, not as precise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analyst is the bridge between stakeholders and the development team. See also Wiegers, "10 cosmic truths about software requirements".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OpenUP is the open, lean version of the Unified Process, published through the Eclipse Process Framework (EPF). EPF is no longer actively developed [TO CONFIRM the date before citing it]; we use OpenUP as a reference model, not as a claim about current industry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OpenSpec workflow uses /opsx:* commands (explore, propose, apply, archive; expanded profiles add new, continue, ff, verify). Requirements are plain Markdown with WHEN/THEN scenarios. Check the exact syntax against the pinned version before class. Source: github.com/Fission-AI/OpenSpec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[TO CONFIRM] Objective 6 is new and should match the official course description (ficha da UC).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[TO CONFIRM] Coverage levels are a proposal; adjust to the course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[TO CONFIRM] Thematic units are a draft derived from the learning objectives; align names and order with the official calendar.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[TO CONFIRM] Team size, project theme and the specific AI assistant(s)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kept from the 2024/25 edition. [TO CONFIRM] against the official course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[TO CONFIRM] The course rules are a draft proposal. Check them against the full UA framework and its guidance (ua.pt/pt/inovacaopedagogica/referencialia).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[TO CONFIRM] References should match the official bibliography of the course; editions omitted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Cover">
    <p:bg>
      <p:bgPr>
        <a:solidFill>
          <a:srgbClr val="92D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deti-simbolo-ua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0"/>
            <a:ext cx="3951709" cy="222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4900" y="24892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 de eletrónica, telecomunicações e informática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2946400"/>
            <a:ext cx="5588000" cy="152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184900" y="4572000"/>
            <a:ext cx="5588000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</a:t>
            </a:r>
            <a:endParaRPr lang="en-US" sz="18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457200" y="5461000"/>
            <a:ext cx="5334000" cy="1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· Programme · Contact</a:t>
            </a:r>
            <a:endParaRPr lang="en-US" sz="1400" dirty="0"/>
          </a:p>
        </p:txBody>
      </p:sp>
      <p:sp>
        <p:nvSpPr>
          <p:cNvPr id="7" name="Text 1"/>
          <p:cNvSpPr>
            <a:spLocks noGrp="1"/>
          </p:cNvSpPr>
          <p:nvPr>
            <p:ph type="body" idx="105" hasCustomPrompt="1"/>
          </p:nvPr>
        </p:nvSpPr>
        <p:spPr>
          <a:xfrm>
            <a:off x="6184900" y="6223000"/>
            <a:ext cx="38100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59100" cy="6858000"/>
          </a:xfrm>
          <a:prstGeom prst="rect">
            <a:avLst/>
          </a:prstGeom>
          <a:solidFill>
            <a:srgbClr val="92D400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292100" y="1104900"/>
            <a:ext cx="2413000" cy="1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6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3937000" y="2159000"/>
            <a:ext cx="7620000" cy="1397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3937000" y="3759200"/>
            <a:ext cx="7620000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subtitle</a:t>
            </a:r>
            <a:endParaRPr lang="en-US" sz="1800" dirty="0"/>
          </a:p>
        </p:txBody>
      </p:sp>
      <p:pic>
        <p:nvPicPr>
          <p:cNvPr id="6" name="Image 0" descr="assets/deti-horizontal-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5715000"/>
            <a:ext cx="2422719" cy="50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92D400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" name="Image 0" descr="assets/deti-horizontal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279400"/>
            <a:ext cx="3391807" cy="71120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6451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Sistemas · 2026/27</a:t>
            </a:r>
            <a:endParaRPr lang="en-US" sz="12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457200" y="1625600"/>
            <a:ext cx="11277600" cy="462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92D400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" name="Image 0" descr="assets/deti-horizontal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279400"/>
            <a:ext cx="3391807" cy="71120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6451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Sistemas · 2026/27</a:t>
            </a:r>
            <a:endParaRPr lang="en-US" sz="12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457200" y="1625600"/>
            <a:ext cx="5410200" cy="462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600"/>
              </a:spcAft>
              <a:buNone/>
              <a:def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content</a:t>
            </a:r>
            <a:endParaRPr lang="en-US" sz="1600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6324600" y="1651000"/>
            <a:ext cx="541020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600"/>
              </a:spcAft>
              <a:buNone/>
              <a:def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content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92D400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" name="Image 0" descr="assets/deti-horizontal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279400"/>
            <a:ext cx="3391807" cy="71120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6451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Sistemas · 2026/27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Side Pa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59100" cy="6858000"/>
          </a:xfrm>
          <a:prstGeom prst="rect">
            <a:avLst/>
          </a:prstGeom>
          <a:solidFill>
            <a:srgbClr val="92D400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292100" y="1104900"/>
            <a:ext cx="2413000" cy="152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title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3937000" y="1104900"/>
            <a:ext cx="7620000" cy="482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1400"/>
              </a:spcAft>
              <a:buNone/>
              <a:def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spcAft>
                <a:spcPts val="1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2000" dirty="0"/>
          </a:p>
        </p:txBody>
      </p:sp>
      <p:pic>
        <p:nvPicPr>
          <p:cNvPr id="5" name="Image 0" descr="assets/deti-horizontal-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5969000"/>
            <a:ext cx="2059311" cy="431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Imag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ampus-panel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842000" y="762000"/>
            <a:ext cx="5892800" cy="1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842000" y="2032000"/>
            <a:ext cx="5892800" cy="368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600" dirty="0"/>
          </a:p>
        </p:txBody>
      </p:sp>
      <p:pic>
        <p:nvPicPr>
          <p:cNvPr id="5" name="Image 1" descr="assets/deti-horizontal-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6019800"/>
            <a:ext cx="2059311" cy="431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976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Closing">
    <p:bg>
      <p:bgPr>
        <a:solidFill>
          <a:srgbClr val="92D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ua-assinatura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00" y="3048000"/>
            <a:ext cx="5054600" cy="748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ission-AI/OpenSpec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2946400"/>
            <a:ext cx="558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</a:t>
            </a:r>
            <a:r>
              <a:rPr lang="en-US" sz="4000" i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r>
              <a:rPr lang="en-US" sz="4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Sistemas</a:t>
            </a:r>
            <a:endParaRPr lang="en-US" sz="4000" i="1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6184900" y="45720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TP01 · Course introduction and the software lifecycle (v2026-09-17)</a:t>
            </a:r>
            <a:endParaRPr lang="en-US" sz="18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457200" y="54610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Sistemas (ASis)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Licenciatura em Engenharia de Computadores e Informática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ico@ua.pt</a:t>
            </a:r>
            <a:endParaRPr lang="en-US" sz="1400" dirty="0"/>
          </a:p>
        </p:txBody>
      </p:sp>
      <p:sp>
        <p:nvSpPr>
          <p:cNvPr id="5" name="Text 1"/>
          <p:cNvSpPr>
            <a:spLocks noGrp="1"/>
          </p:cNvSpPr>
          <p:nvPr>
            <p:ph type="body" idx="105" hasCustomPrompt="1"/>
          </p:nvPr>
        </p:nvSpPr>
        <p:spPr>
          <a:xfrm>
            <a:off x="6184900" y="62230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2026/2027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292100" y="11049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3937000" y="1104900"/>
            <a:ext cx="7620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Systems Analysis and Design</a:t>
            </a:r>
            <a:endParaRPr lang="en-US" sz="2000" dirty="0"/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Lifecycles: from the SDLC to DevOps and OpenUP</a:t>
            </a:r>
            <a:endParaRPr lang="en-US" sz="2000" dirty="0"/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with AI agents: spec-driven development</a:t>
            </a:r>
            <a:endParaRPr lang="en-US" sz="2000" dirty="0"/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course: objectives, organisation and assessment</a:t>
            </a:r>
            <a:endParaRPr lang="en-US" sz="2000" dirty="0"/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rules and next steps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292100" y="11049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3937000" y="21590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Systems Analysis and Design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3937000" y="37592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discipline is and why it matters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Systems Analysis and Design?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905000"/>
            <a:ext cx="2514600" cy="2413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needs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Stakeholders, goals, business rules, constraints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022600" y="3111500"/>
            <a:ext cx="3048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3378200" y="1905000"/>
            <a:ext cx="2514600" cy="2413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— WHAT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and specify in detail what the system must do: elicit, specify and validate requirements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0" y="3111500"/>
            <a:ext cx="3048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299200" y="1905000"/>
            <a:ext cx="2514600" cy="2413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— HOW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how the system will meet the requirements: architecture, models, technical plan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864600" y="3111500"/>
            <a:ext cx="3048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9220200" y="1905000"/>
            <a:ext cx="2514600" cy="2413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solution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Software, data and infrastructure that deliver value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24400"/>
            <a:ext cx="11277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Analysis and Design (SAD)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 business needs and technical solutions. Analysis reduces uncertainty about the problem; design reduces uncertainty about the solution.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Graphic 26" descr="Human figure representing business stakehold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0228" y="3387969"/>
            <a:ext cx="832339" cy="832339"/>
          </a:xfrm>
          <a:prstGeom prst="rect">
            <a:avLst/>
          </a:prstGeom>
        </p:spPr>
      </p:pic>
      <p:pic>
        <p:nvPicPr>
          <p:cNvPr id="27" name="Graphic 27" descr="Self-driving vehicle representing the technical solu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0025" y="3403600"/>
            <a:ext cx="1074614" cy="1074614"/>
          </a:xfrm>
          <a:prstGeom prst="rect">
            <a:avLst/>
          </a:prstGeom>
        </p:spPr>
      </p:pic>
      <p:pic>
        <p:nvPicPr>
          <p:cNvPr id="12" name="Graphic 26" descr="Human figure representing business stakeholders">
            <a:extLst>
              <a:ext uri="{FF2B5EF4-FFF2-40B4-BE49-F238E27FC236}">
                <a16:creationId xmlns:a16="http://schemas.microsoft.com/office/drawing/2014/main" id="{D6AF39F0-72CA-8A5F-249D-4AA7A6AFD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1120" y="3587259"/>
            <a:ext cx="832339" cy="83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52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should you care?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25600"/>
            <a:ext cx="4572000" cy="4191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254000" tIns="254000" rIns="254000" bIns="254000" rtlCol="0" anchor="ctr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8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unsuccessful projects fail to meet their goals due to inaccurate requirements management.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PMI, Pulse of the Profession: Requirements Management (2014)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61000" y="1752600"/>
            <a:ext cx="62738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▪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projects need systematic methods.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Intuition does not scale to many stakeholders, rules and integrations.</a:t>
            </a:r>
            <a:endParaRPr lang="en-US" sz="1800" dirty="0"/>
          </a:p>
          <a:p>
            <a:pPr marL="342900" indent="-342900" algn="l">
              <a:spcAft>
                <a:spcPts val="1400"/>
              </a:spcAft>
              <a:buSzPct val="100000"/>
              <a:buChar char="▪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are where failure starts.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Misunderstood needs are cheap to fix on paper and expensive in production.</a:t>
            </a:r>
            <a:endParaRPr lang="en-US" sz="1800" dirty="0"/>
          </a:p>
          <a:p>
            <a:pPr marL="342900" indent="-342900" algn="l">
              <a:spcAft>
                <a:spcPts val="1400"/>
              </a:spcAft>
              <a:buSzPct val="100000"/>
              <a:buChar char="▪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Alignment.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technical decisions tied to the goals of the organisation.</a:t>
            </a:r>
            <a:endParaRPr lang="en-US" sz="1800" dirty="0"/>
          </a:p>
          <a:p>
            <a:pPr marL="342900" indent="-342900" algn="l">
              <a:spcAft>
                <a:spcPts val="1400"/>
              </a:spcAft>
              <a:buSzPct val="100000"/>
              <a:buChar char="▪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Guidance.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and specifications guide development and integration — by people and by AI agents.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this work?</a:t>
            </a:r>
            <a:endParaRPr lang="en-US" sz="2400" dirty="0"/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457200" y="1625600"/>
            <a:ext cx="5410200" cy="462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responsibilities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discovery —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stakeholders to gather and determine needs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and specification —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functional and non-functional requirements clearly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—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requirements against business goals and feasibility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Facilitation —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shared understanding between the organisation and technical teams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 —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changes and assess their impact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body" idx="105" hasCustomPrompt="1"/>
          </p:nvPr>
        </p:nvSpPr>
        <p:spPr>
          <a:xfrm>
            <a:off x="6324600" y="1651000"/>
            <a:ext cx="5410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will find it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analyst / systems analyst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engineer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or software architect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developer who works with AI agents: someone has to write the specification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292100" y="11049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3937000" y="21590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Lifecycles: from the SDLC to DevOps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3937000" y="37592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software work is organised — and the framework we will use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Software Development Life Cycle (SDLC)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905000"/>
            <a:ext cx="1981200" cy="889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46400"/>
            <a:ext cx="1981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feasibility, resources, risks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76500" y="2349500"/>
            <a:ext cx="2667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2781300" y="1905000"/>
            <a:ext cx="1981200" cy="889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781300" y="2946400"/>
            <a:ext cx="1981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and models of the problem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2349500"/>
            <a:ext cx="2667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5105400" y="1905000"/>
            <a:ext cx="1981200" cy="889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105400" y="2946400"/>
            <a:ext cx="1981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technical plan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24700" y="2349500"/>
            <a:ext cx="2667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7429500" y="1905000"/>
            <a:ext cx="1981200" cy="889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29500" y="2946400"/>
            <a:ext cx="1981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Construction, testing, deployment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448800" y="2349500"/>
            <a:ext cx="2667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9753600" y="1905000"/>
            <a:ext cx="1981200" cy="889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and maintenance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753600" y="2946400"/>
            <a:ext cx="1981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in production evolve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744200" y="3759200"/>
            <a:ext cx="0" cy="330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 flipH="1">
            <a:off x="1447800" y="4089400"/>
            <a:ext cx="9296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 flipV="1">
            <a:off x="1447800" y="3759200"/>
            <a:ext cx="0" cy="330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 txBox="1"/>
          <p:nvPr/>
        </p:nvSpPr>
        <p:spPr>
          <a:xfrm>
            <a:off x="1701800" y="41656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from operation feeds new requirements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978400"/>
            <a:ext cx="8953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method reorganises these activities — sequentially, iteratively or continuously.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them removes analysis and design.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2" name="Picture 21" descr="https://miro.medium.com/v2/resize:fit:1400/1*1Om5oPGlLVI3KjS01vQi5A.jpeg">
            <a:extLst>
              <a:ext uri="{FF2B5EF4-FFF2-40B4-BE49-F238E27FC236}">
                <a16:creationId xmlns:a16="http://schemas.microsoft.com/office/drawing/2014/main" id="{F89DC36F-05D3-0024-D186-1BE83E1D79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19" t="4712" r="24701" b="4103"/>
          <a:stretch>
            <a:fillRect/>
          </a:stretch>
        </p:blipFill>
        <p:spPr>
          <a:xfrm>
            <a:off x="9715501" y="4400550"/>
            <a:ext cx="2184400" cy="21592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Plan-driven vs iterative and agile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5600"/>
          <a:ext cx="11277600" cy="3911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Plan-driven (e.g., waterfall, V-model)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Iterative and agile (e.g., UP, Scrum, Kanban)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Detailed plan up front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High-level plan, refined each iteration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Specified and frozen early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Discovered and refined continuously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release at the end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Frequent working increments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 (testing, acceptance)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and continuous (demos, reviews)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Controlled, expensive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Expected, prioritised in the backlog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Stable, regulated, well-known problems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Uncertain or evolving needs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420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 – Two families of lifecycle models. Real projects often combine both.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DevOps: closing the loop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764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2006600"/>
            <a:ext cx="1524000" cy="7112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24100" y="2362200"/>
            <a:ext cx="254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2616200" y="2006600"/>
            <a:ext cx="1524000" cy="7112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78300" y="2362200"/>
            <a:ext cx="254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470400" y="2006600"/>
            <a:ext cx="1524000" cy="7112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2500" y="2362200"/>
            <a:ext cx="254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6324600" y="2006600"/>
            <a:ext cx="1524000" cy="7112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683000"/>
            <a:ext cx="1524000" cy="7112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 flipH="1">
            <a:off x="2324100" y="4038600"/>
            <a:ext cx="254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2616200" y="3683000"/>
            <a:ext cx="1524000" cy="7112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flipH="1">
            <a:off x="4178300" y="4038600"/>
            <a:ext cx="254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4470400" y="3683000"/>
            <a:ext cx="1524000" cy="7112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flipH="1">
            <a:off x="6032500" y="4038600"/>
            <a:ext cx="254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6324600" y="3683000"/>
            <a:ext cx="1524000" cy="7112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5212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86600" y="2743200"/>
            <a:ext cx="0" cy="9144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 flipV="1">
            <a:off x="1524000" y="2743200"/>
            <a:ext cx="0" cy="9144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 txBox="1"/>
          <p:nvPr/>
        </p:nvSpPr>
        <p:spPr>
          <a:xfrm>
            <a:off x="1651000" y="3048000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becomes requirements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28000" y="1905000"/>
            <a:ext cx="36068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practices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 and delivery (CI/CD)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of build, test and deployment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of systems in production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ownership between development and operations</a:t>
            </a:r>
            <a:endParaRPr lang="en-US" sz="16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here: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produces evidence that feeds analysis in the next cycle.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E82357B-4954-CF16-C640-211393663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01" r="5355"/>
          <a:stretch>
            <a:fillRect/>
          </a:stretch>
        </p:blipFill>
        <p:spPr>
          <a:xfrm>
            <a:off x="4470401" y="4724143"/>
            <a:ext cx="3378200" cy="18544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OpenUP: our process framework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574800"/>
            <a:ext cx="2743200" cy="5588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Inception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84400"/>
            <a:ext cx="2743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Objectives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02000" y="1574800"/>
            <a:ext cx="2743200" cy="5588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302000" y="2184400"/>
            <a:ext cx="2743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46800" y="1574800"/>
            <a:ext cx="2743200" cy="5588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146800" y="2184400"/>
            <a:ext cx="2743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Operational Capability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91600" y="1574800"/>
            <a:ext cx="2743200" cy="5588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991600" y="2184400"/>
            <a:ext cx="2743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Release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819400"/>
            <a:ext cx="533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levels of work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5334000" cy="6858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lifecycle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· phases and milestones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6600" y="4013200"/>
            <a:ext cx="5054600" cy="6858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lifecycle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· iteration plan, demo, retrospective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16000" y="4826000"/>
            <a:ext cx="4775200" cy="6858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Micro-increments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to days · one work item at a time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819400"/>
            <a:ext cx="533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200400"/>
            <a:ext cx="533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to align interests and share understanding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competing priorities to maximise stakeholder value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the architecture early to minimise risks and organise development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 to continuously obtain feedback and improve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8674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OpenUP roles: Stakeholder, Analyst, Architect, Developer, Tester, Project Manager, Any Role.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OpenUP and Scrum: a shared vocabulary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5600"/>
          <a:ext cx="11277600" cy="39116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OpenUP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Scrum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Time-boxed; ends with a working increment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items list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backlog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Prioritised list of everything still to 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Iteration plan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 backlog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team commits to in this cycle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Analyst, Stakeholder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owner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overlap: who represents needs and priorities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Scrum master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overlap: facilitation vs. planning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Phases and milestones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Scrum does not prescribe phases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420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2 – Approximate correspondence between terms. The mappings are not one-to-one.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292100" y="11049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3937000" y="21590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with AI agents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3937000" y="37592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loops and spec-driven development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Agentic-enabled loop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25600"/>
            <a:ext cx="2921000" cy="11684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Human-led: intent, requirements, acceptance criteria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40200" y="1625600"/>
            <a:ext cx="2921000" cy="11684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Agent-led: plan, code, tests from the specification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40200" y="4445000"/>
            <a:ext cx="2921000" cy="11684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and tools: review, tests, validation against the spec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445000"/>
            <a:ext cx="2921000" cy="11684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and learn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specs, record decisions, plan the next loop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2209800"/>
            <a:ext cx="660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5600700" y="2844800"/>
            <a:ext cx="0" cy="15494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 flipH="1">
            <a:off x="3429000" y="5029200"/>
            <a:ext cx="660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 flipV="1">
            <a:off x="1917700" y="2844800"/>
            <a:ext cx="0" cy="15494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 txBox="1"/>
          <p:nvPr/>
        </p:nvSpPr>
        <p:spPr>
          <a:xfrm>
            <a:off x="2171700" y="2997200"/>
            <a:ext cx="33020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own intent and acceptance. Agents accelerate execution.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47000" y="1625600"/>
            <a:ext cx="39878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get shorter: minutes instead of days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specification becomes the main interface between people and agents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becomes a first-class activity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must be written down — agents only know what is in the repository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9690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"Loop engineering" is used here for designing iterative human–agent cycles; the term is not yet standardised.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 with OpenSpec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549400"/>
            <a:ext cx="2590800" cy="8128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the idea; no commitment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086100" y="195580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3352800" y="1549400"/>
            <a:ext cx="2590800" cy="8128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change: why, what, how, tasks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1700" y="195580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248400" y="1549400"/>
            <a:ext cx="2590800" cy="8128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implements the tasks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77300" y="195580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9144000" y="1549400"/>
            <a:ext cx="2590800" cy="8128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spec deltas into the source of truth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90800"/>
            <a:ext cx="5486400" cy="3048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52400" tIns="152400" rIns="152400" bIns="1524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openspec/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specs/          current truth: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what the system does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changes/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add-login/  one proposed change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proposal.md  why and what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design.md    how (UML welcome)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tasks.md     checklist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specs/       requirement deltas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48400" y="2590800"/>
            <a:ext cx="5486400" cy="3048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52400" tIns="152400" rIns="152400" bIns="1524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ADDED Requirements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Requirement: User login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system SHALL authenticate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 users.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#### Scenario: Valid credentials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WHEN a user submits valid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credentials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THEN the system grants access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7912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 (Fission-AI, MIT licence) works with 30+ coding assistants. Commands differ by tool and version; we will pin one version for the semester.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 together: OpenUP × OpenSpec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5600"/>
          <a:ext cx="11277600" cy="3302000"/>
        </p:xfrm>
        <a:graphic>
          <a:graphicData uri="http://schemas.openxmlformats.org/drawingml/2006/table">
            <a:tbl>
              <a:tblPr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OpenUP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OpenSpec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Phases: Inception → Elaboration → Construction → Transition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openspec/specs/ — the current specification of the system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Iteration plan, work items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or more changes per iteration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Micro-increment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unit of work of hours to days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loop: explore → propose → apply → archive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Analyst, Architect, Developer, Tester…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Humans specify and verify; the agent implements tasks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080000"/>
            <a:ext cx="5486400" cy="8128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bridge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(OpenUP) ↔ requirements with WHEN/THEN scenarios (OpenSpec)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248400" y="5080000"/>
            <a:ext cx="5486400" cy="8128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bridge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diagrams (PlantUML/Mermaid) inside design.md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Systems Analysis still relevant in the AI era?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25600"/>
            <a:ext cx="3810000" cy="4191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254000" tIns="254000" rIns="254000" bIns="254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before.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724400" y="1676400"/>
            <a:ext cx="70104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moves.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code is cheap, the hard part is deciding what to build and checking it was built right.</a:t>
            </a:r>
            <a:endParaRPr lang="en-US" sz="1700" dirty="0"/>
          </a:p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amplify ambiguity.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requirements now produce plausible but wrong systems — faster.</a:t>
            </a:r>
            <a:endParaRPr lang="en-US" sz="1700" dirty="0"/>
          </a:p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 become input.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requirements are directly consumed by agents.</a:t>
            </a:r>
            <a:endParaRPr lang="en-US" sz="1700" dirty="0"/>
          </a:p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stays human.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Quality, security, privacy (GDPR) and regulation (EU AI Act).</a:t>
            </a:r>
            <a:endParaRPr lang="en-US" sz="1700" dirty="0"/>
          </a:p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matters.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→ change → code → test.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 the soft skills: analysis is human-interaction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76400"/>
            <a:ext cx="3556000" cy="1905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and elicitation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Interviews, workshops, observation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318000" y="1676400"/>
            <a:ext cx="3556000" cy="1905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and draw for different audiences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78800" y="1676400"/>
            <a:ext cx="3556000" cy="1905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competing priorities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3556000" cy="1905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Facilitation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stakeholders; run productive sessions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18000" y="3886200"/>
            <a:ext cx="3556000" cy="1905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Teamwork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process, not just the tasks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78800" y="3886200"/>
            <a:ext cx="3556000" cy="1905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thinking and ethics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assumptions — including AI outputs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292100" y="11049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3937000" y="21590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course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3937000" y="37592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Objectives, organisation and assessment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146800" y="1473200"/>
            <a:ext cx="5765800" cy="4876800"/>
          </a:xfrm>
          <a:prstGeom prst="rect">
            <a:avLst/>
          </a:prstGeom>
          <a:solidFill>
            <a:srgbClr val="DBEFC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457200" y="1625600"/>
            <a:ext cx="5410200" cy="462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the course, you should be able to: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SDLC practices and methods in information systems projects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Participate in eliciting, documenting and analysing requirements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system modelling techniques, especially UML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constraints that shape the technical architecture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 project with agile practices: boards, iterations, user stories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spec-driven development with AI agents, keeping specifications traceable</a:t>
            </a:r>
            <a:endParaRPr lang="en-US" sz="1600" dirty="0"/>
          </a:p>
        </p:txBody>
      </p:sp>
      <p:sp>
        <p:nvSpPr>
          <p:cNvPr id="5" name="Text 2"/>
          <p:cNvSpPr>
            <a:spLocks noGrp="1"/>
          </p:cNvSpPr>
          <p:nvPr>
            <p:ph type="body" idx="105" hasCustomPrompt="1"/>
          </p:nvPr>
        </p:nvSpPr>
        <p:spPr>
          <a:xfrm>
            <a:off x="6324600" y="1651000"/>
            <a:ext cx="5410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 this edition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 with OpenSpec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explicit course policy for AI use, aligned with the UA framework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to the SWEBOK Guide v4.0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24000"/>
          <a:ext cx="11277600" cy="41910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area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in ASis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Requirements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Elicitation, specification, validation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Engineering Models and Methods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UML modelling, OpenUP, spec-driven development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Engineering Process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SDLC, agile, DevOps, OpenUP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Design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models, design.md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Architecture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Introductory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Architectural constraints and views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Engineering Management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Iteration planning, boards, estimation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Quality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Acceptance criteria, requirements validation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Eng. Professional Practice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 skills, teamwork, ethics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Construction · Testing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increments built and tested with agents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9690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3 – Knowledge areas of the SWEBOK Guide v4.0 (IEEE Computer Society, 2024) addressed in ASis. The guide defines 18 areas.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25600"/>
            <a:ext cx="2743200" cy="6096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Inception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2387600"/>
            <a:ext cx="2743200" cy="8382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 · Lifecycles and processes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352800"/>
            <a:ext cx="2743200" cy="8382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 · Requirements elicitation and specification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02000" y="1625600"/>
            <a:ext cx="2743200" cy="6096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302000" y="2387600"/>
            <a:ext cx="2743200" cy="8382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U3 · Use cases and behaviour modelling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02000" y="3352800"/>
            <a:ext cx="2743200" cy="8382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U4 · Domain and structural modelling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02000" y="4318000"/>
            <a:ext cx="2743200" cy="8382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U5 · Architecture and 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46800" y="1625600"/>
            <a:ext cx="2743200" cy="6096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46800" y="2387600"/>
            <a:ext cx="2743200" cy="8382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U6 · Spec-driven construction with agents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91600" y="1625600"/>
            <a:ext cx="2743200" cy="6096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991600" y="2387600"/>
            <a:ext cx="2743200" cy="8382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U7 · Validation, delivery and retrospective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5880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follow the OpenUP phases of the group project. Dates and deliverables: see the calendar on Moodle.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842000" y="762000"/>
            <a:ext cx="589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classes work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5842000" y="2032000"/>
            <a:ext cx="58928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Lectures (TP):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concepts, methods and discussion.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 (P): </a:t>
            </a:r>
            <a:r>
              <a:rPr lang="en-US" dirty="0"/>
              <a:t>some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reparatory learning activities, but mainly group project development.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each thematic unit: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presentation of results.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Moodle is the entry point: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announcements, calendar, resources and submissions. Additional tools will be used (JIRA, GitHub,…)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976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 project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256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plan for an agentic-supported iteration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2006600"/>
            <a:ext cx="2032000" cy="889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the iteration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27300" y="2451100"/>
            <a:ext cx="203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2768600" y="2006600"/>
            <a:ext cx="2032000" cy="889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(OpenSpec change)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38700" y="2451100"/>
            <a:ext cx="203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080000" y="2006600"/>
            <a:ext cx="2032000" cy="889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an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50100" y="2451100"/>
            <a:ext cx="203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7391400" y="2006600"/>
            <a:ext cx="2032000" cy="889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against the spec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461500" y="2451100"/>
            <a:ext cx="203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9702800" y="2006600"/>
            <a:ext cx="2032000" cy="889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and retrospective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51200"/>
            <a:ext cx="54864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deliver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and UML models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 and change history (OpenSpec)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increments of the system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portfolio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3251200"/>
            <a:ext cx="54864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repository shared by the team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board for work items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 (version announced on Moodle)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coding assistant supported by OpenSpec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473200"/>
          <a:ext cx="533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8655"/>
              </p:ext>
            </p:extLst>
          </p:nvPr>
        </p:nvGraphicFramePr>
        <p:xfrm>
          <a:off x="6350000" y="1778000"/>
          <a:ext cx="5384800" cy="2032000"/>
        </p:xfrm>
        <a:graphic>
          <a:graphicData uri="http://schemas.openxmlformats.org/drawingml/2006/table">
            <a:tbl>
              <a:tblPr/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 — written exam (exam period)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 — group project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 — Homework portfolio (individual)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350000" y="4064000"/>
            <a:ext cx="53848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grade: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out of 20 in each component (TP and P).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recorded in TP classes (for monitoring purposes).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this course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146800" y="1473200"/>
            <a:ext cx="5765800" cy="4876800"/>
          </a:xfrm>
          <a:prstGeom prst="rect">
            <a:avLst/>
          </a:prstGeom>
          <a:solidFill>
            <a:srgbClr val="DBEFC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457200" y="1625600"/>
            <a:ext cx="5410200" cy="462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Aveiro framework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Referencial para Avaliação das Aprendizagens na Era da Inteligência Artificial (approved July 2026)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learning-centred approach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a logic of prohibition or detection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Promotes intentional, transparent use of AI, aligned with the competences being assessed</a:t>
            </a:r>
            <a:endParaRPr lang="en-US" sz="1600" dirty="0"/>
          </a:p>
        </p:txBody>
      </p:sp>
      <p:sp>
        <p:nvSpPr>
          <p:cNvPr id="5" name="Text 2"/>
          <p:cNvSpPr>
            <a:spLocks noGrp="1"/>
          </p:cNvSpPr>
          <p:nvPr>
            <p:ph type="body" idx="105" hasCustomPrompt="1"/>
          </p:nvPr>
        </p:nvSpPr>
        <p:spPr>
          <a:xfrm>
            <a:off x="6324600" y="1651000"/>
            <a:ext cx="5410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rules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are part of the project method, through the OpenSpec workflow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 which tools you used and for what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accountable for every artefact you submit — and must be able to explain it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 and models are assessed on their own quality, not only the final product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written exam: individual competences 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Pitfalls to avoid in group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78000"/>
            <a:ext cx="3556000" cy="3810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228600" tIns="228600" rIns="228600" bIns="22860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Splitting tasks and skipping the discussion</a:t>
            </a:r>
            <a:endParaRPr lang="en-US" sz="14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must go through the process — that is where learning happens.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318000" y="1778000"/>
            <a:ext cx="3556000" cy="3810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228600" tIns="228600" rIns="228600" bIns="22860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Letting the "dedicated volunteer" carry the team</a:t>
            </a:r>
            <a:endParaRPr lang="en-US" sz="14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Free-riding hurts the team and the individual assessment.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78800" y="1778000"/>
            <a:ext cx="3556000" cy="3810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228600" tIns="228600" rIns="228600" bIns="22860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Accepting agent output without review</a:t>
            </a:r>
            <a:endParaRPr lang="en-US" sz="14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 is not correct. You own what you submit.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2400" dirty="0"/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457200" y="1625600"/>
            <a:ext cx="5410200" cy="462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Moodle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calendar and plan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programme and deadlines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Thematic units (tab inside the calendar)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bibliography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body" idx="105" hasCustomPrompt="1"/>
          </p:nvPr>
        </p:nvSpPr>
        <p:spPr>
          <a:xfrm>
            <a:off x="6324600" y="1651000"/>
            <a:ext cx="5410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Dennis, Wixom &amp; Roth — Systems Analysis and Design (Wiley)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Larman — Applying UML and Patterns (Prentice Hall)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Wiegers &amp; Beatty — Software Requirements (Microsoft Press)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Computer Society — SWEBOK Guide v4.0 (2024)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OpenUP — Eclipse Process Framework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6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OpenSpec — github.com/Fission-AI/OpenSpec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7A2CF6E-6727-4315-91AF-B07477E55A1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28d1c2c-8d51-4745-bc7e-d68f38dcdbf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2579</Words>
  <Application>Microsoft Office PowerPoint</Application>
  <PresentationFormat>Widescreen</PresentationFormat>
  <Paragraphs>446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Courier New</vt:lpstr>
      <vt:lpstr>Office Theme</vt:lpstr>
      <vt:lpstr>Introduction to Análise de Sistemas</vt:lpstr>
      <vt:lpstr>Agenda</vt:lpstr>
      <vt:lpstr>Why Systems Analysis and Design</vt:lpstr>
      <vt:lpstr>What is Systems Analysis and Design?</vt:lpstr>
      <vt:lpstr>Why should you care?</vt:lpstr>
      <vt:lpstr>Who does this work?</vt:lpstr>
      <vt:lpstr>Lifecycles: from the SDLC to DevOps</vt:lpstr>
      <vt:lpstr>The Software Development Life Cycle (SDLC)</vt:lpstr>
      <vt:lpstr>Plan-driven vs iterative and agile</vt:lpstr>
      <vt:lpstr>DevOps: closing the loop</vt:lpstr>
      <vt:lpstr>OpenUP: our process framework</vt:lpstr>
      <vt:lpstr>OpenUP and Scrum: a shared vocabulary</vt:lpstr>
      <vt:lpstr>Engineering with AI agents</vt:lpstr>
      <vt:lpstr>Agentic-enabled loop engineering</vt:lpstr>
      <vt:lpstr>Spec-driven development with OpenSpec</vt:lpstr>
      <vt:lpstr>How it fits together: OpenUP × OpenSpec</vt:lpstr>
      <vt:lpstr>Is Systems Analysis still relevant in the AI era?</vt:lpstr>
      <vt:lpstr>Mind the soft skills: analysis is human-interaction work</vt:lpstr>
      <vt:lpstr>The course</vt:lpstr>
      <vt:lpstr>Learning objectives</vt:lpstr>
      <vt:lpstr>Mapping to the SWEBOK Guide v4.0</vt:lpstr>
      <vt:lpstr>Semester roadmap</vt:lpstr>
      <vt:lpstr>How classes work</vt:lpstr>
      <vt:lpstr>The group project</vt:lpstr>
      <vt:lpstr>Assessment</vt:lpstr>
      <vt:lpstr>AI in this course</vt:lpstr>
      <vt:lpstr>Pitfalls to avoid in group work</vt:lpstr>
      <vt:lpstr>Resources</vt:lpstr>
      <vt:lpstr>PowerPoint Presentation</vt:lpstr>
    </vt:vector>
  </TitlesOfParts>
  <Company>Universidade de Aveiro · DETI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 01 — Course introduction and the software lifecycle</dc:title>
  <dc:subject>PptxGenJS Presentation</dc:subject>
  <dc:creator>ico@ua.pt</dc:creator>
  <cp:lastModifiedBy>Ilídio Oliveira</cp:lastModifiedBy>
  <cp:revision>5</cp:revision>
  <dcterms:created xsi:type="dcterms:W3CDTF">2026-09-16T23:04:50Z</dcterms:created>
  <dcterms:modified xsi:type="dcterms:W3CDTF">2026-09-17T15:02:38Z</dcterms:modified>
</cp:coreProperties>
</file>