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6138" autoAdjust="0"/>
  </p:normalViewPr>
  <p:slideViewPr>
    <p:cSldViewPr snapToGrid="0" snapToObjects="1">
      <p:cViewPr varScale="1">
        <p:scale>
          <a:sx n="99" d="100"/>
          <a:sy n="99" d="100"/>
        </p:scale>
        <p:origin x="108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7T14:51:10.74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7867 619,'-3'2,"-1"1,1-1,-1 1,0-1,0 0,0 0,0-1,0 1,0-1,-1 0,1 0,-7 0,-61 2,44-3,-484 2,-27 0,6 39,-202 69,-80-52,676-54,-225 35,-12 0,251-30,2 5,-220 54,162-16,-237 100,346-120,1 4,2 2,-82 61,-176 165,187-136,5 5,-208 270,190-206,-34 49,38-69,8-12,87-93,14-22,3 2,2 1,-28 58,37-53,2 1,3 1,-21 103,-19 61,4-17,40-106,-6 133,12-94,-12 18,-4 47,21-38,16 177,-5-308,1 0,2 0,1-1,2 0,29 63,102 158,-76-144,158 277,-136-236,200 267,-228-347,3-2,4-3,2-3,3-3,96 64,8-14,5-8,200 84,-306-159,1-3,109 21,161 12,-341-58,119 13,-65-9,72 16,-54-2,1-4,0-3,133 3,384-16,210-2,-633-6,187-33,166-58,-121-5,15-3,-190 54,427-162,-310 64,-134 58,96-38,-10 4,-25 11,189-82,-253 106,88-67,-262 139,375-221,-303 181,-2-5,190-157,-205 143,231-227,-271 245,59-96,-54 75,18-30,-5-3,-6-3,-4-3,-6-2,-5-2,34-150,119-883,-186 1021,30-181,-8 129,-9-1,4-228,-31-53,-4 430,-2 1,-1 1,-2-1,-2 1,-2 1,-1 0,-3 0,0 2,-29-44,-101-150,118 192,-2 2,-1 1,-61-53,39 45,-2 2,-1 2,-3 3,0 2,-2 3,-2 3,-1 3,-118-32,-78-13,-78-17,172 59,-1 6,-209 1,37 20,-316 6,556 5,1 3,0 5,1 5,-108 37,109-28,-109 34,-197 92,167-32,-256 101,479-220,1-1,-1-1,0 0,-22 3,13-4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944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Larman (Applying UML and Patterns) stresses that visual modelling exploits our ability to grasp symbols and relationships in 2D box-and-line notations, helping us see the big picture while hiding uninteresting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Score: J. S. Bach, Brandenburg Concerto No. 2 (Allegro assai), arrangement for trumpet and organ. The score is not the music, just as the model is not the system — but it lets many people produce the same result, predictably.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[TO CONFIRM] Add the full source references for both figures (the BPMN figure is "Figure 3-5, Manage work").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UML 1.4.2 was also published as ISO/IEC 19501:2005. OMG formal versions: 1.1 (1997), 1.3 (2000), 1.4 (2001), 1.5 (2003), 2.0 (2005), 2.1.2 (2007), 2.2 (2009), 2.3 (2010), 2.4.1 (2011), 2.5.1 (2017).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Newer models perform better, but the MODELS/SoSyM literature (e.g., Chen et al., MODELS 2023; Ben Chaaben et al., 2024) still points to human-in-the-loop assistance rather than full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Cover">
    <p:bg>
      <p:bgPr>
        <a:solidFill>
          <a:srgbClr val="92D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deti-simbolo-ua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0"/>
            <a:ext cx="3951709" cy="222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4900" y="24892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 de eletrónica, telecomunicações e informática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2946400"/>
            <a:ext cx="5588000" cy="152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184900" y="4572000"/>
            <a:ext cx="5588000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</a:t>
            </a:r>
            <a:endParaRPr lang="en-US" sz="18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457200" y="5461000"/>
            <a:ext cx="5334000" cy="1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· Programme · Contact</a:t>
            </a:r>
            <a:endParaRPr lang="en-US" sz="1400" dirty="0"/>
          </a:p>
        </p:txBody>
      </p:sp>
      <p:sp>
        <p:nvSpPr>
          <p:cNvPr id="7" name="Text 1"/>
          <p:cNvSpPr>
            <a:spLocks noGrp="1"/>
          </p:cNvSpPr>
          <p:nvPr>
            <p:ph type="body" idx="105" hasCustomPrompt="1"/>
          </p:nvPr>
        </p:nvSpPr>
        <p:spPr>
          <a:xfrm>
            <a:off x="6184900" y="6223000"/>
            <a:ext cx="38100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59100" cy="6858000"/>
          </a:xfrm>
          <a:prstGeom prst="rect">
            <a:avLst/>
          </a:prstGeom>
          <a:solidFill>
            <a:srgbClr val="92D400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292100" y="1104900"/>
            <a:ext cx="2413000" cy="1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6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3937000" y="2159000"/>
            <a:ext cx="7620000" cy="1397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3937000" y="3759200"/>
            <a:ext cx="7620000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subtitle</a:t>
            </a:r>
            <a:endParaRPr lang="en-US" sz="1800" dirty="0"/>
          </a:p>
        </p:txBody>
      </p:sp>
      <p:pic>
        <p:nvPicPr>
          <p:cNvPr id="6" name="Image 0" descr="assets/deti-horizontal-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5715000"/>
            <a:ext cx="2422719" cy="50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92D400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" name="Image 0" descr="assets/deti-horizontal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279400"/>
            <a:ext cx="3391807" cy="71120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6451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Sistemas · 2026/27</a:t>
            </a:r>
            <a:endParaRPr lang="en-US" sz="12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457200" y="1625600"/>
            <a:ext cx="11277600" cy="462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92D400"/>
          </a:solidFill>
          <a:ln/>
        </p:spPr>
      </p:sp>
      <p:pic>
        <p:nvPicPr>
          <p:cNvPr id="3" name="Image 0" descr="assets/deti-horizontal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279400"/>
            <a:ext cx="3391807" cy="71120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6451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Sistemas · 2026/27</a:t>
            </a:r>
            <a:endParaRPr lang="en-US" sz="12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457200" y="1625600"/>
            <a:ext cx="5410200" cy="462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600"/>
              </a:spcAft>
              <a:buNone/>
              <a:def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content</a:t>
            </a:r>
            <a:endParaRPr lang="en-US" sz="1600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6324600" y="1651000"/>
            <a:ext cx="541020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600"/>
              </a:spcAft>
              <a:buNone/>
              <a:def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content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92D400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" name="Image 0" descr="assets/deti-horizontal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279400"/>
            <a:ext cx="3391807" cy="71120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6451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Sistemas · 2026/27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Side Pa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59100" cy="6858000"/>
          </a:xfrm>
          <a:prstGeom prst="rect">
            <a:avLst/>
          </a:prstGeom>
          <a:solidFill>
            <a:srgbClr val="92D400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292100" y="1104900"/>
            <a:ext cx="2413000" cy="152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title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3937000" y="1104900"/>
            <a:ext cx="7620000" cy="482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1400"/>
              </a:spcAft>
              <a:buNone/>
              <a:def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spcAft>
                <a:spcPts val="1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2000" dirty="0"/>
          </a:p>
        </p:txBody>
      </p:sp>
      <p:pic>
        <p:nvPicPr>
          <p:cNvPr id="5" name="Image 0" descr="assets/deti-horizontal-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5969000"/>
            <a:ext cx="2059311" cy="431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Imag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ampus-panel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842000" y="762000"/>
            <a:ext cx="5892800" cy="1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842000" y="2032000"/>
            <a:ext cx="5892800" cy="368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600" dirty="0"/>
          </a:p>
        </p:txBody>
      </p:sp>
      <p:pic>
        <p:nvPicPr>
          <p:cNvPr id="5" name="Image 1" descr="assets/deti-horizontal-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6019800"/>
            <a:ext cx="2059311" cy="431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976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I Closing">
    <p:bg>
      <p:bgPr>
        <a:solidFill>
          <a:srgbClr val="92D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ua-assinatura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00" y="3048000"/>
            <a:ext cx="5054600" cy="748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2946400"/>
            <a:ext cx="558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and the UML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6184900" y="45720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</a:t>
            </a:r>
            <a:r>
              <a:rPr lang="en-US" dirty="0"/>
              <a:t>-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01b · Why we model, visual notations and the Unified Modeling Language</a:t>
            </a:r>
            <a:endParaRPr lang="en-US" sz="18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457200" y="54610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Sistemas (ASis)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Licenciatura em Engenharia de Computadores e Informática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Ilídio Oliveira · ico@ua.pt</a:t>
            </a:r>
            <a:endParaRPr lang="en-US" sz="1400" dirty="0"/>
          </a:p>
        </p:txBody>
      </p:sp>
      <p:sp>
        <p:nvSpPr>
          <p:cNvPr id="5" name="Text 1"/>
          <p:cNvSpPr>
            <a:spLocks noGrp="1"/>
          </p:cNvSpPr>
          <p:nvPr>
            <p:ph type="body" idx="105" hasCustomPrompt="1"/>
          </p:nvPr>
        </p:nvSpPr>
        <p:spPr>
          <a:xfrm>
            <a:off x="6184900" y="62230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2026/2027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292100" y="11049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3937000" y="1104900"/>
            <a:ext cx="7620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 the use of models in engineering and in software</a:t>
            </a:r>
            <a:endParaRPr lang="en-US" sz="2000" dirty="0"/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value of visual models and of a shared notation</a:t>
            </a:r>
            <a:endParaRPr lang="en-US" sz="2000" dirty="0"/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origin and the organisation of the UML</a:t>
            </a:r>
            <a:endParaRPr lang="en-US" sz="2000" dirty="0"/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 the main UML diagrams and the perspective each one covers</a:t>
            </a:r>
            <a:endParaRPr lang="en-US" sz="2000" dirty="0"/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Critically assess models produced with generative AI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292100" y="11049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3937000" y="21590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engineers build models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3937000" y="37592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about a system before building 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engineering discipline models first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25600"/>
            <a:ext cx="2628900" cy="2159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engineering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plans, structural calculations, scale models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340100" y="1625600"/>
            <a:ext cx="2628900" cy="2159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Schematics, circuit simulation, PCB layouts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23000" y="1625600"/>
            <a:ext cx="2628900" cy="2159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Aeronautics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Aerodynamic simulations, wind-tunnel models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05900" y="1625600"/>
            <a:ext cx="2628900" cy="2159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UML diagrams, specifications</a:t>
            </a:r>
            <a:endParaRPr lang="en-US" sz="1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C4963C9-5AE3-4CFF-E70B-8ADEC6E7A6EE}"/>
              </a:ext>
            </a:extLst>
          </p:cNvPr>
          <p:cNvGrpSpPr/>
          <p:nvPr/>
        </p:nvGrpSpPr>
        <p:grpSpPr>
          <a:xfrm>
            <a:off x="457200" y="4089400"/>
            <a:ext cx="11277600" cy="1981200"/>
            <a:chOff x="457200" y="4089400"/>
            <a:chExt cx="11277600" cy="1981200"/>
          </a:xfrm>
        </p:grpSpPr>
        <p:sp>
          <p:nvSpPr>
            <p:cNvPr id="7" name="Text 5"/>
            <p:cNvSpPr txBox="1"/>
            <p:nvPr/>
          </p:nvSpPr>
          <p:spPr>
            <a:xfrm>
              <a:off x="457200" y="4089400"/>
              <a:ext cx="11277600" cy="5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Why? Because it is cheaper and safer </a:t>
              </a:r>
              <a:r>
                <a:rPr lang="en-US" sz="2000" b="1" u="sng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 reason about a model </a:t>
              </a:r>
              <a:r>
                <a:rPr lang="en-US" sz="20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than about the real thing.</a:t>
              </a:r>
              <a:endParaRPr lang="en-US" sz="2000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457200" y="4673600"/>
              <a:ext cx="11277600" cy="1397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spcAft>
                  <a:spcPts val="600"/>
                </a:spcAft>
                <a:buSzPct val="100000"/>
                <a:buChar char="▪"/>
              </a:pPr>
              <a:r>
                <a:rPr lang="en-US" sz="16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Manage complexity: </a:t>
              </a:r>
              <a:r>
                <a:rPr lang="en-US" sz="16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look at one concern at a time and hide the rest.</a:t>
              </a:r>
              <a:endParaRPr lang="en-US" sz="1600" dirty="0"/>
            </a:p>
            <a:p>
              <a:pPr marL="342900" indent="-342900" algn="l">
                <a:spcAft>
                  <a:spcPts val="600"/>
                </a:spcAft>
                <a:buSzPct val="100000"/>
                <a:buChar char="▪"/>
              </a:pPr>
              <a:r>
                <a:rPr lang="en-US" sz="16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Find problems early: </a:t>
              </a:r>
              <a:r>
                <a:rPr lang="en-US" sz="16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wrong requirement costs less on paper than in production.</a:t>
              </a:r>
              <a:endParaRPr lang="en-US" sz="1600" dirty="0"/>
            </a:p>
            <a:p>
              <a:pPr marL="342900" indent="-342900" algn="l">
                <a:spcAft>
                  <a:spcPts val="600"/>
                </a:spcAft>
                <a:buSzPct val="100000"/>
                <a:buChar char="▪"/>
              </a:pPr>
              <a:r>
                <a:rPr lang="en-US" sz="16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Communicate: </a:t>
              </a:r>
              <a:r>
                <a:rPr lang="en-US" sz="16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give every stakeholder the same picture of the system.</a:t>
              </a:r>
              <a:endParaRPr lang="en-US" sz="16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model?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74800"/>
            <a:ext cx="11277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is a partial and abstract representation of a system,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 purpose. It keeps what matters for that purpose and leaves out the rest.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616200"/>
            <a:ext cx="5486400" cy="14986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Visualise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as it is or as we want it to be — and share that vision with the team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48400" y="2616200"/>
            <a:ext cx="5486400" cy="14986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Specify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structure and behaviour of the system before coding 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18000"/>
            <a:ext cx="5486400" cy="14986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Construct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blueprint that guides implementation — a plan of action for developers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48400" y="4318000"/>
            <a:ext cx="5486400" cy="14986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Document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decisions taken, without relying on anyone's memory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0198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aims of modelling, after Booch, Rumbaugh &amp; Jacobson, The Unified Modeling Language User Guide (2nd ed., 2005).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models support the whole lifecycle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5600"/>
          <a:ext cx="11277600" cy="3810000"/>
        </p:xfrm>
        <a:graphic>
          <a:graphicData uri="http://schemas.openxmlformats.org/drawingml/2006/table">
            <a:tbl>
              <a:tblPr/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models help to 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UML diagrams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 goals, actors and scenarios; agree scope with stakeholders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case, activity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Understand the domain concepts and the business processes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(domain model), activity, state machine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Decide the architecture and how parts collaborate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Component, sequence, class, deployment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 construction — by people or by AI agents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Class, sequence, package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 and evolution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 the system to newcomers; assess the impact of change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Deployment, component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7404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 – Diagrams can be used in several activities; the mapping shows typical use, not a rule.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292100" y="11049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3937000" y="21590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of visual models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3937000" y="37592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notation, read and written by everyone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music score is a model</a:t>
            </a:r>
            <a:endParaRPr lang="en-US" sz="2400" dirty="0"/>
          </a:p>
        </p:txBody>
      </p:sp>
      <p:pic>
        <p:nvPicPr>
          <p:cNvPr id="3" name="Image 0" descr="assets/sc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82" y="1488830"/>
            <a:ext cx="2983318" cy="4028831"/>
          </a:xfrm>
          <a:prstGeom prst="rect">
            <a:avLst/>
          </a:prstGeom>
        </p:spPr>
      </p:pic>
      <p:pic>
        <p:nvPicPr>
          <p:cNvPr id="4" name="Image 1" descr="assets/orches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99000"/>
            <a:ext cx="2921000" cy="1493137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063534"/>
              </p:ext>
            </p:extLst>
          </p:nvPr>
        </p:nvGraphicFramePr>
        <p:xfrm>
          <a:off x="3708400" y="1574800"/>
          <a:ext cx="8026400" cy="4419600"/>
        </p:xfrm>
        <a:graphic>
          <a:graphicData uri="http://schemas.openxmlformats.org/drawingml/2006/table">
            <a:tbl>
              <a:tblPr/>
              <a:tblGrid>
                <a:gridCol w="401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Music domain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Eng. domain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notation that any trained musician can read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UML: a notation every team member can read and write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composer designs the piece before it is played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Analysts and architects design before the system is built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part per instrument, all consistent with the score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diagram per concern, all consistent with the 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Composing needs talent and technical discipline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Modelling needs domain insight and engineering discipline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orchestra performs: proof that the score works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running system — or the agent's implementation — validates the 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process, two visual notations</a:t>
            </a:r>
            <a:endParaRPr lang="en-US" sz="2400" dirty="0"/>
          </a:p>
        </p:txBody>
      </p:sp>
      <p:pic>
        <p:nvPicPr>
          <p:cNvPr id="3" name="Image 0" descr="assets/bp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4800"/>
            <a:ext cx="5486400" cy="2929520"/>
          </a:xfrm>
          <a:prstGeom prst="rect">
            <a:avLst/>
          </a:prstGeom>
        </p:spPr>
      </p:pic>
      <p:pic>
        <p:nvPicPr>
          <p:cNvPr id="4" name="Image 1" descr="assets/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574800"/>
            <a:ext cx="5486400" cy="341440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656720"/>
            <a:ext cx="548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BPMN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business view of a proposal process, with pools and lanes.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248400" y="5141609"/>
            <a:ext cx="548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activity diagram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partitions, actions, decisions and forks.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55880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notation lets us read the flow at a glance — as long as everyone knows the notation.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3A61692-11AA-457B-BC66-076367411681}"/>
              </a:ext>
            </a:extLst>
          </p:cNvPr>
          <p:cNvSpPr/>
          <p:nvPr/>
        </p:nvSpPr>
        <p:spPr>
          <a:xfrm>
            <a:off x="0" y="0"/>
            <a:ext cx="5588000" cy="6858000"/>
          </a:xfrm>
          <a:prstGeom prst="rect">
            <a:avLst/>
          </a:prstGeom>
          <a:solidFill>
            <a:srgbClr val="1F29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842000" y="762000"/>
            <a:ext cx="589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uniform notation matters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5842000" y="2032000"/>
            <a:ext cx="58928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happens in multidisciplinary, often distributed teams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must be understood by everyone: clients, analysts, developers, testers — and now AI agents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early 1990s, each object-oriented method had its own notation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answer: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Unified Modeling Language (UML) — one notation, usable with many methods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976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D223BA-C88A-40C1-822E-1D7671573FF6}"/>
              </a:ext>
            </a:extLst>
          </p:cNvPr>
          <p:cNvSpPr txBox="1"/>
          <p:nvPr/>
        </p:nvSpPr>
        <p:spPr>
          <a:xfrm>
            <a:off x="508000" y="1117600"/>
            <a:ext cx="4572000" cy="3429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PT" sz="1700" b="1">
                <a:solidFill>
                  <a:srgbClr val="FFFFFF"/>
                </a:solidFill>
                <a:latin typeface="Arial"/>
                <a:cs typeface="Arial"/>
              </a:rPr>
              <a:t>Four methods, four notations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415FE2-5B3E-4EC5-A86A-868B1F3800C6}"/>
              </a:ext>
            </a:extLst>
          </p:cNvPr>
          <p:cNvSpPr/>
          <p:nvPr/>
        </p:nvSpPr>
        <p:spPr>
          <a:xfrm>
            <a:off x="1422400" y="1778000"/>
            <a:ext cx="965200" cy="965200"/>
          </a:xfrm>
          <a:prstGeom prst="roundRect">
            <a:avLst/>
          </a:prstGeom>
          <a:solidFill>
            <a:srgbClr val="323F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AB7246-158C-4226-B7F1-0B8D85F79343}"/>
              </a:ext>
            </a:extLst>
          </p:cNvPr>
          <p:cNvSpPr/>
          <p:nvPr/>
        </p:nvSpPr>
        <p:spPr>
          <a:xfrm>
            <a:off x="1701800" y="2070100"/>
            <a:ext cx="88900" cy="381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21E9AA-C4E7-4FA5-A07F-042F686FCD21}"/>
              </a:ext>
            </a:extLst>
          </p:cNvPr>
          <p:cNvSpPr/>
          <p:nvPr/>
        </p:nvSpPr>
        <p:spPr>
          <a:xfrm>
            <a:off x="2019300" y="2070100"/>
            <a:ext cx="88900" cy="381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50CCC0-6DDF-4192-A617-EEE07766F8F9}"/>
              </a:ext>
            </a:extLst>
          </p:cNvPr>
          <p:cNvSpPr txBox="1"/>
          <p:nvPr/>
        </p:nvSpPr>
        <p:spPr>
          <a:xfrm>
            <a:off x="1143000" y="28194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PT" sz="1400">
                <a:solidFill>
                  <a:srgbClr val="CBD2D9"/>
                </a:solidFill>
                <a:latin typeface="Arial"/>
                <a:cs typeface="Arial"/>
              </a:rPr>
              <a:t>Booch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50076E6-2613-4A5A-B934-3C0DFB9FD053}"/>
              </a:ext>
            </a:extLst>
          </p:cNvPr>
          <p:cNvSpPr/>
          <p:nvPr/>
        </p:nvSpPr>
        <p:spPr>
          <a:xfrm>
            <a:off x="3200400" y="1778000"/>
            <a:ext cx="965200" cy="965200"/>
          </a:xfrm>
          <a:prstGeom prst="roundRect">
            <a:avLst/>
          </a:prstGeom>
          <a:solidFill>
            <a:srgbClr val="323F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87229CF-337D-4B69-88D5-389FA071054E}"/>
              </a:ext>
            </a:extLst>
          </p:cNvPr>
          <p:cNvSpPr/>
          <p:nvPr/>
        </p:nvSpPr>
        <p:spPr>
          <a:xfrm>
            <a:off x="3403600" y="2171700"/>
            <a:ext cx="177800" cy="177800"/>
          </a:xfrm>
          <a:prstGeom prst="ellipse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ED922C5-F8C2-469B-B43F-6360E03CC210}"/>
              </a:ext>
            </a:extLst>
          </p:cNvPr>
          <p:cNvSpPr/>
          <p:nvPr/>
        </p:nvSpPr>
        <p:spPr>
          <a:xfrm>
            <a:off x="3784600" y="2171700"/>
            <a:ext cx="177800" cy="177800"/>
          </a:xfrm>
          <a:prstGeom prst="ellipse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77974F-86BC-4A78-AB59-4BBE16667CEA}"/>
              </a:ext>
            </a:extLst>
          </p:cNvPr>
          <p:cNvSpPr txBox="1"/>
          <p:nvPr/>
        </p:nvSpPr>
        <p:spPr>
          <a:xfrm>
            <a:off x="2921000" y="28194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PT" sz="1400">
                <a:solidFill>
                  <a:srgbClr val="CBD2D9"/>
                </a:solidFill>
                <a:latin typeface="Arial"/>
                <a:cs typeface="Arial"/>
              </a:rPr>
              <a:t>OMT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7186FA3-9EA2-443D-ABBA-5A279638C6B2}"/>
              </a:ext>
            </a:extLst>
          </p:cNvPr>
          <p:cNvSpPr/>
          <p:nvPr/>
        </p:nvSpPr>
        <p:spPr>
          <a:xfrm>
            <a:off x="1422400" y="3124200"/>
            <a:ext cx="965200" cy="965200"/>
          </a:xfrm>
          <a:prstGeom prst="roundRect">
            <a:avLst/>
          </a:prstGeom>
          <a:solidFill>
            <a:srgbClr val="323F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FDB532-E45B-4CB8-B4DF-9FD6AE48AB8A}"/>
              </a:ext>
            </a:extLst>
          </p:cNvPr>
          <p:cNvSpPr/>
          <p:nvPr/>
        </p:nvSpPr>
        <p:spPr>
          <a:xfrm>
            <a:off x="1574800" y="3403600"/>
            <a:ext cx="279400" cy="889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936A08-8966-4311-846B-F4577F1A9C39}"/>
              </a:ext>
            </a:extLst>
          </p:cNvPr>
          <p:cNvSpPr/>
          <p:nvPr/>
        </p:nvSpPr>
        <p:spPr>
          <a:xfrm>
            <a:off x="1955800" y="3403600"/>
            <a:ext cx="279400" cy="889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00AFF49-B7D7-4817-8951-D3CF641FEDC0}"/>
              </a:ext>
            </a:extLst>
          </p:cNvPr>
          <p:cNvSpPr/>
          <p:nvPr/>
        </p:nvSpPr>
        <p:spPr>
          <a:xfrm>
            <a:off x="1860550" y="3632200"/>
            <a:ext cx="88900" cy="2794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0C4BCC-FA1A-45F0-9B21-392C1C56A66C}"/>
              </a:ext>
            </a:extLst>
          </p:cNvPr>
          <p:cNvSpPr txBox="1"/>
          <p:nvPr/>
        </p:nvSpPr>
        <p:spPr>
          <a:xfrm>
            <a:off x="1143000" y="41656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PT" sz="1400">
                <a:solidFill>
                  <a:srgbClr val="CBD2D9"/>
                </a:solidFill>
                <a:latin typeface="Arial"/>
                <a:cs typeface="Arial"/>
              </a:rPr>
              <a:t>OOSE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43E8FBC-44E7-495D-841C-AC4450189FC1}"/>
              </a:ext>
            </a:extLst>
          </p:cNvPr>
          <p:cNvSpPr/>
          <p:nvPr/>
        </p:nvSpPr>
        <p:spPr>
          <a:xfrm>
            <a:off x="3200400" y="3124200"/>
            <a:ext cx="965200" cy="965200"/>
          </a:xfrm>
          <a:prstGeom prst="roundRect">
            <a:avLst/>
          </a:prstGeom>
          <a:solidFill>
            <a:srgbClr val="323F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3766998-93D3-46E9-9798-595665996293}"/>
              </a:ext>
            </a:extLst>
          </p:cNvPr>
          <p:cNvSpPr/>
          <p:nvPr/>
        </p:nvSpPr>
        <p:spPr>
          <a:xfrm>
            <a:off x="3340100" y="3530600"/>
            <a:ext cx="152400" cy="152400"/>
          </a:xfrm>
          <a:prstGeom prst="ellipse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6825BFC-1F8F-4B2D-B857-24E82E7E6E53}"/>
              </a:ext>
            </a:extLst>
          </p:cNvPr>
          <p:cNvSpPr/>
          <p:nvPr/>
        </p:nvSpPr>
        <p:spPr>
          <a:xfrm>
            <a:off x="3606800" y="3530600"/>
            <a:ext cx="152400" cy="152400"/>
          </a:xfrm>
          <a:prstGeom prst="ellipse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C3F40ED-2A3B-49C4-8FB2-0B205E4DD254}"/>
              </a:ext>
            </a:extLst>
          </p:cNvPr>
          <p:cNvSpPr/>
          <p:nvPr/>
        </p:nvSpPr>
        <p:spPr>
          <a:xfrm>
            <a:off x="3873500" y="3530600"/>
            <a:ext cx="152400" cy="152400"/>
          </a:xfrm>
          <a:prstGeom prst="ellipse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14F719-667E-4E1E-AC7D-EC578503F1E9}"/>
              </a:ext>
            </a:extLst>
          </p:cNvPr>
          <p:cNvSpPr txBox="1"/>
          <p:nvPr/>
        </p:nvSpPr>
        <p:spPr>
          <a:xfrm>
            <a:off x="2921000" y="41656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PT" sz="1400">
                <a:solidFill>
                  <a:srgbClr val="CBD2D9"/>
                </a:solidFill>
                <a:latin typeface="Arial"/>
                <a:cs typeface="Arial"/>
              </a:rPr>
              <a:t>Fusion</a:t>
            </a: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18943C3F-B8BE-477F-AFEE-E0B53DDFAA6F}"/>
              </a:ext>
            </a:extLst>
          </p:cNvPr>
          <p:cNvSpPr/>
          <p:nvPr/>
        </p:nvSpPr>
        <p:spPr>
          <a:xfrm>
            <a:off x="1765300" y="4495800"/>
            <a:ext cx="381000" cy="431800"/>
          </a:xfrm>
          <a:prstGeom prst="downArrow">
            <a:avLst/>
          </a:prstGeom>
          <a:solidFill>
            <a:srgbClr val="52606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15BF72A-9A68-4B38-BD14-0BD2AFF182E2}"/>
              </a:ext>
            </a:extLst>
          </p:cNvPr>
          <p:cNvSpPr/>
          <p:nvPr/>
        </p:nvSpPr>
        <p:spPr>
          <a:xfrm>
            <a:off x="1371600" y="5080000"/>
            <a:ext cx="1168400" cy="1168400"/>
          </a:xfrm>
          <a:prstGeom prst="roundRect">
            <a:avLst/>
          </a:prstGeom>
          <a:solidFill>
            <a:srgbClr val="8DC63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5E06392-412E-41FF-8F5A-EC4087271781}"/>
              </a:ext>
            </a:extLst>
          </p:cNvPr>
          <p:cNvSpPr/>
          <p:nvPr/>
        </p:nvSpPr>
        <p:spPr>
          <a:xfrm>
            <a:off x="1739900" y="5308600"/>
            <a:ext cx="101600" cy="381000"/>
          </a:xfrm>
          <a:prstGeom prst="rect">
            <a:avLst/>
          </a:prstGeom>
          <a:solidFill>
            <a:srgbClr val="1F29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839209F-C791-4C5F-A9F6-8DAEED231C70}"/>
              </a:ext>
            </a:extLst>
          </p:cNvPr>
          <p:cNvSpPr/>
          <p:nvPr/>
        </p:nvSpPr>
        <p:spPr>
          <a:xfrm>
            <a:off x="2070100" y="5308600"/>
            <a:ext cx="101600" cy="381000"/>
          </a:xfrm>
          <a:prstGeom prst="rect">
            <a:avLst/>
          </a:prstGeom>
          <a:solidFill>
            <a:srgbClr val="1F29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9609F73-CE20-4426-8D84-EB4E098AD706}"/>
              </a:ext>
            </a:extLst>
          </p:cNvPr>
          <p:cNvSpPr/>
          <p:nvPr/>
        </p:nvSpPr>
        <p:spPr>
          <a:xfrm>
            <a:off x="1854200" y="5791200"/>
            <a:ext cx="203200" cy="203200"/>
          </a:xfrm>
          <a:prstGeom prst="ellipse">
            <a:avLst/>
          </a:prstGeom>
          <a:solidFill>
            <a:srgbClr val="1F29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65337C-E3DC-403B-9D07-0D44D1B4D816}"/>
              </a:ext>
            </a:extLst>
          </p:cNvPr>
          <p:cNvSpPr txBox="1"/>
          <p:nvPr/>
        </p:nvSpPr>
        <p:spPr>
          <a:xfrm>
            <a:off x="2743200" y="5334000"/>
            <a:ext cx="2032000" cy="533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PT" sz="2600" b="1">
                <a:solidFill>
                  <a:srgbClr val="8DC63F"/>
                </a:solidFill>
                <a:latin typeface="Arial"/>
                <a:cs typeface="Arial"/>
              </a:rPr>
              <a:t>UML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1FAC28-5B72-4693-8D17-A5CF2E48C249}"/>
              </a:ext>
            </a:extLst>
          </p:cNvPr>
          <p:cNvSpPr txBox="1"/>
          <p:nvPr/>
        </p:nvSpPr>
        <p:spPr>
          <a:xfrm>
            <a:off x="2743200" y="5740400"/>
            <a:ext cx="20320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PT" sz="1400">
                <a:solidFill>
                  <a:srgbClr val="CBD2D9"/>
                </a:solidFill>
                <a:latin typeface="Arial"/>
                <a:cs typeface="Arial"/>
              </a:rPr>
              <a:t>one notation</a:t>
            </a:r>
          </a:p>
        </p:txBody>
      </p:sp>
    </p:spTree>
    <p:extLst>
      <p:ext uri="{BB962C8B-B14F-4D97-AF65-F5344CB8AC3E}">
        <p14:creationId xmlns:p14="http://schemas.microsoft.com/office/powerpoint/2010/main" val="1513397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292100" y="11049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3937000" y="21590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 of the UML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3937000" y="37592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"method wars" to an OMG standard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"Three Amigos"</a:t>
            </a:r>
            <a:endParaRPr lang="en-US" sz="2400" dirty="0"/>
          </a:p>
        </p:txBody>
      </p:sp>
      <p:pic>
        <p:nvPicPr>
          <p:cNvPr id="3" name="Image 0" descr="assets/jacob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4800"/>
            <a:ext cx="1973385" cy="203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59200"/>
            <a:ext cx="355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Ivar Jacobson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OOSE / Objectory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in use cases</a:t>
            </a:r>
            <a:endParaRPr lang="en-US" sz="1400" dirty="0"/>
          </a:p>
        </p:txBody>
      </p:sp>
      <p:pic>
        <p:nvPicPr>
          <p:cNvPr id="5" name="Image 1" descr="assets/boo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1574800"/>
            <a:ext cx="2032000" cy="20126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318000" y="3759200"/>
            <a:ext cx="355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Grady Booch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Booch method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in object-oriented design</a:t>
            </a:r>
            <a:endParaRPr lang="en-US" sz="1400" dirty="0"/>
          </a:p>
        </p:txBody>
      </p:sp>
      <p:pic>
        <p:nvPicPr>
          <p:cNvPr id="7" name="Image 2" descr="assets/rumbaug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800" y="1574800"/>
            <a:ext cx="1974491" cy="20320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178800" y="3759200"/>
            <a:ext cx="355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Rumbaugh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OMT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in class (object) modelling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57200" y="5080000"/>
            <a:ext cx="11277600" cy="8128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52400" tIns="152400" rIns="152400" bIns="1524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joined forces at Rational Software (1994–1995) and unified the semantics and notation of their methods, so that users could focus on their work rather than on the specifics of a given method.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unification to standard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667000"/>
            <a:ext cx="11277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57200" y="1778000"/>
            <a:ext cx="1498600" cy="6604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1990s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06500" y="2438400"/>
            <a:ext cx="0" cy="457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 txBox="1"/>
          <p:nvPr/>
        </p:nvSpPr>
        <p:spPr>
          <a:xfrm>
            <a:off x="457200" y="3022600"/>
            <a:ext cx="1498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Dozens of competing OO methods and notations ("method wars")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82800" y="1778000"/>
            <a:ext cx="1498600" cy="6604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32100" y="2438400"/>
            <a:ext cx="0" cy="457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 txBox="1"/>
          <p:nvPr/>
        </p:nvSpPr>
        <p:spPr>
          <a:xfrm>
            <a:off x="2082800" y="3022600"/>
            <a:ext cx="1498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Booch and Rumbaugh start the unification at Rational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8400" y="1778000"/>
            <a:ext cx="1498600" cy="6604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57700" y="2438400"/>
            <a:ext cx="0" cy="457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 txBox="1"/>
          <p:nvPr/>
        </p:nvSpPr>
        <p:spPr>
          <a:xfrm>
            <a:off x="3708400" y="3022600"/>
            <a:ext cx="1498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Jacobson joins; Unified Method 0.8 draft (October)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34000" y="1778000"/>
            <a:ext cx="1498600" cy="6604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83300" y="2438400"/>
            <a:ext cx="0" cy="457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 txBox="1"/>
          <p:nvPr/>
        </p:nvSpPr>
        <p:spPr>
          <a:xfrm>
            <a:off x="5334000" y="3022600"/>
            <a:ext cx="1498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1.1 adopted by the Object Management Group (OMG)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59600" y="1778000"/>
            <a:ext cx="1498600" cy="6604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708900" y="2438400"/>
            <a:ext cx="0" cy="457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 txBox="1"/>
          <p:nvPr/>
        </p:nvSpPr>
        <p:spPr>
          <a:xfrm>
            <a:off x="6959600" y="3022600"/>
            <a:ext cx="1498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2.0: major revision of the language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85200" y="1778000"/>
            <a:ext cx="1498600" cy="6604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34500" y="2438400"/>
            <a:ext cx="0" cy="457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 txBox="1"/>
          <p:nvPr/>
        </p:nvSpPr>
        <p:spPr>
          <a:xfrm>
            <a:off x="8585200" y="3022600"/>
            <a:ext cx="1498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2.4.1 published as ISO/IEC 19505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10800" y="1778000"/>
            <a:ext cx="1498600" cy="6604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960100" y="2438400"/>
            <a:ext cx="0" cy="457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 txBox="1"/>
          <p:nvPr/>
        </p:nvSpPr>
        <p:spPr>
          <a:xfrm>
            <a:off x="10210800" y="3022600"/>
            <a:ext cx="1498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2.5.1 — the current OMG version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953000"/>
            <a:ext cx="11277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is maintained by the OMG. It is a notation, not a method — you choose the process (e.g., OpenUP) and the diagrams that are worth drawing.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59436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OMG UML specification version history (omg.org/spec/UML); Booch, Rumbaugh &amp; Jacobson (2005).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292100" y="11049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3937000" y="21590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perspectives and diagrams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3937000" y="37592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behaviour and interaction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UML 2.5 diagrams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826000" y="1498600"/>
            <a:ext cx="2540000" cy="508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diagram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0" y="2006600"/>
            <a:ext cx="0" cy="177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2362200" y="2184400"/>
            <a:ext cx="7467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2362200" y="2184400"/>
            <a:ext cx="0" cy="177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9829800" y="2184400"/>
            <a:ext cx="0" cy="177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57200" y="2362200"/>
            <a:ext cx="3810000" cy="508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diagrams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24800" y="2362200"/>
            <a:ext cx="3810000" cy="508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diagrams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022600"/>
            <a:ext cx="1854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13000" y="3022600"/>
            <a:ext cx="1854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581400"/>
            <a:ext cx="1854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13000" y="3581400"/>
            <a:ext cx="1854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140200"/>
            <a:ext cx="1854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structure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13000" y="4140200"/>
            <a:ext cx="1854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699000"/>
            <a:ext cx="1854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24800" y="3022600"/>
            <a:ext cx="1854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24800" y="3581400"/>
            <a:ext cx="1854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24800" y="4140200"/>
            <a:ext cx="1854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80600" y="3022600"/>
            <a:ext cx="1854200" cy="279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diagrams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80600" y="3352800"/>
            <a:ext cx="1854200" cy="4318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80600" y="3860800"/>
            <a:ext cx="1854200" cy="4318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80600" y="4368800"/>
            <a:ext cx="1854200" cy="4318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80600" y="4876800"/>
            <a:ext cx="1854200" cy="4318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overview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724400" y="3175000"/>
            <a:ext cx="279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Structural: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static organisation of the system — its parts and their relationships.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Behavioural: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dynamic behaviour — how parts interact and collaborate over time to deliver functionality.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59436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 – The 14 diagram types of UML 2.5.1 (7 structural, 7 behavioural, 4 of which are interaction diagrams).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diagram answers which question?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5600"/>
          <a:ext cx="11277600" cy="4089400"/>
        </p:xfrm>
        <a:graphic>
          <a:graphicData uri="http://schemas.openxmlformats.org/drawingml/2006/table">
            <a:tbl>
              <a:tblPr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Perspective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Diagrams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Mainly 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uses the system, and for what?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does the work flow?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Analysis, design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/ structure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concepts exist and how do they relate?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Class, object, package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Analysis, design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parts collaborate, in which order?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Sequence, communication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 cycle of an entity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states can an object be in?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machine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Analysis, design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components exist and where do they run?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Component, deployment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Design, implementation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420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2 – A pragmatic selection. You rarely need all 14 diagrams: draw the ones that answer a real question.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UML? Three ways to use 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25600"/>
            <a:ext cx="3556000" cy="2794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203200" tIns="203200" rIns="203200" bIns="20320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as sketch</a:t>
            </a:r>
            <a:endParaRPr lang="en-US" sz="14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Informal, selective diagrams to think and communicate. Most common in practice.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318000" y="1625600"/>
            <a:ext cx="3556000" cy="2794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203200" tIns="203200" rIns="203200" bIns="20320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as blueprint</a:t>
            </a:r>
            <a:endParaRPr lang="en-US" sz="14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Detailed, complete models that others (or tools, or agents) build from.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78800" y="1625600"/>
            <a:ext cx="3556000" cy="2794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203200" tIns="203200" rIns="203200" bIns="20320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as programming language</a:t>
            </a:r>
            <a:endParaRPr lang="en-US" sz="14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Executable models and full code generation (model-driven engineering).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24400"/>
            <a:ext cx="11277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ASis: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sketch and blueprint — models precise enough to be discussed with stakeholders and used as input to specifications (OpenSpec) and AI agents.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9436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after M. Fowler, UML Distilled (3rd ed., 2004).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292100" y="11049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3937000" y="21590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and modelling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3937000" y="37592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assistant, unreliable author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92100" y="62738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can/can not do with models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74800"/>
            <a:ext cx="5334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candidate concepts from a text description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Producing text-based diagrams (PlantUML, Mermaid)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an existing diagram in plain language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Suggesting missing elements, alternatives and questions to ask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a model against a list of requirements</a:t>
            </a:r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endParaRPr lang="en-US" sz="16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Advanced: MCP connection to tools such as </a:t>
            </a:r>
            <a:r>
              <a:rPr lang="en-US" sz="1600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VisualParadigm</a:t>
            </a:r>
            <a:endParaRPr lang="en-US" sz="16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Getting better by the month!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0" y="1574800"/>
            <a:ext cx="5638800" cy="3810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203200" tIns="203200" rIns="203200" bIns="20320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(for now…): ChatGPT and UML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Syntactic and semantic deficiencies in the class models produced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answers to the same request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work well above 8–10 classes generated from scratch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results in well-documented domains (e.g., banking) than in unusual ones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effort needed to reach a correct model is not negligible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5880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Cámara, Troya, Burgueño &amp; Vallecillo (2023). On the assessment of generative AI in modeling tasks: an experience report with ChatGPT and UML. Software and Systems Modeling (2023).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Pitfalls of AI-generated models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574800"/>
            <a:ext cx="3556000" cy="1905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 but wrong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multiplicities, duplicated aggregations, associations with the wrong direction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318000" y="1574800"/>
            <a:ext cx="3556000" cy="1905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Invented requirements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that no stakeholder asked for — or missing rules that only your organisation knows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78800" y="1574800"/>
            <a:ext cx="3556000" cy="1905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Inconsistency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answers to the same prompt; diagrams that contradict each other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733800"/>
            <a:ext cx="3556000" cy="1905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 drift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Non-UML symbols, mixed notations, PlantUML/Mermaid that does not render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18000" y="3733800"/>
            <a:ext cx="3556000" cy="19050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by default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textbook version of the domain instead of your client's reality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78800" y="3733800"/>
            <a:ext cx="3556000" cy="19050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77800" tIns="177800" rIns="177800" bIns="1778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Skipping the thinking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value of modelling is the understanding you build while doing 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08E71C8-35F0-CDC6-9816-0F4A0F4927CE}"/>
                  </a:ext>
                </a:extLst>
              </p14:cNvPr>
              <p14:cNvContentPartPr/>
              <p14:nvPr/>
            </p14:nvContentPartPr>
            <p14:xfrm>
              <a:off x="7524625" y="3165385"/>
              <a:ext cx="4506840" cy="3005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08E71C8-35F0-CDC6-9816-0F4A0F4927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88985" y="3093385"/>
                <a:ext cx="4578480" cy="3149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generative AI responsibly when modelling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574800"/>
            <a:ext cx="2032000" cy="12192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elicit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come from stakeholders, not from the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27300" y="2184400"/>
            <a:ext cx="203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2768600" y="1574800"/>
            <a:ext cx="2032000" cy="12192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 proposal, as text (PlantUML/Mermaid)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38700" y="2184400"/>
            <a:ext cx="203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5080000" y="1574800"/>
            <a:ext cx="2032000" cy="12192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review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requirements and UML rules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50100" y="2184400"/>
            <a:ext cx="203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7391400" y="1574800"/>
            <a:ext cx="2032000" cy="1219200"/>
          </a:xfrm>
          <a:prstGeom prst="rect">
            <a:avLst/>
          </a:prstGeom>
          <a:solidFill>
            <a:srgbClr val="DBEFC1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validate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the model with them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461500" y="2184400"/>
            <a:ext cx="203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9702800" y="1574800"/>
            <a:ext cx="2032000" cy="1219200"/>
          </a:xfrm>
          <a:prstGeom prst="rect">
            <a:avLst/>
          </a:prstGeom>
          <a:solidFill>
            <a:srgbClr val="92D400"/>
          </a:solidFill>
          <a:ln/>
        </p:spPr>
        <p:txBody>
          <a:bodyPr wrap="square" lIns="127000" tIns="127000" rIns="127000" bIns="1270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it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model in Git with the specs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98800"/>
            <a:ext cx="1127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checklist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79800"/>
            <a:ext cx="1127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element traces back to a requirement or a stakeholder statement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Multiplicities, association directions and aggregations are justified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notation is valid UML and the diagrams are consistent with each other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explain every element without the AI — you are accountable for it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is declared, as required by the course rules and the UA framework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842000" y="762000"/>
            <a:ext cx="589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activity diagrams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5842000" y="2032000"/>
            <a:ext cx="58928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flow of actions — from a business process (high level) to a single algorithm (low level)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them to model workflows, compare the as-is and to-be process, or visualise a complex algorithm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flowchart, but built on the same idea: a graph of the flow of actions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 &amp; Hamilton, Learning UML 2.0, chapter 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197600"/>
            <a:ext cx="762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84900" y="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457200" y="1625600"/>
            <a:ext cx="11277600" cy="462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Booch, G., Rumbaugh, J. &amp; Jacobson, I. (2005). The Unified Modeling Language User Guide (2nd ed.). Addison-Wesley.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Fowler, M. (2004). UML Distilled (3rd ed.). Addison-Wesley.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Larman, C. (2004). Applying UML and Patterns (3rd ed.). Prentice Hall.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Miles, R. &amp; Hamilton, K. (2006). Learning UML 2.0. O'Reilly.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Management Group (2017). Unified Modeling Language, version 2.5.1. omg.org/spec/UML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Cámara, J., Troya, J., Burgueño, L. &amp; Vallecillo, A. (2023). On the assessment of generative AI in modeling tasks. Software and Systems Modeling.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Chen, K. et al. (2023). Automated domain modeling with large language models: a comparative study. MODELS 2023.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2000" y="6451600"/>
            <a:ext cx="8128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73747FB-556E-483C-9B12-49E0FD1F4DB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83410c1-0567-4709-ac99-b11da366326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2098</Words>
  <Application>Microsoft Office PowerPoint</Application>
  <PresentationFormat>Widescreen</PresentationFormat>
  <Paragraphs>307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Arial</vt:lpstr>
      <vt:lpstr>Office Theme</vt:lpstr>
      <vt:lpstr>Models and the UML</vt:lpstr>
      <vt:lpstr>Learning objectives</vt:lpstr>
      <vt:lpstr>Why engineers build models</vt:lpstr>
      <vt:lpstr>Every engineering discipline models first</vt:lpstr>
      <vt:lpstr>What is a model?</vt:lpstr>
      <vt:lpstr>Visual models support the whole lifecycle</vt:lpstr>
      <vt:lpstr>The value of visual models</vt:lpstr>
      <vt:lpstr>A music score is a model</vt:lpstr>
      <vt:lpstr>Same process, two visual notations</vt:lpstr>
      <vt:lpstr>Why a uniform notation matters</vt:lpstr>
      <vt:lpstr>The origin of the UML</vt:lpstr>
      <vt:lpstr>The "Three Amigos"</vt:lpstr>
      <vt:lpstr>From unification to standard</vt:lpstr>
      <vt:lpstr>UML perspectives and diagrams</vt:lpstr>
      <vt:lpstr>The UML 2.5 diagrams</vt:lpstr>
      <vt:lpstr>Which diagram answers which question?</vt:lpstr>
      <vt:lpstr>How much UML? Three ways to use it</vt:lpstr>
      <vt:lpstr>Generative AI and modelling</vt:lpstr>
      <vt:lpstr>What generative AI can/can not do with models</vt:lpstr>
      <vt:lpstr>Pitfalls of AI-generated models</vt:lpstr>
      <vt:lpstr>Using generative AI responsibly when modelling</vt:lpstr>
      <vt:lpstr>Next: activity diagrams</vt:lpstr>
      <vt:lpstr>References</vt:lpstr>
      <vt:lpstr>PowerPoint Presentation</vt:lpstr>
    </vt:vector>
  </TitlesOfParts>
  <Company>Universidade de Aveiro · DETI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 01b — Models and the UML</dc:title>
  <dc:subject>PptxGenJS Presentation</dc:subject>
  <dc:creator>ico@ua.pt</dc:creator>
  <cp:lastModifiedBy>Ilídio Oliveira</cp:lastModifiedBy>
  <cp:revision>2</cp:revision>
  <dcterms:created xsi:type="dcterms:W3CDTF">2026-09-17T14:34:52Z</dcterms:created>
  <dcterms:modified xsi:type="dcterms:W3CDTF">2026-09-17T14:52:21Z</dcterms:modified>
</cp:coreProperties>
</file>