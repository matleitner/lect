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7102475" cy="10233025"/>
  <p:embeddedFontLst>
    <p:embeddedFont>
      <p:font typeface="Barlow Condensed SemiBold" panose="00000706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Light" panose="020B0604020202020204" charset="0"/>
      <p:regular r:id="rId36"/>
      <p:bold r:id="rId37"/>
      <p:italic r:id="rId38"/>
      <p:boldItalic r:id="rId39"/>
    </p:embeddedFont>
    <p:embeddedFont>
      <p:font typeface="Open Sans Light" panose="020B0306030504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ídio Oliveira" userId="2e6e6f6d-fff9-46ef-9091-884c6980c73a" providerId="ADAL" clId="{FBA8DEFD-EBC3-490D-8111-605AF93F32A3}"/>
    <pc:docChg chg="custSel delSld modSld">
      <pc:chgData name="Ilídio Oliveira" userId="2e6e6f6d-fff9-46ef-9091-884c6980c73a" providerId="ADAL" clId="{FBA8DEFD-EBC3-490D-8111-605AF93F32A3}" dt="2025-11-05T00:17:30.581" v="16" actId="12"/>
      <pc:docMkLst>
        <pc:docMk/>
      </pc:docMkLst>
      <pc:sldChg chg="modSp mod">
        <pc:chgData name="Ilídio Oliveira" userId="2e6e6f6d-fff9-46ef-9091-884c6980c73a" providerId="ADAL" clId="{FBA8DEFD-EBC3-490D-8111-605AF93F32A3}" dt="2025-11-05T00:12:15.232" v="7" actId="5793"/>
        <pc:sldMkLst>
          <pc:docMk/>
          <pc:sldMk cId="0" sldId="270"/>
        </pc:sldMkLst>
        <pc:spChg chg="mod">
          <ac:chgData name="Ilídio Oliveira" userId="2e6e6f6d-fff9-46ef-9091-884c6980c73a" providerId="ADAL" clId="{FBA8DEFD-EBC3-490D-8111-605AF93F32A3}" dt="2025-11-05T00:12:15.232" v="7" actId="5793"/>
          <ac:spMkLst>
            <pc:docMk/>
            <pc:sldMk cId="0" sldId="270"/>
            <ac:spMk id="201" creationId="{00000000-0000-0000-0000-000000000000}"/>
          </ac:spMkLst>
        </pc:spChg>
      </pc:sldChg>
      <pc:sldChg chg="del">
        <pc:chgData name="Ilídio Oliveira" userId="2e6e6f6d-fff9-46ef-9091-884c6980c73a" providerId="ADAL" clId="{FBA8DEFD-EBC3-490D-8111-605AF93F32A3}" dt="2025-11-05T00:16:44.508" v="8" actId="47"/>
        <pc:sldMkLst>
          <pc:docMk/>
          <pc:sldMk cId="0" sldId="273"/>
        </pc:sldMkLst>
      </pc:sldChg>
      <pc:sldChg chg="modSp mod">
        <pc:chgData name="Ilídio Oliveira" userId="2e6e6f6d-fff9-46ef-9091-884c6980c73a" providerId="ADAL" clId="{FBA8DEFD-EBC3-490D-8111-605AF93F32A3}" dt="2025-11-05T00:16:54.785" v="10" actId="12"/>
        <pc:sldMkLst>
          <pc:docMk/>
          <pc:sldMk cId="0" sldId="276"/>
        </pc:sldMkLst>
        <pc:spChg chg="mod">
          <ac:chgData name="Ilídio Oliveira" userId="2e6e6f6d-fff9-46ef-9091-884c6980c73a" providerId="ADAL" clId="{FBA8DEFD-EBC3-490D-8111-605AF93F32A3}" dt="2025-11-05T00:16:54.785" v="10" actId="12"/>
          <ac:spMkLst>
            <pc:docMk/>
            <pc:sldMk cId="0" sldId="276"/>
            <ac:spMk id="254" creationId="{00000000-0000-0000-0000-000000000000}"/>
          </ac:spMkLst>
        </pc:spChg>
      </pc:sldChg>
      <pc:sldChg chg="modSp mod">
        <pc:chgData name="Ilídio Oliveira" userId="2e6e6f6d-fff9-46ef-9091-884c6980c73a" providerId="ADAL" clId="{FBA8DEFD-EBC3-490D-8111-605AF93F32A3}" dt="2025-11-05T00:17:30.581" v="16" actId="12"/>
        <pc:sldMkLst>
          <pc:docMk/>
          <pc:sldMk cId="0" sldId="280"/>
        </pc:sldMkLst>
        <pc:spChg chg="mod">
          <ac:chgData name="Ilídio Oliveira" userId="2e6e6f6d-fff9-46ef-9091-884c6980c73a" providerId="ADAL" clId="{FBA8DEFD-EBC3-490D-8111-605AF93F32A3}" dt="2025-11-05T00:17:23.720" v="13" actId="12"/>
          <ac:spMkLst>
            <pc:docMk/>
            <pc:sldMk cId="0" sldId="280"/>
            <ac:spMk id="296" creationId="{00000000-0000-0000-0000-000000000000}"/>
          </ac:spMkLst>
        </pc:spChg>
        <pc:spChg chg="mod">
          <ac:chgData name="Ilídio Oliveira" userId="2e6e6f6d-fff9-46ef-9091-884c6980c73a" providerId="ADAL" clId="{FBA8DEFD-EBC3-490D-8111-605AF93F32A3}" dt="2025-11-05T00:17:30.581" v="16" actId="12"/>
          <ac:spMkLst>
            <pc:docMk/>
            <pc:sldMk cId="0" sldId="280"/>
            <ac:spMk id="29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6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22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260" name="Google Shape;260;p22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261" name="Google Shape;261;p22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262" name="Google Shape;262;p2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4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DETI/AMS</a:t>
            </a:r>
            <a:endParaRPr/>
          </a:p>
        </p:txBody>
      </p:sp>
      <p:sp>
        <p:nvSpPr>
          <p:cNvPr id="282" name="Google Shape;282;p24:notes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2025-03-25</a:t>
            </a:r>
            <a:endParaRPr/>
          </a:p>
        </p:txBody>
      </p:sp>
      <p:sp>
        <p:nvSpPr>
          <p:cNvPr id="283" name="Google Shape;283;p24:notes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(2018)</a:t>
            </a:r>
            <a:endParaRPr/>
          </a:p>
        </p:txBody>
      </p:sp>
      <p:sp>
        <p:nvSpPr>
          <p:cNvPr id="284" name="Google Shape;284;p2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 txBox="1">
            <a:spLocks noGrp="1"/>
          </p:cNvSpPr>
          <p:nvPr>
            <p:ph type="body" idx="1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3750" cy="3452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Noto Sans"/>
              <a:buNone/>
              <a:defRPr sz="36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deti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18129" y="5245866"/>
            <a:ext cx="2997221" cy="74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  <a:defRPr sz="2800"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Noto Sans"/>
                <a:ea typeface="Noto Sans"/>
                <a:cs typeface="Noto Sans"/>
                <a:sym typeface="Noto Sans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latin typeface="Noto Sans"/>
                <a:ea typeface="Noto Sans"/>
                <a:cs typeface="Noto Sans"/>
                <a:sym typeface="Noto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pic" idx="2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600"/>
              <a:buNone/>
              <a:defRPr sz="16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6286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29150" y="651053"/>
            <a:ext cx="3886200" cy="55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8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646511" y="1355728"/>
            <a:ext cx="3868340" cy="59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sz="2400" b="1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2"/>
          </p:nvPr>
        </p:nvSpPr>
        <p:spPr>
          <a:xfrm>
            <a:off x="629842" y="2112720"/>
            <a:ext cx="3868340" cy="407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3"/>
          </p:nvPr>
        </p:nvSpPr>
        <p:spPr>
          <a:xfrm>
            <a:off x="4572000" y="1355728"/>
            <a:ext cx="3887391" cy="59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9EE9D4"/>
              </a:buClr>
              <a:buSzPts val="2400"/>
              <a:buNone/>
              <a:defRPr sz="2400" b="1">
                <a:solidFill>
                  <a:srgbClr val="9EE9D4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4"/>
          </p:nvPr>
        </p:nvSpPr>
        <p:spPr>
          <a:xfrm>
            <a:off x="4629150" y="2112720"/>
            <a:ext cx="3887391" cy="407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 sz="1800"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1"/>
          </p:nvPr>
        </p:nvSpPr>
        <p:spPr>
          <a:xfrm>
            <a:off x="1785256" y="1038759"/>
            <a:ext cx="6730092" cy="58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  <a:defRPr sz="20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2618025" y="381553"/>
            <a:ext cx="5064557" cy="673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  <a:defRPr sz="2400" b="0" i="0" u="none" strike="noStrike" cap="none">
                <a:solidFill>
                  <a:srgbClr val="6EDEBF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785256" y="1214322"/>
            <a:ext cx="6730094" cy="5064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2F2F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D8D8D8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Noto Sans Light"/>
                <a:ea typeface="Noto Sans Light"/>
                <a:cs typeface="Noto Sans Light"/>
                <a:sym typeface="Noto Sa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cid33tgq8A&amp;t=3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atlassian.com/agile/project-managemen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IUrnMn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kanban/board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>
            <a:spLocks noGrp="1"/>
          </p:cNvSpPr>
          <p:nvPr>
            <p:ph type="ctrTitle"/>
          </p:nvPr>
        </p:nvSpPr>
        <p:spPr>
          <a:xfrm>
            <a:off x="751562" y="2642285"/>
            <a:ext cx="7763788" cy="1330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600"/>
              <a:buFont typeface="Noto Sans"/>
              <a:buNone/>
            </a:pPr>
            <a:r>
              <a:rPr lang="en-US"/>
              <a:t>Ciclo de vida: planeamento e gestão do projeto </a:t>
            </a: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1"/>
          </p:nvPr>
        </p:nvSpPr>
        <p:spPr>
          <a:xfrm>
            <a:off x="751562" y="4194805"/>
            <a:ext cx="6676372" cy="143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Ilídio Oliveira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v2025-03-25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751562" y="1659178"/>
            <a:ext cx="77637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FBFBF"/>
                </a:solidFill>
                <a:latin typeface="Noto Sans"/>
                <a:ea typeface="Noto Sans"/>
                <a:cs typeface="Noto Sans"/>
                <a:sym typeface="Noto Sans"/>
              </a:rPr>
              <a:t>41951- ANÁLISE DE SISTEMAS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Fases fundamentais: </a:t>
            </a:r>
            <a:r>
              <a:rPr lang="en-US">
                <a:highlight>
                  <a:srgbClr val="008080"/>
                </a:highlight>
              </a:rPr>
              <a:t>planeamento</a:t>
            </a:r>
            <a:r>
              <a:rPr lang="en-US"/>
              <a:t>, análise, desenho e implementação</a:t>
            </a:r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sz="1900"/>
              <a:t>A fase de planeamento é o processo fundamental de compreensão do porquê de um sistema de informação deve ser construído e determinar como a equipa do projeto irá construí-lo.</a:t>
            </a:r>
            <a:endParaRPr sz="1900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 sz="1700"/>
              <a:t>Definir a transformação digital pretendida. </a:t>
            </a:r>
            <a:endParaRPr sz="1700"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PASSOS PRINCIPAIS: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1. Arranque do projeto</a:t>
            </a:r>
            <a:endParaRPr/>
          </a:p>
          <a:p>
            <a:pPr marL="432000" lvl="2" indent="-2285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o valor do sistema para a organização é identificado. </a:t>
            </a:r>
            <a:br>
              <a:rPr lang="en-US"/>
            </a:br>
            <a:r>
              <a:rPr lang="en-US"/>
              <a:t>Um pedido de um novo sistema (“caderno de encargos”) apresenta um breve resumo de uma necessidade de negócio, e explica como um sistema que suporta a necessidade irá criar valor de negócio.</a:t>
            </a:r>
            <a:endParaRPr/>
          </a:p>
          <a:p>
            <a:pPr marL="432000" lvl="2" indent="-228599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Os pedidos do sistema e a análise da viabilidade são apresentados a um comité de aprovação (ao nível de direção), que decide se o projeto deve ser realizado.</a:t>
            </a:r>
            <a:endParaRPr/>
          </a:p>
          <a:p>
            <a:pPr marL="203400" lvl="2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F2F2F2"/>
              </a:buClr>
              <a:buSzPct val="100000"/>
              <a:buNone/>
            </a:pPr>
            <a:r>
              <a:rPr lang="en-US"/>
              <a:t>2. Gestão do projeto </a:t>
            </a:r>
            <a:endParaRPr/>
          </a:p>
          <a:p>
            <a:pPr marL="432000" lvl="2" indent="-2285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lang="en-US"/>
              <a:t>O gestor do projeto cria um plano de trabalho, atribui uma equipa, e coloca em prática as técnicas para monitorizar e dirigir o projeto através de todo o SLC.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6843" y="4101236"/>
            <a:ext cx="4994962" cy="191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Arranque do projeto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Análise da viabilidade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659" y="1356257"/>
            <a:ext cx="4149854" cy="2946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1550" y="1356258"/>
            <a:ext cx="4446279" cy="213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1550" y="3712354"/>
            <a:ext cx="4446279" cy="2710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Viabilidade económica e o retorno do investimento</a:t>
            </a:r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3608" y="2330824"/>
            <a:ext cx="6715219" cy="28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1785254" y="1709739"/>
            <a:ext cx="67253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/>
              <a:t>Gestão do projeto</a:t>
            </a:r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1785256" y="4589464"/>
            <a:ext cx="6725332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5665694" y="136524"/>
            <a:ext cx="3284804" cy="1172368"/>
          </a:xfrm>
          <a:prstGeom prst="wedgeRectCallout">
            <a:avLst>
              <a:gd name="adj1" fmla="val -6532"/>
              <a:gd name="adj2" fmla="val 142484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Há especificidades nos projetos de desenvolvimento de software?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Podemos aprender da gestão “típica” de projetos genéricos?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Gestão de projetos</a:t>
            </a:r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 sz="1800"/>
              <a:t>Um </a:t>
            </a:r>
            <a:r>
              <a:rPr lang="en-US" sz="1800">
                <a:highlight>
                  <a:srgbClr val="008080"/>
                </a:highlight>
              </a:rPr>
              <a:t>projeto</a:t>
            </a:r>
            <a:r>
              <a:rPr lang="en-US" sz="1800"/>
              <a:t> é um conjunto de actividades com um ponto de partida e um ponto de chegada, destinado a criar um sistema que traz valor ao negócio/organização.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 sz="1800"/>
              <a:t>A </a:t>
            </a:r>
            <a:r>
              <a:rPr lang="en-US" sz="1800">
                <a:highlight>
                  <a:srgbClr val="008080"/>
                </a:highlight>
              </a:rPr>
              <a:t>gestão de projetos</a:t>
            </a:r>
            <a:r>
              <a:rPr lang="en-US" sz="1800"/>
              <a:t> é o processo de </a:t>
            </a:r>
            <a:r>
              <a:rPr lang="en-US" sz="1800" b="1"/>
              <a:t>planeamento e controlo</a:t>
            </a:r>
            <a:r>
              <a:rPr lang="en-US" sz="1800"/>
              <a:t> do desenvolvimento de um sistema dentro de um período de </a:t>
            </a:r>
            <a:r>
              <a:rPr lang="en-US" sz="1800" u="sng"/>
              <a:t>tempo</a:t>
            </a:r>
            <a:r>
              <a:rPr lang="en-US" sz="1800"/>
              <a:t> especificado a um </a:t>
            </a:r>
            <a:r>
              <a:rPr lang="en-US" sz="1800" u="sng"/>
              <a:t>custo</a:t>
            </a:r>
            <a:r>
              <a:rPr lang="en-US" sz="1800"/>
              <a:t> limitado e com a </a:t>
            </a:r>
            <a:r>
              <a:rPr lang="en-US" sz="1800" u="sng"/>
              <a:t>funcionalidade</a:t>
            </a:r>
            <a:r>
              <a:rPr lang="en-US" sz="1800"/>
              <a:t> certa.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 sz="1800"/>
              <a:t>Um </a:t>
            </a:r>
            <a:r>
              <a:rPr lang="en-US" sz="1800">
                <a:highlight>
                  <a:srgbClr val="008080"/>
                </a:highlight>
              </a:rPr>
              <a:t>gestor de projecto </a:t>
            </a:r>
            <a:r>
              <a:rPr lang="en-US" sz="1800"/>
              <a:t>tem a responsabilidade principal de gerir as inúmeras de tarefas e funções que precisam de ser cuidadosamente coordenadas.</a:t>
            </a:r>
            <a:endParaRPr sz="1800"/>
          </a:p>
        </p:txBody>
      </p:sp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349040" y="5183983"/>
            <a:ext cx="2697256" cy="1172368"/>
          </a:xfrm>
          <a:prstGeom prst="wedgeRectCallout">
            <a:avLst>
              <a:gd name="adj1" fmla="val 76643"/>
              <a:gd name="adj2" fmla="val -59388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Uma opção de carreira também. Normalmente, posições séniores. Existe formação específica para PM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7252" y="5307000"/>
            <a:ext cx="36000" cy="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Técnicas de gestão de projeto</a:t>
            </a:r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Tradicionais: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Noto Sans"/>
              <a:buChar char="-"/>
            </a:pPr>
            <a:r>
              <a:rPr lang="en-US" i="1"/>
              <a:t>Workpackage Breakdown Structure (WBS)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Noto Sans"/>
              <a:buChar char="-"/>
            </a:pPr>
            <a:r>
              <a:rPr lang="en-US" i="1"/>
              <a:t>Gantt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“Ágeis”: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Noto Sans"/>
              <a:buChar char="-"/>
            </a:pPr>
            <a:r>
              <a:rPr lang="en-US"/>
              <a:t>“Quadros” e “post-it” (e.g.: Kanban)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Noto Sans"/>
              <a:buChar char="-"/>
            </a:pPr>
            <a:r>
              <a:rPr lang="en-US"/>
              <a:t>Épicos, Histórias e iterações</a:t>
            </a:r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628650" y="136524"/>
            <a:ext cx="3791156" cy="142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3200"/>
              <a:buFont typeface="Noto Sans"/>
              <a:buNone/>
            </a:pPr>
            <a:r>
              <a:rPr lang="en-US" i="1"/>
              <a:t>Workpackage breakdown</a:t>
            </a:r>
            <a:endParaRPr/>
          </a:p>
        </p:txBody>
      </p:sp>
      <p:sp>
        <p:nvSpPr>
          <p:cNvPr id="153" name="Google Shape;153;p22"/>
          <p:cNvSpPr>
            <a:spLocks noGrp="1"/>
          </p:cNvSpPr>
          <p:nvPr>
            <p:ph type="pic" idx="2"/>
          </p:nvPr>
        </p:nvSpPr>
        <p:spPr>
          <a:xfrm>
            <a:off x="4572000" y="583474"/>
            <a:ext cx="3942160" cy="567471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629840" y="1812022"/>
            <a:ext cx="3791157" cy="438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Lista de “pacotes” de trabalho: tarefas.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/>
              <a:t>Normalmente com algum nível de hierarquia (e.g.: tarefa e subtarefas)</a:t>
            </a:r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196" y="0"/>
            <a:ext cx="400971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 i="1"/>
              <a:t>Gantt chart </a:t>
            </a:r>
            <a:r>
              <a:rPr lang="en-US"/>
              <a:t>/ cronograma</a:t>
            </a:r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64" name="Google Shape;16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506" y="982891"/>
            <a:ext cx="9144000" cy="489221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/>
          <p:nvPr/>
        </p:nvSpPr>
        <p:spPr>
          <a:xfrm>
            <a:off x="3552171" y="6015832"/>
            <a:ext cx="2595283" cy="681037"/>
          </a:xfrm>
          <a:prstGeom prst="wedgeRectCallout">
            <a:avLst>
              <a:gd name="adj1" fmla="val 69687"/>
              <a:gd name="adj2" fmla="val -9749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Milestones: acontecimentos/marcos importantes para controlar o progresso</a:t>
            </a:r>
            <a:endParaRPr sz="1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Método Kanban: pistas visuais e fluxo</a:t>
            </a:r>
            <a:endParaRPr/>
          </a:p>
        </p:txBody>
      </p:sp>
      <p:pic>
        <p:nvPicPr>
          <p:cNvPr id="171" name="Google Shape;171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38325" y="1318730"/>
            <a:ext cx="7045699" cy="480010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endParaRPr/>
          </a:p>
        </p:txBody>
      </p:sp>
      <p:pic>
        <p:nvPicPr>
          <p:cNvPr id="178" name="Google Shape;178;p25" descr="Graphical user interface, applicatio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64989" y="254654"/>
            <a:ext cx="8379011" cy="628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Elementos do quadro Kanban</a:t>
            </a:r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b="1"/>
              <a:t>Linguagem visual</a:t>
            </a:r>
            <a:r>
              <a:rPr lang="en-US"/>
              <a:t>, com cartões (normal:1 cartão -&gt; 1 tarefa)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b="1"/>
              <a:t>Colunas</a:t>
            </a:r>
            <a:r>
              <a:rPr lang="en-US"/>
              <a:t> traduzem fluxo: descolar e colar reflete o avanço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b="1"/>
              <a:t>Limites</a:t>
            </a:r>
            <a:r>
              <a:rPr lang="en-US"/>
              <a:t> para as entradas de uma coluna (não se pode assumir mais cartões se se atingiu o máximo combinado)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Levantamento de trabalho: da lista de pendentes para em-execução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Entrega de trabalho: de em-progresso para completo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7" name="Google Shape;187;p26"/>
          <p:cNvSpPr txBox="1"/>
          <p:nvPr/>
        </p:nvSpPr>
        <p:spPr>
          <a:xfrm>
            <a:off x="317715" y="5943492"/>
            <a:ext cx="4572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Noto Sans"/>
                <a:ea typeface="Noto Sans"/>
                <a:cs typeface="Noto Sans"/>
                <a:sym typeface="Noto Sans"/>
                <a:hlinkClick r:id="rId3"/>
              </a:rPr>
              <a:t>https://www.youtube.com/watch?v=Bcid33tgq8A&amp;t=3s</a:t>
            </a:r>
            <a:endParaRPr sz="18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Kanban em quadros digitais: Trello,  JIRA,…</a:t>
            </a:r>
            <a:endParaRPr/>
          </a:p>
        </p:txBody>
      </p:sp>
      <p:pic>
        <p:nvPicPr>
          <p:cNvPr id="193" name="Google Shape;193;p27" descr="Graphical user interface, applicatio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565886"/>
            <a:ext cx="9179357" cy="452768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 i="1"/>
              <a:t>Timeboxing</a:t>
            </a:r>
            <a:r>
              <a:rPr lang="en-US"/>
              <a:t>: limites temporais</a:t>
            </a:r>
            <a:endParaRPr/>
          </a:p>
        </p:txBody>
      </p:sp>
      <p:sp>
        <p:nvSpPr>
          <p:cNvPr id="200" name="Google Shape;200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 sz="1800" dirty="0"/>
              <a:t>A </a:t>
            </a:r>
            <a:r>
              <a:rPr lang="en-US" sz="1800" dirty="0" err="1"/>
              <a:t>técnica</a:t>
            </a:r>
            <a:r>
              <a:rPr lang="en-US" sz="1800" dirty="0"/>
              <a:t> de </a:t>
            </a:r>
            <a:r>
              <a:rPr lang="en-US" sz="1800" i="1" dirty="0"/>
              <a:t>timeboxing</a:t>
            </a:r>
            <a:r>
              <a:rPr lang="en-US" sz="1800" dirty="0"/>
              <a:t> </a:t>
            </a:r>
            <a:r>
              <a:rPr lang="en-US" sz="1800" dirty="0" err="1"/>
              <a:t>impõe</a:t>
            </a:r>
            <a:r>
              <a:rPr lang="en-US" sz="1800" dirty="0"/>
              <a:t> um </a:t>
            </a:r>
            <a:r>
              <a:rPr lang="en-US" sz="1800" dirty="0" err="1"/>
              <a:t>prazo</a:t>
            </a:r>
            <a:r>
              <a:rPr lang="en-US" sz="1800" dirty="0"/>
              <a:t> </a:t>
            </a:r>
            <a:r>
              <a:rPr lang="en-US" sz="1800" dirty="0" err="1"/>
              <a:t>fixo</a:t>
            </a:r>
            <a:r>
              <a:rPr lang="en-US" sz="1800" dirty="0"/>
              <a:t> para a </a:t>
            </a:r>
            <a:r>
              <a:rPr lang="en-US" sz="1800" dirty="0" err="1"/>
              <a:t>entrega</a:t>
            </a:r>
            <a:r>
              <a:rPr lang="en-US" sz="1800" dirty="0"/>
              <a:t> (do </a:t>
            </a:r>
            <a:r>
              <a:rPr lang="en-US" sz="1800" dirty="0" err="1"/>
              <a:t>projeto</a:t>
            </a:r>
            <a:r>
              <a:rPr lang="en-US" sz="1800" dirty="0"/>
              <a:t>, de </a:t>
            </a:r>
            <a:r>
              <a:rPr lang="en-US" sz="1800" dirty="0" err="1"/>
              <a:t>incrementos,etc</a:t>
            </a:r>
            <a:r>
              <a:rPr lang="en-US" sz="1800" dirty="0"/>
              <a:t>)  </a:t>
            </a:r>
            <a:r>
              <a:rPr lang="en-US" sz="1800" dirty="0" err="1"/>
              <a:t>mesmo</a:t>
            </a:r>
            <a:r>
              <a:rPr lang="en-US" sz="1800" dirty="0"/>
              <a:t> </a:t>
            </a:r>
            <a:r>
              <a:rPr lang="en-US" sz="1800" dirty="0" err="1"/>
              <a:t>que</a:t>
            </a:r>
            <a:r>
              <a:rPr lang="en-US" sz="1800" dirty="0"/>
              <a:t> a </a:t>
            </a:r>
            <a:r>
              <a:rPr lang="en-US" sz="1800" dirty="0" err="1"/>
              <a:t>funcionalidade</a:t>
            </a:r>
            <a:r>
              <a:rPr lang="en-US" sz="1800" dirty="0"/>
              <a:t> </a:t>
            </a:r>
            <a:r>
              <a:rPr lang="en-US" sz="1800" dirty="0" err="1"/>
              <a:t>planeada</a:t>
            </a:r>
            <a:r>
              <a:rPr lang="en-US" sz="1800" dirty="0"/>
              <a:t> precise de ser </a:t>
            </a:r>
            <a:r>
              <a:rPr lang="en-US" sz="1800" dirty="0" err="1"/>
              <a:t>reduzida</a:t>
            </a:r>
            <a:r>
              <a:rPr lang="en-US" sz="1800" dirty="0"/>
              <a:t>.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/>
              <a:t>O </a:t>
            </a:r>
            <a:r>
              <a:rPr lang="en-US" sz="1800" dirty="0" err="1"/>
              <a:t>prazo</a:t>
            </a:r>
            <a:r>
              <a:rPr lang="en-US" sz="1800" dirty="0"/>
              <a:t> é </a:t>
            </a:r>
            <a:r>
              <a:rPr lang="en-US" sz="1800" dirty="0" err="1"/>
              <a:t>inflexível</a:t>
            </a:r>
            <a:r>
              <a:rPr lang="en-US" sz="1800" dirty="0"/>
              <a:t>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/>
              <a:t>Força</a:t>
            </a:r>
            <a:r>
              <a:rPr lang="en-US" sz="1800" dirty="0"/>
              <a:t> a </a:t>
            </a:r>
            <a:r>
              <a:rPr lang="en-US" sz="1800" dirty="0" err="1"/>
              <a:t>que</a:t>
            </a:r>
            <a:r>
              <a:rPr lang="en-US" sz="1800" dirty="0"/>
              <a:t> as </a:t>
            </a:r>
            <a:r>
              <a:rPr lang="en-US" sz="1800" dirty="0" err="1"/>
              <a:t>equipas</a:t>
            </a:r>
            <a:r>
              <a:rPr lang="en-US" sz="1800" dirty="0"/>
              <a:t> do </a:t>
            </a:r>
            <a:r>
              <a:rPr lang="en-US" sz="1800" dirty="0" err="1"/>
              <a:t>projecto</a:t>
            </a:r>
            <a:r>
              <a:rPr lang="en-US" sz="1800" dirty="0"/>
              <a:t> </a:t>
            </a:r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fiquem</a:t>
            </a:r>
            <a:r>
              <a:rPr lang="en-US" sz="1800" dirty="0"/>
              <a:t> </a:t>
            </a:r>
            <a:r>
              <a:rPr lang="en-US" sz="1800" dirty="0" err="1"/>
              <a:t>penduradas</a:t>
            </a:r>
            <a:r>
              <a:rPr lang="en-US" sz="1800" dirty="0"/>
              <a:t> </a:t>
            </a:r>
            <a:r>
              <a:rPr lang="en-US" sz="1800" dirty="0" err="1"/>
              <a:t>nos</a:t>
            </a:r>
            <a:r>
              <a:rPr lang="en-US" sz="1800" dirty="0"/>
              <a:t> “</a:t>
            </a:r>
            <a:r>
              <a:rPr lang="en-US" sz="1800" dirty="0" err="1"/>
              <a:t>retoques</a:t>
            </a:r>
            <a:r>
              <a:rPr lang="en-US" sz="1800" dirty="0"/>
              <a:t> </a:t>
            </a:r>
            <a:r>
              <a:rPr lang="en-US" sz="1800" dirty="0" err="1"/>
              <a:t>finais</a:t>
            </a:r>
            <a:r>
              <a:rPr lang="en-US" sz="1800" dirty="0"/>
              <a:t>” </a:t>
            </a:r>
            <a:r>
              <a:rPr lang="en-US" sz="1800" dirty="0" err="1"/>
              <a:t>que</a:t>
            </a:r>
            <a:r>
              <a:rPr lang="en-US" sz="1800" dirty="0"/>
              <a:t> </a:t>
            </a:r>
            <a:r>
              <a:rPr lang="en-US" sz="1800" dirty="0" err="1"/>
              <a:t>podem</a:t>
            </a:r>
            <a:r>
              <a:rPr lang="en-US" sz="1800" dirty="0"/>
              <a:t> </a:t>
            </a:r>
            <a:r>
              <a:rPr lang="en-US" sz="1800" dirty="0" err="1"/>
              <a:t>arrastar</a:t>
            </a:r>
            <a:r>
              <a:rPr lang="en-US" sz="1800" dirty="0"/>
              <a:t>-se “</a:t>
            </a:r>
            <a:r>
              <a:rPr lang="en-US" sz="1800" dirty="0" err="1"/>
              <a:t>indefinidamente</a:t>
            </a:r>
            <a:r>
              <a:rPr lang="en-US" sz="1800" dirty="0"/>
              <a:t>”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/>
              <a:t>Incentiva</a:t>
            </a:r>
            <a:r>
              <a:rPr lang="en-US" sz="1800" dirty="0"/>
              <a:t> a </a:t>
            </a:r>
            <a:r>
              <a:rPr lang="en-US" sz="1800" dirty="0" err="1"/>
              <a:t>entrega</a:t>
            </a:r>
            <a:r>
              <a:rPr lang="en-US" sz="1800" dirty="0"/>
              <a:t> regular de valor</a:t>
            </a:r>
            <a:r>
              <a:rPr lang="en-US" sz="1800" dirty="0">
                <a:sym typeface="Wingdings" panose="05000000000000000000" pitchFamily="2" charset="2"/>
              </a:rPr>
              <a:t></a:t>
            </a:r>
            <a:r>
              <a:rPr lang="en-US" sz="1800" dirty="0"/>
              <a:t> </a:t>
            </a:r>
            <a:r>
              <a:rPr lang="en-US" sz="1800" dirty="0" err="1"/>
              <a:t>ritmo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1800"/>
              <a:buNone/>
            </a:pPr>
            <a:r>
              <a:rPr lang="en-US" sz="1800" dirty="0" err="1"/>
              <a:t>Muito</a:t>
            </a:r>
            <a:r>
              <a:rPr lang="en-US" sz="1800" dirty="0"/>
              <a:t> popular </a:t>
            </a:r>
            <a:r>
              <a:rPr lang="en-US" sz="1800" dirty="0" err="1"/>
              <a:t>em</a:t>
            </a:r>
            <a:r>
              <a:rPr lang="en-US" sz="1800" dirty="0"/>
              <a:t> software (e.g.: agile methods)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UP: Fases, iterações e pontos de controlo</a:t>
            </a:r>
            <a:endParaRPr/>
          </a:p>
        </p:txBody>
      </p:sp>
      <p:pic>
        <p:nvPicPr>
          <p:cNvPr id="208" name="Google Shape;208;p2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6732" y="1290768"/>
            <a:ext cx="8398618" cy="457224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9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 </a:t>
            </a:r>
            <a:endParaRPr/>
          </a:p>
        </p:txBody>
      </p:sp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endParaRPr/>
          </a:p>
        </p:txBody>
      </p:sp>
      <p:sp>
        <p:nvSpPr>
          <p:cNvPr id="216" name="Google Shape;216;p30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18" name="Google Shape;21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2026344"/>
            <a:ext cx="7772400" cy="280531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>
            <a:hlinkClick r:id="rId4"/>
          </p:cNvPr>
          <p:cNvSpPr txBox="1"/>
          <p:nvPr/>
        </p:nvSpPr>
        <p:spPr>
          <a:xfrm>
            <a:off x="628650" y="5066643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https://www.atlassian.com/agile/project-management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endParaRPr/>
          </a:p>
        </p:txBody>
      </p:sp>
      <p:sp>
        <p:nvSpPr>
          <p:cNvPr id="233" name="Google Shape;233;p32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45" y="0"/>
            <a:ext cx="847500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/>
          <p:nvPr/>
        </p:nvSpPr>
        <p:spPr>
          <a:xfrm>
            <a:off x="1004400" y="516720"/>
            <a:ext cx="1058760" cy="188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37" name="Google Shape;237;p32"/>
          <p:cNvSpPr/>
          <p:nvPr/>
        </p:nvSpPr>
        <p:spPr>
          <a:xfrm>
            <a:off x="2170260" y="519577"/>
            <a:ext cx="1058760" cy="188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38" name="Google Shape;238;p32"/>
          <p:cNvSpPr/>
          <p:nvPr/>
        </p:nvSpPr>
        <p:spPr>
          <a:xfrm>
            <a:off x="3336120" y="534734"/>
            <a:ext cx="1058760" cy="188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39" name="Google Shape;239;p32"/>
          <p:cNvSpPr/>
          <p:nvPr/>
        </p:nvSpPr>
        <p:spPr>
          <a:xfrm>
            <a:off x="4501980" y="565630"/>
            <a:ext cx="1058760" cy="188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40" name="Google Shape;240;p32"/>
          <p:cNvSpPr/>
          <p:nvPr/>
        </p:nvSpPr>
        <p:spPr>
          <a:xfrm>
            <a:off x="5667840" y="565630"/>
            <a:ext cx="1058760" cy="1886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  <p:sp>
        <p:nvSpPr>
          <p:cNvPr id="241" name="Google Shape;241;p32"/>
          <p:cNvSpPr/>
          <p:nvPr/>
        </p:nvSpPr>
        <p:spPr>
          <a:xfrm>
            <a:off x="6912905" y="474079"/>
            <a:ext cx="2190750" cy="1119804"/>
          </a:xfrm>
          <a:prstGeom prst="wedgeRectCallout">
            <a:avLst>
              <a:gd name="adj1" fmla="val -68443"/>
              <a:gd name="adj2" fmla="val -23241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Timeboxing dá origem a várias </a:t>
            </a:r>
            <a:r>
              <a:rPr lang="en-US" sz="1400" u="sng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iterações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ou </a:t>
            </a:r>
            <a:r>
              <a:rPr lang="en-US" sz="1400" u="sng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sprints</a:t>
            </a:r>
            <a:r>
              <a:rPr lang="en-US" sz="14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 num projeto</a:t>
            </a:r>
            <a:endParaRPr sz="14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Quadro de um </a:t>
            </a:r>
            <a:r>
              <a:rPr lang="en-US" i="1"/>
              <a:t>sprint</a:t>
            </a:r>
            <a:endParaRPr/>
          </a:p>
        </p:txBody>
      </p:sp>
      <p:pic>
        <p:nvPicPr>
          <p:cNvPr id="247" name="Google Shape;247;p33" descr="Graphical user interface, application, Teams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574188"/>
            <a:ext cx="8989346" cy="458456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Estimativa de esforço</a:t>
            </a:r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1"/>
          </p:nvPr>
        </p:nvSpPr>
        <p:spPr>
          <a:xfrm>
            <a:off x="1785254" y="1371601"/>
            <a:ext cx="6730095" cy="4805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 err="1"/>
              <a:t>Versão</a:t>
            </a:r>
            <a:r>
              <a:rPr lang="en-US" dirty="0"/>
              <a:t> </a:t>
            </a:r>
            <a:r>
              <a:rPr lang="en-US" dirty="0" err="1"/>
              <a:t>tradicional</a:t>
            </a:r>
            <a:r>
              <a:rPr lang="en-US" dirty="0"/>
              <a:t>: </a:t>
            </a:r>
            <a:r>
              <a:rPr lang="en-US" dirty="0" err="1"/>
              <a:t>atribuir</a:t>
            </a:r>
            <a:r>
              <a:rPr lang="en-US" dirty="0"/>
              <a:t> RH e horas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 err="1"/>
              <a:t>Versão</a:t>
            </a:r>
            <a:r>
              <a:rPr lang="en-US" dirty="0"/>
              <a:t> </a:t>
            </a:r>
            <a:r>
              <a:rPr lang="en-US" dirty="0" err="1"/>
              <a:t>ágil</a:t>
            </a:r>
            <a:r>
              <a:rPr lang="en-US" dirty="0"/>
              <a:t>: </a:t>
            </a:r>
            <a:r>
              <a:rPr lang="en-US" dirty="0" err="1"/>
              <a:t>pontos</a:t>
            </a:r>
            <a:endParaRPr dirty="0"/>
          </a:p>
        </p:txBody>
      </p:sp>
      <p:sp>
        <p:nvSpPr>
          <p:cNvPr id="255" name="Google Shape;255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 i="1"/>
              <a:t>Story Points</a:t>
            </a:r>
            <a:endParaRPr i="1"/>
          </a:p>
        </p:txBody>
      </p:sp>
      <p:sp>
        <p:nvSpPr>
          <p:cNvPr id="265" name="Google Shape;265;p35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Funcionalidades (encomenda de comida online):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F1: Inicio de sessão do utilizador (login)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F2: Registo de novo utilizador na plataforma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F3: Listar promoções em destaque do dia.</a:t>
            </a:r>
            <a:endParaRPr/>
          </a:p>
          <a:p>
            <a:pPr marL="34290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/>
              <a:buChar char="•"/>
            </a:pPr>
            <a:r>
              <a:rPr lang="en-US"/>
              <a:t>F4: Colocar a encomenda (inclui pagamento)</a:t>
            </a:r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/>
              <a:t>Escala: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 b="1">
                <a:highlight>
                  <a:srgbClr val="008000"/>
                </a:highlight>
              </a:rPr>
              <a:t>1pt</a:t>
            </a:r>
            <a:r>
              <a:rPr lang="en-US"/>
              <a:t>: muito fácil. Direto de se implementar e âmbito reduzido.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 b="1">
                <a:highlight>
                  <a:srgbClr val="008000"/>
                </a:highlight>
              </a:rPr>
              <a:t>2pts</a:t>
            </a:r>
            <a:r>
              <a:rPr lang="en-US"/>
              <a:t>: acessível; não oferece grande dificuldade.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 b="1">
                <a:highlight>
                  <a:srgbClr val="008000"/>
                </a:highlight>
              </a:rPr>
              <a:t>4pts</a:t>
            </a:r>
            <a:r>
              <a:rPr lang="en-US"/>
              <a:t>: complexo; tem várias interdependências (de outros módulos/serviços) ou um fluxo elaborado</a:t>
            </a:r>
            <a:endParaRPr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lang="en-US" b="1">
                <a:highlight>
                  <a:srgbClr val="008000"/>
                </a:highlight>
              </a:rPr>
              <a:t>8pts</a:t>
            </a:r>
            <a:r>
              <a:rPr lang="en-US"/>
              <a:t>: muito complexo; requer integrações, tecnologias ou conhecimentos que não são completamente dominados </a:t>
            </a:r>
            <a:endParaRPr/>
          </a:p>
        </p:txBody>
      </p:sp>
      <p:sp>
        <p:nvSpPr>
          <p:cNvPr id="267" name="Google Shape;267;p35"/>
          <p:cNvSpPr txBox="1">
            <a:spLocks noGrp="1"/>
          </p:cNvSpPr>
          <p:nvPr>
            <p:ph type="ftr" idx="11"/>
          </p:nvPr>
        </p:nvSpPr>
        <p:spPr>
          <a:xfrm>
            <a:off x="628650" y="6356351"/>
            <a:ext cx="548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68" name="Google Shape;268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69" name="Google Shape;269;p35">
            <a:hlinkClick r:id="rId3"/>
          </p:cNvPr>
          <p:cNvSpPr/>
          <p:nvPr/>
        </p:nvSpPr>
        <p:spPr>
          <a:xfrm>
            <a:off x="1974715" y="5651770"/>
            <a:ext cx="699880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🡪 http://bit.ly/2IUrnMn</a:t>
            </a:r>
            <a:endParaRPr sz="40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Histórias</a:t>
            </a:r>
            <a:endParaRPr/>
          </a:p>
        </p:txBody>
      </p:sp>
      <p:sp>
        <p:nvSpPr>
          <p:cNvPr id="275" name="Google Shape;275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76" name="Google Shape;276;p36" descr="A screenshot of a social media pos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66926"/>
            <a:ext cx="9144000" cy="50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>
            <a:spLocks noGrp="1"/>
          </p:cNvSpPr>
          <p:nvPr>
            <p:ph type="title"/>
          </p:nvPr>
        </p:nvSpPr>
        <p:spPr>
          <a:xfrm>
            <a:off x="1785256" y="365127"/>
            <a:ext cx="6730093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ct val="100000"/>
              <a:buFont typeface="Noto Sans"/>
              <a:buNone/>
            </a:pPr>
            <a:r>
              <a:rPr lang="en-US"/>
              <a:t>Os </a:t>
            </a:r>
            <a:r>
              <a:rPr lang="en-US" i="1"/>
              <a:t>story points</a:t>
            </a:r>
            <a:r>
              <a:rPr lang="en-US"/>
              <a:t> são usados para contruir o </a:t>
            </a:r>
            <a:r>
              <a:rPr lang="en-US" i="1"/>
              <a:t>burndown chart</a:t>
            </a:r>
            <a:endParaRPr/>
          </a:p>
        </p:txBody>
      </p:sp>
      <p:sp>
        <p:nvSpPr>
          <p:cNvPr id="287" name="Google Shape;287;p37"/>
          <p:cNvSpPr txBox="1">
            <a:spLocks noGrp="1"/>
          </p:cNvSpPr>
          <p:nvPr>
            <p:ph type="ftr" idx="11"/>
          </p:nvPr>
        </p:nvSpPr>
        <p:spPr>
          <a:xfrm>
            <a:off x="1785256" y="6356351"/>
            <a:ext cx="432979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Oliveira</a:t>
            </a:r>
            <a:endParaRPr/>
          </a:p>
        </p:txBody>
      </p:sp>
      <p:sp>
        <p:nvSpPr>
          <p:cNvPr id="288" name="Google Shape;288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89" name="Google Shape;289;p37" descr="Chart, line ch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37" y="1164588"/>
            <a:ext cx="7136542" cy="555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7"/>
          <p:cNvSpPr/>
          <p:nvPr/>
        </p:nvSpPr>
        <p:spPr>
          <a:xfrm>
            <a:off x="6457950" y="3189386"/>
            <a:ext cx="2273181" cy="673632"/>
          </a:xfrm>
          <a:prstGeom prst="wedgeRoundRectCallout">
            <a:avLst>
              <a:gd name="adj1" fmla="val -64844"/>
              <a:gd name="adj2" fmla="val 74953"/>
              <a:gd name="adj3" fmla="val 16667"/>
            </a:avLst>
          </a:prstGeom>
          <a:solidFill>
            <a:schemeClr val="accent1"/>
          </a:solidFill>
          <a:ln w="12700" cap="flat" cmpd="sng">
            <a:solidFill>
              <a:srgbClr val="1D7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Story points </a:t>
            </a:r>
            <a:r>
              <a:rPr lang="en-US" sz="16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que falta concluir na iteração.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>
            <a:spLocks noGrp="1"/>
          </p:cNvSpPr>
          <p:nvPr>
            <p:ph type="title"/>
          </p:nvPr>
        </p:nvSpPr>
        <p:spPr>
          <a:xfrm>
            <a:off x="566058" y="365127"/>
            <a:ext cx="7949292" cy="673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400"/>
              <a:buFont typeface="Noto Sans"/>
              <a:buNone/>
            </a:pPr>
            <a:r>
              <a:rPr lang="en-US"/>
              <a:t>Pontos importantes</a:t>
            </a:r>
            <a:endParaRPr/>
          </a:p>
        </p:txBody>
      </p:sp>
      <p:sp>
        <p:nvSpPr>
          <p:cNvPr id="296" name="Google Shape;296;p38"/>
          <p:cNvSpPr txBox="1">
            <a:spLocks noGrp="1"/>
          </p:cNvSpPr>
          <p:nvPr>
            <p:ph type="body" idx="1"/>
          </p:nvPr>
        </p:nvSpPr>
        <p:spPr>
          <a:xfrm>
            <a:off x="6286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dirty="0"/>
              <a:t>O WBS e o Gantt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instrumentos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comuns</a:t>
            </a:r>
            <a:r>
              <a:rPr lang="en-US" dirty="0"/>
              <a:t> de </a:t>
            </a:r>
            <a:r>
              <a:rPr lang="en-US" dirty="0" err="1"/>
              <a:t>gestão</a:t>
            </a:r>
            <a:r>
              <a:rPr lang="en-US" dirty="0"/>
              <a:t> de </a:t>
            </a:r>
            <a:r>
              <a:rPr lang="en-US" dirty="0" err="1"/>
              <a:t>projeto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aplicados</a:t>
            </a:r>
            <a:r>
              <a:rPr lang="en-US" dirty="0"/>
              <a:t> a </a:t>
            </a:r>
            <a:r>
              <a:rPr lang="en-US" dirty="0" err="1"/>
              <a:t>qualquer</a:t>
            </a:r>
            <a:r>
              <a:rPr lang="en-US" dirty="0"/>
              <a:t> </a:t>
            </a:r>
            <a:r>
              <a:rPr lang="en-US" dirty="0" err="1"/>
              <a:t>projeto</a:t>
            </a:r>
            <a:r>
              <a:rPr lang="en-US" dirty="0"/>
              <a:t>, </a:t>
            </a:r>
            <a:r>
              <a:rPr lang="en-US" dirty="0" err="1"/>
              <a:t>incluindo</a:t>
            </a:r>
            <a:r>
              <a:rPr lang="en-US" dirty="0"/>
              <a:t> de </a:t>
            </a:r>
            <a:r>
              <a:rPr lang="en-US" dirty="0" err="1"/>
              <a:t>sw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dirty="0"/>
              <a:t>No </a:t>
            </a:r>
            <a:r>
              <a:rPr lang="en-US" dirty="0" err="1"/>
              <a:t>entanto</a:t>
            </a:r>
            <a:r>
              <a:rPr lang="en-US" dirty="0"/>
              <a:t>: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/>
              <a:t>Difícil</a:t>
            </a:r>
            <a:r>
              <a:rPr lang="en-US" dirty="0"/>
              <a:t> de </a:t>
            </a:r>
            <a:r>
              <a:rPr lang="en-US" dirty="0" err="1"/>
              <a:t>estimar</a:t>
            </a:r>
            <a:r>
              <a:rPr lang="en-US" dirty="0"/>
              <a:t> </a:t>
            </a:r>
            <a:r>
              <a:rPr lang="en-US" dirty="0" err="1"/>
              <a:t>recursos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Menos </a:t>
            </a:r>
            <a:r>
              <a:rPr lang="en-US" dirty="0" err="1"/>
              <a:t>flexível</a:t>
            </a:r>
            <a:r>
              <a:rPr lang="en-US" dirty="0"/>
              <a:t> para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utilização</a:t>
            </a:r>
            <a:r>
              <a:rPr lang="en-US" dirty="0"/>
              <a:t> </a:t>
            </a:r>
            <a:r>
              <a:rPr lang="en-US" dirty="0" err="1"/>
              <a:t>colaborativa</a:t>
            </a:r>
            <a:endParaRPr dirty="0"/>
          </a:p>
        </p:txBody>
      </p:sp>
      <p:sp>
        <p:nvSpPr>
          <p:cNvPr id="297" name="Google Shape;297;p38"/>
          <p:cNvSpPr txBox="1">
            <a:spLocks noGrp="1"/>
          </p:cNvSpPr>
          <p:nvPr>
            <p:ph type="body" idx="2"/>
          </p:nvPr>
        </p:nvSpPr>
        <p:spPr>
          <a:xfrm>
            <a:off x="4629150" y="1390650"/>
            <a:ext cx="3886200" cy="4786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dirty="0"/>
              <a:t>O “novo normal” dos </a:t>
            </a:r>
            <a:r>
              <a:rPr lang="en-US" dirty="0" err="1"/>
              <a:t>projetos</a:t>
            </a:r>
            <a:r>
              <a:rPr lang="en-US" dirty="0"/>
              <a:t> de </a:t>
            </a:r>
            <a:r>
              <a:rPr lang="en-US" dirty="0" err="1"/>
              <a:t>sw</a:t>
            </a:r>
            <a:r>
              <a:rPr lang="en-US" dirty="0"/>
              <a:t> é usar </a:t>
            </a:r>
            <a:r>
              <a:rPr lang="en-US" i="1" dirty="0"/>
              <a:t>timeboxing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dirty="0"/>
              <a:t>O </a:t>
            </a:r>
            <a:r>
              <a:rPr lang="en-US" dirty="0" err="1"/>
              <a:t>processo</a:t>
            </a:r>
            <a:r>
              <a:rPr lang="en-US" dirty="0"/>
              <a:t> UP </a:t>
            </a:r>
            <a:r>
              <a:rPr lang="en-US" dirty="0" err="1"/>
              <a:t>prevê</a:t>
            </a:r>
            <a:r>
              <a:rPr lang="en-US" dirty="0"/>
              <a:t> o </a:t>
            </a:r>
            <a:r>
              <a:rPr lang="en-US" dirty="0" err="1"/>
              <a:t>desenvolvimento</a:t>
            </a:r>
            <a:r>
              <a:rPr lang="en-US" dirty="0"/>
              <a:t> do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iterações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dirty="0"/>
              <a:t>Na </a:t>
            </a:r>
            <a:r>
              <a:rPr lang="en-US" dirty="0" err="1"/>
              <a:t>gestão</a:t>
            </a:r>
            <a:r>
              <a:rPr lang="en-US" dirty="0"/>
              <a:t> do </a:t>
            </a:r>
            <a:r>
              <a:rPr lang="en-US" dirty="0" err="1"/>
              <a:t>trabalho</a:t>
            </a:r>
            <a:r>
              <a:rPr lang="en-US" dirty="0"/>
              <a:t> de </a:t>
            </a:r>
            <a:r>
              <a:rPr lang="en-US" dirty="0" err="1"/>
              <a:t>sw</a:t>
            </a:r>
            <a:r>
              <a:rPr lang="en-US" dirty="0"/>
              <a:t>, a </a:t>
            </a:r>
            <a:r>
              <a:rPr lang="en-US" dirty="0" err="1"/>
              <a:t>unidade</a:t>
            </a:r>
            <a:r>
              <a:rPr lang="en-US" dirty="0"/>
              <a:t> </a:t>
            </a:r>
            <a:r>
              <a:rPr lang="en-US" dirty="0" err="1"/>
              <a:t>tende</a:t>
            </a:r>
            <a:r>
              <a:rPr lang="en-US" dirty="0"/>
              <a:t> a ser a </a:t>
            </a:r>
            <a:r>
              <a:rPr lang="en-US" i="1" dirty="0"/>
              <a:t>user story: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/>
              <a:t>capta</a:t>
            </a:r>
            <a:r>
              <a:rPr lang="en-US" dirty="0"/>
              <a:t> </a:t>
            </a:r>
            <a:r>
              <a:rPr lang="en-US" dirty="0" err="1"/>
              <a:t>funcionalidades</a:t>
            </a:r>
            <a:r>
              <a:rPr lang="en-US" dirty="0"/>
              <a:t> do </a:t>
            </a:r>
            <a:r>
              <a:rPr lang="en-US" dirty="0" err="1"/>
              <a:t>produto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/>
              <a:t>usada</a:t>
            </a:r>
            <a:r>
              <a:rPr lang="en-US" dirty="0"/>
              <a:t> para estimative</a:t>
            </a:r>
            <a:endParaRPr dirty="0"/>
          </a:p>
          <a:p>
            <a:pPr marL="285750" lvl="1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Font typeface="Arial" panose="020B0604020202020204" pitchFamily="34" charset="0"/>
              <a:buChar char="•"/>
            </a:pPr>
            <a:r>
              <a:rPr lang="en-US" dirty="0" err="1"/>
              <a:t>geralmente</a:t>
            </a:r>
            <a:r>
              <a:rPr lang="en-US" dirty="0"/>
              <a:t>: 1 story 🡨🡪 1 </a:t>
            </a:r>
            <a:r>
              <a:rPr lang="en-US" dirty="0" err="1"/>
              <a:t>cartão</a:t>
            </a:r>
            <a:endParaRPr dirty="0"/>
          </a:p>
          <a:p>
            <a:pPr marL="0" lvl="1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i="1" dirty="0"/>
              <a:t>boards</a:t>
            </a:r>
            <a:r>
              <a:rPr lang="en-US" dirty="0"/>
              <a:t> </a:t>
            </a:r>
            <a:r>
              <a:rPr lang="en-US" dirty="0" err="1"/>
              <a:t>potenciam</a:t>
            </a:r>
            <a:r>
              <a:rPr lang="en-US" dirty="0"/>
              <a:t> o </a:t>
            </a:r>
            <a:r>
              <a:rPr lang="en-US" dirty="0" err="1"/>
              <a:t>sumário</a:t>
            </a:r>
            <a:r>
              <a:rPr lang="en-US" dirty="0"/>
              <a:t> visual e a </a:t>
            </a:r>
            <a:r>
              <a:rPr lang="en-US" dirty="0" err="1"/>
              <a:t>utilização</a:t>
            </a:r>
            <a:r>
              <a:rPr lang="en-US" dirty="0"/>
              <a:t> </a:t>
            </a:r>
            <a:r>
              <a:rPr lang="en-US" dirty="0" err="1"/>
              <a:t>colaborativa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98" name="Google Shape;298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>
            <a:spLocks noGrp="1"/>
          </p:cNvSpPr>
          <p:nvPr>
            <p:ph type="title"/>
          </p:nvPr>
        </p:nvSpPr>
        <p:spPr>
          <a:xfrm>
            <a:off x="1785256" y="365126"/>
            <a:ext cx="6730094" cy="760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EDEBF"/>
              </a:buClr>
              <a:buSzPts val="2800"/>
              <a:buFont typeface="Noto Sans"/>
              <a:buNone/>
            </a:pPr>
            <a:r>
              <a:rPr lang="en-US"/>
              <a:t>Referências</a:t>
            </a:r>
            <a:endParaRPr/>
          </a:p>
        </p:txBody>
      </p:sp>
      <p:sp>
        <p:nvSpPr>
          <p:cNvPr id="304" name="Google Shape;304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05" name="Google Shape;305;p39"/>
          <p:cNvSpPr txBox="1">
            <a:spLocks noGrp="1"/>
          </p:cNvSpPr>
          <p:nvPr>
            <p:ph type="body" idx="1"/>
          </p:nvPr>
        </p:nvSpPr>
        <p:spPr>
          <a:xfrm>
            <a:off x="1785938" y="1371600"/>
            <a:ext cx="672941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https://www.atlassian.com/agile/kanban/boards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F2F2F2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Office PowerPoint</Application>
  <PresentationFormat>On-screen Show (4:3)</PresentationFormat>
  <Paragraphs>133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Noto Sans Light</vt:lpstr>
      <vt:lpstr>Open Sans Light</vt:lpstr>
      <vt:lpstr>Noto Sans</vt:lpstr>
      <vt:lpstr>Calibri</vt:lpstr>
      <vt:lpstr>Barlow Condensed SemiBold</vt:lpstr>
      <vt:lpstr>Wingdings</vt:lpstr>
      <vt:lpstr>Arial</vt:lpstr>
      <vt:lpstr>Office Theme</vt:lpstr>
      <vt:lpstr>Ciclo de vida: planeamento e gestão do projeto </vt:lpstr>
      <vt:lpstr>Fases fundamentais: planeamento, análise, desenho e implementação</vt:lpstr>
      <vt:lpstr>Arranque do projeto</vt:lpstr>
      <vt:lpstr>Análise da viabilidade</vt:lpstr>
      <vt:lpstr>Viabilidade económica e o retorno do investimento</vt:lpstr>
      <vt:lpstr>Gestão do projeto</vt:lpstr>
      <vt:lpstr>Gestão de projetos</vt:lpstr>
      <vt:lpstr>Técnicas de gestão de projeto</vt:lpstr>
      <vt:lpstr>Workpackage breakdown</vt:lpstr>
      <vt:lpstr>Gantt chart / cronograma</vt:lpstr>
      <vt:lpstr>Método Kanban: pistas visuais e fluxo</vt:lpstr>
      <vt:lpstr>PowerPoint Presentation</vt:lpstr>
      <vt:lpstr>Elementos do quadro Kanban</vt:lpstr>
      <vt:lpstr>Kanban em quadros digitais: Trello,  JIRA,…</vt:lpstr>
      <vt:lpstr>Timeboxing: limites temporais</vt:lpstr>
      <vt:lpstr>UP: Fases, iterações e pontos de controlo</vt:lpstr>
      <vt:lpstr>PowerPoint Presentation</vt:lpstr>
      <vt:lpstr>PowerPoint Presentation</vt:lpstr>
      <vt:lpstr>Quadro de um sprint</vt:lpstr>
      <vt:lpstr>Estimativa de esforço</vt:lpstr>
      <vt:lpstr>Story Points</vt:lpstr>
      <vt:lpstr>Histórias</vt:lpstr>
      <vt:lpstr>Os story points são usados para contruir o burndown chart</vt:lpstr>
      <vt:lpstr>Pontos importantes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Ilídio Oliveira</cp:lastModifiedBy>
  <cp:revision>1</cp:revision>
  <dcterms:modified xsi:type="dcterms:W3CDTF">2025-11-05T00:17:35Z</dcterms:modified>
</cp:coreProperties>
</file>